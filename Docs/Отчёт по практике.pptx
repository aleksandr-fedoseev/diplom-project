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Сравнительны</a:t>
            </a:r>
            <a:r>
              <a:rPr lang="ru-RU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й анализ трудозатрат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5.0533833661417331E-2"/>
          <c:y val="0.17224284200346432"/>
          <c:w val="0.93540366633858263"/>
          <c:h val="0.664425164083459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До внедрения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Учёт и выдача нарядов</c:v>
                </c:pt>
                <c:pt idx="1">
                  <c:v>Расчёт заработной платы</c:v>
                </c:pt>
                <c:pt idx="2">
                  <c:v>Подготовка аналитики и отчётов</c:v>
                </c:pt>
                <c:pt idx="3">
                  <c:v>Контроль лимитов и ресурсов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4A-4949-A0A8-BB0EA2486A6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После внедрения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Учёт и выдача нарядов</c:v>
                </c:pt>
                <c:pt idx="1">
                  <c:v>Расчёт заработной платы</c:v>
                </c:pt>
                <c:pt idx="2">
                  <c:v>Подготовка аналитики и отчётов</c:v>
                </c:pt>
                <c:pt idx="3">
                  <c:v>Контроль лимитов и ресурсов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4A-4949-A0A8-BB0EA2486A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08432720"/>
        <c:axId val="2008430320"/>
      </c:barChart>
      <c:catAx>
        <c:axId val="200843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ru-RU"/>
          </a:p>
        </c:txPr>
        <c:crossAx val="2008430320"/>
        <c:crosses val="autoZero"/>
        <c:auto val="1"/>
        <c:lblAlgn val="ctr"/>
        <c:lblOffset val="100"/>
        <c:noMultiLvlLbl val="0"/>
      </c:catAx>
      <c:valAx>
        <c:axId val="200843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08432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ru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pPr>
            <a:endParaRPr lang="ru-RU"/>
          </a:p>
        </c:txPr>
      </c:legendEntry>
      <c:layout>
        <c:manualLayout>
          <c:xMode val="edge"/>
          <c:yMode val="edge"/>
          <c:x val="0.28102374507874017"/>
          <c:y val="0.94518043863359114"/>
          <c:w val="0.42611835629921252"/>
          <c:h val="5.23227756377250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C82810-894A-4900-A130-4667E0D71EB2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92CD0-3DBC-44F5-8C9A-01CB165C4D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997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92CD0-3DBC-44F5-8C9A-01CB165C4D6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068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092CD0-3DBC-44F5-8C9A-01CB165C4D6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545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04FE7-396B-3ABB-23BB-2E828D92C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AEB256-8049-0920-DCAA-F0E3A0525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2FD3BF-5224-CED7-D61C-09B23194A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76A319-14D2-CE64-9D6A-83F4E27EE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D77FD6-1F1F-E4AD-6ECF-7EE07EE5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175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7B7F2-9C22-AB7A-2E3D-A42B0BC7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39C0F5-F500-DACA-D25E-E7A0B38EC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F6F4D5-0152-A68A-5002-6197F9E5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08C4A5-E865-70D0-4B19-BD70462E2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72C463-B58B-D03C-C653-1010A330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46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31FC1B-DEC8-E107-9A12-2BFC1C9EA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519FD0-B2DE-4133-86CE-E3EA534CA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1D6E72-5825-3192-028B-139455E1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EB4436-A2C2-4B5A-2548-15C181FF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F4865C-21CD-27D3-BFA2-68331883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781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32E7C-A42F-4D38-E2F2-CB89BDF3B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CE594-59F3-5870-5F5F-C29F11CC1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209702-FAB9-D363-829C-A0CDB8423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E2B071-815D-A148-8041-3CA9AFEE2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101965-EDFC-C753-7060-B7F782071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2A723E-BAF5-4098-61E2-4B91898E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00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477B17-387A-C7B3-9992-2A4BACD59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8A7B65-7040-8384-AD55-62EEF1130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FB70D9-DE86-D46B-73EA-65C251840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D0DA646-B3A3-0A81-2B3E-A79551C31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B4B1BE4-4D44-A3E0-2809-CC39E860F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AB964C9-ED02-95D3-CA10-EA737305E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19D5F76-C264-7C02-E6A7-E14037FC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6945CA-F310-953A-9E9F-7824CCE34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70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02591E-3162-5AF1-0CE4-830ED135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3E39C3C-CA8F-E742-4E85-A553A426F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B99FDD3-A01E-E91A-90CF-352EF0DD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0A1B0C-AF85-98BC-ED32-502D9BD9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658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F7C61A-DEBB-BACE-A78B-6A611A0AF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28C71C-8AA2-E129-3B92-CD334A1BC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64D8D9-8187-B3B3-120A-C5C5B12E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6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FB4D2F-64AA-508E-C083-CF6107D5F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A5D78B-2EAE-E414-C434-EE75C7DE5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9CFA7E-B3FD-BF14-2D28-25F4DA1EC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7D2108-72EA-62F7-6B8C-1549998A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65186B-EECF-025C-07DE-AF90D2DC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FEF295-7479-D9E5-B98B-DD163300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83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ADCEDD-63BF-E7C2-F458-D8B520D8C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7E8501-065A-E768-85B7-9371E5A48C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8516C4-92CF-33B8-561F-8A79AE2D1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348C6D-3B82-F86F-FB6D-EB868026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5C338F-58EA-64DA-6C3F-A54D5C9F6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06A5F3-0ADD-F270-E933-DC968C22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FD4248-068C-FBB8-B930-E7831D9A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1D4701-28AE-3712-D9F2-E842794DB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F3F71D-6E47-8EDC-5DD1-06439932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60DF8D-0C06-1069-3CE8-FB2287FAE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C2D26-77F0-E582-880D-DFB00CCF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85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7344E80-67EB-9C13-A3AB-5E23F015F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FC73ACD-DC9A-B43B-9097-84E535EF3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DD0FE2-B7BB-1041-E4DC-465760014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7CC98E-EA7F-1146-253C-B68294C1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C2A3B4-BD1D-8D3A-7C72-0EABC9AA7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142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432C5-4712-0097-8A2F-1A1747E29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F09D88-938C-5E8A-7EED-8A970341A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C58AC3-33D6-8014-87FE-872781DF36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A477E-68F7-4D42-918C-BB8380BD8037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4B32CF-D10B-2343-21AE-7763F3EE2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90785C-541A-CC0A-D5EB-505DD8DE59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F51CC-50B1-4686-8E3F-21F01ADBA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494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E9CEDD-E53B-1616-D2C6-3E43340B2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3294"/>
            <a:ext cx="9144000" cy="2387600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практике</a:t>
            </a:r>
            <a:br>
              <a:rPr lang="ru-RU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</a:t>
            </a:r>
            <a:br>
              <a:rPr lang="ru-RU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планово-финансового отдела.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A6D830-7527-AC24-6156-330F28BF7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123" y="4079875"/>
            <a:ext cx="11110451" cy="1655762"/>
          </a:xfrm>
        </p:spPr>
        <p:txBody>
          <a:bodyPr/>
          <a:lstStyle/>
          <a:p>
            <a:pPr lvl="0" algn="r">
              <a:lnSpc>
                <a:spcPct val="100000"/>
              </a:lnSpc>
              <a:buClr>
                <a:srgbClr val="9BAFB5"/>
              </a:buClr>
              <a:defRPr/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обучающийся гр. ДИПРБ-31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Федосеев Александр Алексеевич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buClr>
                <a:srgbClr val="9BAFB5"/>
              </a:buClr>
              <a:defRPr/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доцент Евсина Е.М.</a:t>
            </a:r>
          </a:p>
          <a:p>
            <a:pPr algn="r">
              <a:buClr>
                <a:srgbClr val="9BAFB5"/>
              </a:buClr>
              <a:defRPr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4" name="Рисунок 3" descr="лого для документов 2022">
            <a:extLst>
              <a:ext uri="{FF2B5EF4-FFF2-40B4-BE49-F238E27FC236}">
                <a16:creationId xmlns:a16="http://schemas.microsoft.com/office/drawing/2014/main" id="{8F4C95C6-793F-B51E-3A0B-3278D3D2C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59" y="135192"/>
            <a:ext cx="1211750" cy="879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69FFBB-50DF-AE6B-3FE9-4CD39F78B72D}"/>
              </a:ext>
            </a:extLst>
          </p:cNvPr>
          <p:cNvSpPr txBox="1"/>
          <p:nvPr/>
        </p:nvSpPr>
        <p:spPr>
          <a:xfrm>
            <a:off x="3047172" y="30982"/>
            <a:ext cx="609765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386" marR="0" lvl="0" indent="0" algn="ctr" defTabSz="820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1" u="none" strike="noStrike" kern="1200" cap="none" spc="0" normalizeH="0" baseline="0" noProof="0" dirty="0">
                <a:ln w="3175"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Федеральное агентство по рыболовству</a:t>
            </a:r>
            <a:endParaRPr kumimoji="0" lang="ru-RU" sz="1200" b="0" i="0" u="none" strike="noStrike" kern="1200" cap="none" spc="0" normalizeH="0" baseline="0" noProof="0" dirty="0">
              <a:ln w="3175"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+mn-cs"/>
            </a:endParaRPr>
          </a:p>
          <a:p>
            <a:pPr marL="15386" marR="0" lvl="0" indent="0" algn="ctr" defTabSz="820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1" u="none" strike="noStrike" kern="1200" cap="none" spc="0" normalizeH="0" baseline="0" noProof="0" dirty="0">
                <a:ln w="3175"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Федеральное государственное бюджетное образовательное</a:t>
            </a:r>
            <a:endParaRPr kumimoji="0" lang="ru-RU" sz="1200" b="0" i="0" u="none" strike="noStrike" kern="1200" cap="none" spc="0" normalizeH="0" baseline="0" noProof="0" dirty="0">
              <a:ln w="3175"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+mn-cs"/>
            </a:endParaRPr>
          </a:p>
          <a:p>
            <a:pPr marL="15386" marR="0" lvl="0" indent="0" algn="ctr" defTabSz="820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1" u="none" strike="noStrike" kern="1200" cap="none" spc="0" normalizeH="0" baseline="0" noProof="0" dirty="0">
                <a:ln w="3175"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учреждение высшего образования</a:t>
            </a:r>
            <a:endParaRPr kumimoji="0" lang="ru-RU" sz="1200" b="0" i="0" u="none" strike="noStrike" kern="1200" cap="none" spc="0" normalizeH="0" baseline="0" noProof="0" dirty="0">
              <a:ln w="3175"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+mn-cs"/>
            </a:endParaRPr>
          </a:p>
          <a:p>
            <a:pPr marL="15386" marR="0" lvl="0" indent="0" algn="ctr" defTabSz="820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1" u="none" strike="noStrike" kern="1200" cap="none" spc="0" normalizeH="0" baseline="0" noProof="0" dirty="0">
                <a:ln w="3175"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«Астраханский государственный технический университет»</a:t>
            </a:r>
            <a:endParaRPr kumimoji="0" lang="ru-RU" sz="1200" b="0" i="0" u="none" strike="noStrike" kern="1200" cap="none" spc="0" normalizeH="0" baseline="0" noProof="0" dirty="0">
              <a:ln w="3175"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+mn-cs"/>
            </a:endParaRPr>
          </a:p>
          <a:p>
            <a:pPr marL="15386" marR="0" lvl="0" indent="0" algn="ctr" defTabSz="820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00" b="1" i="0" u="none" strike="noStrike" kern="1200" cap="none" spc="0" normalizeH="0" baseline="0" noProof="0" dirty="0">
                <a:ln w="3175"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Система менеджмента качества в области образования, воспитания, науки и инноваций сертифицирована</a:t>
            </a:r>
            <a:endParaRPr kumimoji="0" lang="ru-RU" sz="700" b="0" i="0" u="none" strike="noStrike" kern="1200" cap="none" spc="0" normalizeH="0" baseline="0" noProof="0" dirty="0">
              <a:ln w="3175"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+mn-cs"/>
            </a:endParaRPr>
          </a:p>
          <a:p>
            <a:pPr marL="0" marR="0" lvl="0" indent="0" algn="ctr" defTabSz="8205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00" b="1" i="0" u="none" strike="noStrike" kern="1200" cap="none" spc="0" normalizeH="0" baseline="0" noProof="0" dirty="0">
                <a:ln w="3175"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ООО «ДКС РУС» по международному стандарту ISO 9001:2015</a:t>
            </a:r>
            <a:endParaRPr kumimoji="0" lang="ru-RU" sz="700" b="0" i="0" u="none" strike="noStrike" kern="1200" cap="none" spc="0" normalizeH="0" baseline="0" noProof="0" dirty="0">
              <a:ln w="3175"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3237BE-2FAB-F162-26DF-473FC1203B07}"/>
              </a:ext>
            </a:extLst>
          </p:cNvPr>
          <p:cNvSpPr txBox="1"/>
          <p:nvPr/>
        </p:nvSpPr>
        <p:spPr>
          <a:xfrm>
            <a:off x="5063613" y="6074618"/>
            <a:ext cx="2064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Астрахань - 2026</a:t>
            </a:r>
          </a:p>
        </p:txBody>
      </p:sp>
    </p:spTree>
    <p:extLst>
      <p:ext uri="{BB962C8B-B14F-4D97-AF65-F5344CB8AC3E}">
        <p14:creationId xmlns:p14="http://schemas.microsoft.com/office/powerpoint/2010/main" val="629351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ECFE7-0B49-53A6-FB2E-B6360BA42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5806"/>
            <a:ext cx="9144000" cy="77659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013FDD-6C1E-22D9-9050-E300AB80E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50" y="1246529"/>
            <a:ext cx="4852404" cy="2411010"/>
          </a:xfrm>
        </p:spPr>
        <p:txBody>
          <a:bodyPr>
            <a:normAutofit/>
          </a:bodyPr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Планово-финансовый отдел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центральное аналитическое и контрольно-расчётное подразделение промышленного предприятия, отвечающее за экономическую эффективность производственных операций.</a:t>
            </a:r>
          </a:p>
          <a:p>
            <a:pPr algn="just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64D50-7F7B-5360-A3A4-B8CED66AEF6D}"/>
              </a:ext>
            </a:extLst>
          </p:cNvPr>
          <p:cNvSpPr txBox="1"/>
          <p:nvPr/>
        </p:nvSpPr>
        <p:spPr>
          <a:xfrm>
            <a:off x="471950" y="3657539"/>
            <a:ext cx="1080565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функции ПФО: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Планирование мероприятий на производственных участках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Выдача нарядов — конкретных заданий работникам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Учёт выполнения работ и контроль занятости персонала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Расчёт заработной платы на основе выполненных нарядов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Управление справочниками (участки, должности, работники)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Анализ эффективности использования ресурсов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5F3B41B-BC7E-7B0B-4A85-372EECF21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031" y="929429"/>
            <a:ext cx="4395019" cy="319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400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F8D8BBC-F223-384B-E82A-52BA88550A87}"/>
              </a:ext>
            </a:extLst>
          </p:cNvPr>
          <p:cNvSpPr txBox="1">
            <a:spLocks/>
          </p:cNvSpPr>
          <p:nvPr/>
        </p:nvSpPr>
        <p:spPr>
          <a:xfrm>
            <a:off x="1698535" y="-43000"/>
            <a:ext cx="7080105" cy="8863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IS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CC25D1-2059-2A7C-C588-7023E7248160}"/>
              </a:ext>
            </a:extLst>
          </p:cNvPr>
          <p:cNvSpPr txBox="1"/>
          <p:nvPr/>
        </p:nvSpPr>
        <p:spPr>
          <a:xfrm>
            <a:off x="781046" y="1638829"/>
            <a:ext cx="2574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Ручное составление планов и графиков(</a:t>
            </a:r>
            <a:r>
              <a:rPr lang="en-US" dirty="0"/>
              <a:t>Excel/Word)</a:t>
            </a:r>
            <a:r>
              <a:rPr lang="ru-RU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9E94B9-DAAC-969F-666C-806D6280C1D9}"/>
              </a:ext>
            </a:extLst>
          </p:cNvPr>
          <p:cNvSpPr txBox="1"/>
          <p:nvPr/>
        </p:nvSpPr>
        <p:spPr>
          <a:xfrm>
            <a:off x="4007133" y="4331335"/>
            <a:ext cx="1977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0D85EB-5D90-F742-6963-28080E732E45}"/>
              </a:ext>
            </a:extLst>
          </p:cNvPr>
          <p:cNvSpPr txBox="1"/>
          <p:nvPr/>
        </p:nvSpPr>
        <p:spPr>
          <a:xfrm>
            <a:off x="10313498" y="3315924"/>
            <a:ext cx="1749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Выданные бумажные наряды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3DC4C7-6CEE-1CCE-41E1-B28C028D5272}"/>
              </a:ext>
            </a:extLst>
          </p:cNvPr>
          <p:cNvSpPr txBox="1"/>
          <p:nvPr/>
        </p:nvSpPr>
        <p:spPr>
          <a:xfrm>
            <a:off x="7426291" y="5577830"/>
            <a:ext cx="2809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Выполнение работ и сбор бумажных отчётов</a:t>
            </a:r>
          </a:p>
        </p:txBody>
      </p: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323F6FE8-5671-4A94-60FA-245624D30AE7}"/>
              </a:ext>
            </a:extLst>
          </p:cNvPr>
          <p:cNvCxnSpPr>
            <a:cxnSpLocks/>
            <a:stCxn id="24" idx="3"/>
            <a:endCxn id="44" idx="3"/>
          </p:cNvCxnSpPr>
          <p:nvPr/>
        </p:nvCxnSpPr>
        <p:spPr>
          <a:xfrm>
            <a:off x="9504228" y="2045725"/>
            <a:ext cx="731153" cy="3855271"/>
          </a:xfrm>
          <a:prstGeom prst="bentConnector3">
            <a:avLst>
              <a:gd name="adj1" fmla="val 1312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17B6D1A-D644-624F-D075-77AF1FED885B}"/>
              </a:ext>
            </a:extLst>
          </p:cNvPr>
          <p:cNvSpPr txBox="1"/>
          <p:nvPr/>
        </p:nvSpPr>
        <p:spPr>
          <a:xfrm>
            <a:off x="4173573" y="1537893"/>
            <a:ext cx="2130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планы и графики</a:t>
            </a:r>
          </a:p>
        </p:txBody>
      </p:sp>
      <p:cxnSp>
        <p:nvCxnSpPr>
          <p:cNvPr id="71" name="Прямая со стрелкой 70">
            <a:extLst>
              <a:ext uri="{FF2B5EF4-FFF2-40B4-BE49-F238E27FC236}">
                <a16:creationId xmlns:a16="http://schemas.microsoft.com/office/drawing/2014/main" id="{14C16A39-E78E-61C2-084A-5A2648C38B52}"/>
              </a:ext>
            </a:extLst>
          </p:cNvPr>
          <p:cNvCxnSpPr>
            <a:cxnSpLocks/>
            <a:endCxn id="76" idx="3"/>
          </p:cNvCxnSpPr>
          <p:nvPr/>
        </p:nvCxnSpPr>
        <p:spPr>
          <a:xfrm flipH="1">
            <a:off x="5342638" y="5913767"/>
            <a:ext cx="205707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1CFB93B-488F-263C-8FA0-60410958DD56}"/>
              </a:ext>
            </a:extLst>
          </p:cNvPr>
          <p:cNvSpPr txBox="1"/>
          <p:nvPr/>
        </p:nvSpPr>
        <p:spPr>
          <a:xfrm>
            <a:off x="2533548" y="5590602"/>
            <a:ext cx="2809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Расчёт заработной платы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Excel</a:t>
            </a:r>
            <a:endParaRPr lang="ru-RU" dirty="0"/>
          </a:p>
        </p:txBody>
      </p:sp>
      <p:cxnSp>
        <p:nvCxnSpPr>
          <p:cNvPr id="87" name="Прямая со стрелкой 86">
            <a:extLst>
              <a:ext uri="{FF2B5EF4-FFF2-40B4-BE49-F238E27FC236}">
                <a16:creationId xmlns:a16="http://schemas.microsoft.com/office/drawing/2014/main" id="{D17831B6-73E9-17A4-3479-08D02590E5A9}"/>
              </a:ext>
            </a:extLst>
          </p:cNvPr>
          <p:cNvCxnSpPr>
            <a:cxnSpLocks/>
            <a:stCxn id="76" idx="1"/>
          </p:cNvCxnSpPr>
          <p:nvPr/>
        </p:nvCxnSpPr>
        <p:spPr>
          <a:xfrm flipH="1" flipV="1">
            <a:off x="688258" y="5907382"/>
            <a:ext cx="1845290" cy="6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013847E-A2D1-DBA6-0178-EDBAF4202405}"/>
              </a:ext>
            </a:extLst>
          </p:cNvPr>
          <p:cNvSpPr txBox="1"/>
          <p:nvPr/>
        </p:nvSpPr>
        <p:spPr>
          <a:xfrm>
            <a:off x="5382948" y="4908500"/>
            <a:ext cx="2130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Журналы и акты выполненных работ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E40C545-862F-734E-7E11-628B84ADB485}"/>
              </a:ext>
            </a:extLst>
          </p:cNvPr>
          <p:cNvSpPr txBox="1"/>
          <p:nvPr/>
        </p:nvSpPr>
        <p:spPr>
          <a:xfrm>
            <a:off x="545890" y="5125938"/>
            <a:ext cx="2130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Расчётные ведомости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53DCB59D-C8A4-918E-F156-3F723E8771C7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3355679" y="2045725"/>
            <a:ext cx="3765818" cy="13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BA0E894-539C-566A-AEA4-A7A84D0547F8}"/>
              </a:ext>
            </a:extLst>
          </p:cNvPr>
          <p:cNvSpPr txBox="1"/>
          <p:nvPr/>
        </p:nvSpPr>
        <p:spPr>
          <a:xfrm>
            <a:off x="7121497" y="1722559"/>
            <a:ext cx="2382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Выписка и выдача бумажных нарядов </a:t>
            </a:r>
          </a:p>
        </p:txBody>
      </p:sp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2E2CDA68-78AD-3300-6F47-7C2A07C5A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677" y="4431138"/>
            <a:ext cx="1572830" cy="1026719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0D9BF9E2-81CA-347E-7BC3-BBADA9719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310" y="739356"/>
            <a:ext cx="1459104" cy="869616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6B71026F-EFD3-6853-3959-9666758BD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006" y="674032"/>
            <a:ext cx="1686160" cy="1000265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3D48C6A2-6186-E3A2-BBCB-3F32CB6DEE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698" y="4215911"/>
            <a:ext cx="1505160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91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5563AB-427C-C6C5-7D19-3A785626A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5342" y="235974"/>
            <a:ext cx="9144000" cy="648776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Сравнительная таблица аналогов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A821822-36CA-321F-A4FF-1914ADDD0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812012"/>
              </p:ext>
            </p:extLst>
          </p:nvPr>
        </p:nvGraphicFramePr>
        <p:xfrm>
          <a:off x="1524000" y="884750"/>
          <a:ext cx="9065342" cy="57695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2119">
                  <a:extLst>
                    <a:ext uri="{9D8B030D-6E8A-4147-A177-3AD203B41FA5}">
                      <a16:colId xmlns:a16="http://schemas.microsoft.com/office/drawing/2014/main" val="626631532"/>
                    </a:ext>
                  </a:extLst>
                </a:gridCol>
                <a:gridCol w="2877483">
                  <a:extLst>
                    <a:ext uri="{9D8B030D-6E8A-4147-A177-3AD203B41FA5}">
                      <a16:colId xmlns:a16="http://schemas.microsoft.com/office/drawing/2014/main" val="3510699862"/>
                    </a:ext>
                  </a:extLst>
                </a:gridCol>
                <a:gridCol w="1724597">
                  <a:extLst>
                    <a:ext uri="{9D8B030D-6E8A-4147-A177-3AD203B41FA5}">
                      <a16:colId xmlns:a16="http://schemas.microsoft.com/office/drawing/2014/main" val="4168299782"/>
                    </a:ext>
                  </a:extLst>
                </a:gridCol>
                <a:gridCol w="2114022">
                  <a:extLst>
                    <a:ext uri="{9D8B030D-6E8A-4147-A177-3AD203B41FA5}">
                      <a16:colId xmlns:a16="http://schemas.microsoft.com/office/drawing/2014/main" val="2232947216"/>
                    </a:ext>
                  </a:extLst>
                </a:gridCol>
                <a:gridCol w="1807121">
                  <a:extLst>
                    <a:ext uri="{9D8B030D-6E8A-4147-A177-3AD203B41FA5}">
                      <a16:colId xmlns:a16="http://schemas.microsoft.com/office/drawing/2014/main" val="826412275"/>
                    </a:ext>
                  </a:extLst>
                </a:gridCol>
              </a:tblGrid>
              <a:tr h="8430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Функция (из п. 1.4)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Аналог 1 (SAP ERP)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Аналог 2 (1С:ЗУП/ERP)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Аналог 3 (Odoo)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extLst>
                  <a:ext uri="{0D108BD9-81ED-4DB2-BD59-A6C34878D82A}">
                    <a16:rowId xmlns:a16="http://schemas.microsoft.com/office/drawing/2014/main" val="3570273580"/>
                  </a:ext>
                </a:extLst>
              </a:tr>
              <a:tr h="7102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Копирование бездействующих участков за период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extLst>
                  <a:ext uri="{0D108BD9-81ED-4DB2-BD59-A6C34878D82A}">
                    <a16:rowId xmlns:a16="http://schemas.microsoft.com/office/drawing/2014/main" val="1552761850"/>
                  </a:ext>
                </a:extLst>
              </a:tr>
              <a:tr h="7102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работников с минимальной нагрузкой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extLst>
                  <a:ext uri="{0D108BD9-81ED-4DB2-BD59-A6C34878D82A}">
                    <a16:rowId xmlns:a16="http://schemas.microsoft.com/office/drawing/2014/main" val="4048114729"/>
                  </a:ext>
                </a:extLst>
              </a:tr>
              <a:tr h="6715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Проверка занятости при создании наряда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extLst>
                  <a:ext uri="{0D108BD9-81ED-4DB2-BD59-A6C34878D82A}">
                    <a16:rowId xmlns:a16="http://schemas.microsoft.com/office/drawing/2014/main" val="296487837"/>
                  </a:ext>
                </a:extLst>
              </a:tr>
              <a:tr h="6715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Контроль лимитов штатного расписания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extLst>
                  <a:ext uri="{0D108BD9-81ED-4DB2-BD59-A6C34878D82A}">
                    <a16:rowId xmlns:a16="http://schemas.microsoft.com/office/drawing/2014/main" val="4287268048"/>
                  </a:ext>
                </a:extLst>
              </a:tr>
              <a:tr h="7102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Автоматический расчет заработной платы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extLst>
                  <a:ext uri="{0D108BD9-81ED-4DB2-BD59-A6C34878D82A}">
                    <a16:rowId xmlns:a16="http://schemas.microsoft.com/office/drawing/2014/main" val="3895220362"/>
                  </a:ext>
                </a:extLst>
              </a:tr>
              <a:tr h="7102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Специализированные справочники для ПФО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391" marR="63391" marT="0" marB="0"/>
                </a:tc>
                <a:extLst>
                  <a:ext uri="{0D108BD9-81ED-4DB2-BD59-A6C34878D82A}">
                    <a16:rowId xmlns:a16="http://schemas.microsoft.com/office/drawing/2014/main" val="2951605740"/>
                  </a:ext>
                </a:extLst>
              </a:tr>
              <a:tr h="71023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Стоимость лицензии</a:t>
                      </a: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3391" marR="633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3391" marR="63391" marT="0" marB="0"/>
                </a:tc>
                <a:extLst>
                  <a:ext uri="{0D108BD9-81ED-4DB2-BD59-A6C34878D82A}">
                    <a16:rowId xmlns:a16="http://schemas.microsoft.com/office/drawing/2014/main" val="1006878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314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20C9C-E3A8-51EF-0021-F2F591C48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065" y="318680"/>
            <a:ext cx="9144000" cy="688105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FF7EF9-8BB2-F7A2-CD8E-D4C77C3CCC59}"/>
              </a:ext>
            </a:extLst>
          </p:cNvPr>
          <p:cNvSpPr txBox="1"/>
          <p:nvPr/>
        </p:nvSpPr>
        <p:spPr>
          <a:xfrm>
            <a:off x="541322" y="2111498"/>
            <a:ext cx="3037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Цифровое создание плана работ в единой базе данных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EFD1BB27-4DD4-F850-697A-7DBC4AAAB2E0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3578942" y="2573163"/>
            <a:ext cx="40438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8BFA07-978D-EA4C-E83A-EFF663691225}"/>
              </a:ext>
            </a:extLst>
          </p:cNvPr>
          <p:cNvSpPr txBox="1"/>
          <p:nvPr/>
        </p:nvSpPr>
        <p:spPr>
          <a:xfrm>
            <a:off x="7622743" y="2111498"/>
            <a:ext cx="28090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Автоматическая выдача заданий с проверкой занятости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5E5F86-ABBC-F83E-0111-53F39925C18F}"/>
              </a:ext>
            </a:extLst>
          </p:cNvPr>
          <p:cNvSpPr txBox="1"/>
          <p:nvPr/>
        </p:nvSpPr>
        <p:spPr>
          <a:xfrm>
            <a:off x="9027288" y="1703127"/>
            <a:ext cx="1977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C40C79-CFCA-83A0-AD2C-ABA4BACB2509}"/>
              </a:ext>
            </a:extLst>
          </p:cNvPr>
          <p:cNvSpPr txBox="1"/>
          <p:nvPr/>
        </p:nvSpPr>
        <p:spPr>
          <a:xfrm>
            <a:off x="7426291" y="5577830"/>
            <a:ext cx="2809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Сбор отчётности в единой базе данных</a:t>
            </a:r>
          </a:p>
        </p:txBody>
      </p:sp>
      <p:cxnSp>
        <p:nvCxnSpPr>
          <p:cNvPr id="24" name="Прямая со стрелкой 44">
            <a:extLst>
              <a:ext uri="{FF2B5EF4-FFF2-40B4-BE49-F238E27FC236}">
                <a16:creationId xmlns:a16="http://schemas.microsoft.com/office/drawing/2014/main" id="{301BFB48-6652-029E-3A57-6418F8CC7317}"/>
              </a:ext>
            </a:extLst>
          </p:cNvPr>
          <p:cNvCxnSpPr>
            <a:cxnSpLocks/>
            <a:stCxn id="21" idx="3"/>
            <a:endCxn id="23" idx="3"/>
          </p:cNvCxnSpPr>
          <p:nvPr/>
        </p:nvCxnSpPr>
        <p:spPr>
          <a:xfrm flipH="1">
            <a:off x="10235381" y="2573163"/>
            <a:ext cx="196452" cy="3327833"/>
          </a:xfrm>
          <a:prstGeom prst="bentConnector3">
            <a:avLst>
              <a:gd name="adj1" fmla="val -1163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614C285-D0D7-CD92-3F6F-97025AA79974}"/>
              </a:ext>
            </a:extLst>
          </p:cNvPr>
          <p:cNvSpPr txBox="1"/>
          <p:nvPr/>
        </p:nvSpPr>
        <p:spPr>
          <a:xfrm>
            <a:off x="4626007" y="1703127"/>
            <a:ext cx="2130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Утверждённые планы и графики</a:t>
            </a: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C182E800-CCDA-8058-F65E-2F555B21211A}"/>
              </a:ext>
            </a:extLst>
          </p:cNvPr>
          <p:cNvCxnSpPr>
            <a:cxnSpLocks/>
            <a:stCxn id="23" idx="1"/>
            <a:endCxn id="27" idx="3"/>
          </p:cNvCxnSpPr>
          <p:nvPr/>
        </p:nvCxnSpPr>
        <p:spPr>
          <a:xfrm flipH="1">
            <a:off x="5342638" y="5900996"/>
            <a:ext cx="2083653" cy="12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F06FFA9-7F6D-B67E-AA99-1D89C5380E4A}"/>
              </a:ext>
            </a:extLst>
          </p:cNvPr>
          <p:cNvSpPr txBox="1"/>
          <p:nvPr/>
        </p:nvSpPr>
        <p:spPr>
          <a:xfrm>
            <a:off x="2533548" y="5590602"/>
            <a:ext cx="2809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Автоматический подсчёт зарплаты в системе</a:t>
            </a: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0BC15273-9D1D-FA31-F4E2-4D916CD9E451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688258" y="5907382"/>
            <a:ext cx="1845290" cy="6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77A8E69-6AF6-2950-FDD0-87A7FDA6C218}"/>
              </a:ext>
            </a:extLst>
          </p:cNvPr>
          <p:cNvSpPr txBox="1"/>
          <p:nvPr/>
        </p:nvSpPr>
        <p:spPr>
          <a:xfrm>
            <a:off x="5167273" y="4831707"/>
            <a:ext cx="2572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цифровые данные</a:t>
            </a:r>
          </a:p>
          <a:p>
            <a:pPr algn="ctr"/>
            <a:r>
              <a:rPr lang="ru-RU" dirty="0"/>
              <a:t>о выполнении нарядов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82128F-2E01-77DF-1CB4-012AB629C32B}"/>
              </a:ext>
            </a:extLst>
          </p:cNvPr>
          <p:cNvSpPr txBox="1"/>
          <p:nvPr/>
        </p:nvSpPr>
        <p:spPr>
          <a:xfrm>
            <a:off x="541322" y="4944271"/>
            <a:ext cx="2130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Расчётные ведомости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D5117D-2B82-A1E0-3B80-FF109DA68D5F}"/>
              </a:ext>
            </a:extLst>
          </p:cNvPr>
          <p:cNvSpPr txBox="1"/>
          <p:nvPr/>
        </p:nvSpPr>
        <p:spPr>
          <a:xfrm>
            <a:off x="9458536" y="3775414"/>
            <a:ext cx="2210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Задания зафиксированные в системе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2D0A9096-A79F-2802-1E05-AD07F3EAE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473" y="1188169"/>
            <a:ext cx="1381318" cy="923329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C508D565-A4D9-DA99-16FD-D8B029F4A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682" y="998548"/>
            <a:ext cx="1457401" cy="1214243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77ABCC67-CADB-1469-361C-3AE251E31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965" y="4463685"/>
            <a:ext cx="1554194" cy="1014353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B34C656F-81C6-D108-7C3F-AEE7742E92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7931" y="4237079"/>
            <a:ext cx="1524085" cy="12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41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FB57A-B2C0-56C3-EE6D-3FB6EE632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403" y="367525"/>
            <a:ext cx="6528619" cy="19097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B69A95-F848-4BB3-58D0-ABF061B5F8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3558" y="1591459"/>
            <a:ext cx="10924883" cy="4899016"/>
          </a:xfrm>
        </p:spPr>
        <p:txBody>
          <a:bodyPr>
            <a:noAutofit/>
          </a:bodyPr>
          <a:lstStyle/>
          <a:p>
            <a:pPr algn="just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снизить временные затраты планово-финансового отдела промышленного предприятия за счёт создания специализированной информационной системы, обеспечивающей оперативный учёт, планирование работ и контроль производственных ресурсов.</a:t>
            </a:r>
          </a:p>
          <a:p>
            <a:pPr algn="just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algn="l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 </a:t>
            </a:r>
          </a:p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модели базы данных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96629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DD4A7-3133-FCA4-63DE-B612B804C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3" y="220731"/>
            <a:ext cx="3302643" cy="1433986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F3C3ABB6-6E13-A80F-7962-83BF17C3981D}"/>
              </a:ext>
            </a:extLst>
          </p:cNvPr>
          <p:cNvCxnSpPr>
            <a:cxnSpLocks/>
          </p:cNvCxnSpPr>
          <p:nvPr/>
        </p:nvCxnSpPr>
        <p:spPr>
          <a:xfrm>
            <a:off x="1408057" y="3512297"/>
            <a:ext cx="0" cy="11372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376D67E-3770-FB6F-BD43-2ECE41ABC7C2}"/>
              </a:ext>
            </a:extLst>
          </p:cNvPr>
          <p:cNvCxnSpPr>
            <a:cxnSpLocks/>
          </p:cNvCxnSpPr>
          <p:nvPr/>
        </p:nvCxnSpPr>
        <p:spPr>
          <a:xfrm flipH="1">
            <a:off x="1149694" y="4649510"/>
            <a:ext cx="258363" cy="6221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58D943F-F12F-34AA-72BE-26C689C5B6A5}"/>
              </a:ext>
            </a:extLst>
          </p:cNvPr>
          <p:cNvCxnSpPr>
            <a:cxnSpLocks/>
          </p:cNvCxnSpPr>
          <p:nvPr/>
        </p:nvCxnSpPr>
        <p:spPr>
          <a:xfrm>
            <a:off x="1408057" y="4649510"/>
            <a:ext cx="258363" cy="6221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A8CE7E5-6B1E-029D-E8C5-F13F60C1B6C0}"/>
              </a:ext>
            </a:extLst>
          </p:cNvPr>
          <p:cNvCxnSpPr>
            <a:cxnSpLocks/>
          </p:cNvCxnSpPr>
          <p:nvPr/>
        </p:nvCxnSpPr>
        <p:spPr>
          <a:xfrm>
            <a:off x="952924" y="3694805"/>
            <a:ext cx="8801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Овал 32">
            <a:extLst>
              <a:ext uri="{FF2B5EF4-FFF2-40B4-BE49-F238E27FC236}">
                <a16:creationId xmlns:a16="http://schemas.microsoft.com/office/drawing/2014/main" id="{65408ED0-9395-058E-AB1A-6E920D344B6E}"/>
              </a:ext>
            </a:extLst>
          </p:cNvPr>
          <p:cNvSpPr/>
          <p:nvPr/>
        </p:nvSpPr>
        <p:spPr>
          <a:xfrm>
            <a:off x="1059977" y="2942182"/>
            <a:ext cx="683331" cy="57011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4A44B154-9C64-E860-5FD2-469099709301}"/>
              </a:ext>
            </a:extLst>
          </p:cNvPr>
          <p:cNvSpPr/>
          <p:nvPr/>
        </p:nvSpPr>
        <p:spPr>
          <a:xfrm>
            <a:off x="3774371" y="714302"/>
            <a:ext cx="3067291" cy="99206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Выполнить расчёт</a:t>
            </a:r>
          </a:p>
          <a:p>
            <a:pPr algn="ctr"/>
            <a:r>
              <a:rPr lang="ru-RU" dirty="0">
                <a:solidFill>
                  <a:schemeClr val="tx1"/>
                </a:solidFill>
              </a:rPr>
              <a:t>заработной платы</a:t>
            </a:r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9526D18E-9496-FB29-9468-7956E164C4E2}"/>
              </a:ext>
            </a:extLst>
          </p:cNvPr>
          <p:cNvSpPr/>
          <p:nvPr/>
        </p:nvSpPr>
        <p:spPr>
          <a:xfrm>
            <a:off x="3655702" y="1872321"/>
            <a:ext cx="3472405" cy="11205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Сформировать отчёт о простаивающих участках</a:t>
            </a:r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72FE5996-E997-D0D0-3E04-FEACE04C9B9D}"/>
              </a:ext>
            </a:extLst>
          </p:cNvPr>
          <p:cNvSpPr/>
          <p:nvPr/>
        </p:nvSpPr>
        <p:spPr>
          <a:xfrm>
            <a:off x="3402520" y="3168159"/>
            <a:ext cx="4097439" cy="9556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Управлять справочниками(Участки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ru-RU" dirty="0">
                <a:solidFill>
                  <a:schemeClr val="tx1"/>
                </a:solidFill>
              </a:rPr>
              <a:t> Должности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ru-RU" dirty="0">
                <a:solidFill>
                  <a:schemeClr val="tx1"/>
                </a:solidFill>
              </a:rPr>
              <a:t> Работники)</a:t>
            </a: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39853509-D8C7-71C3-103C-59C854E5AD1F}"/>
              </a:ext>
            </a:extLst>
          </p:cNvPr>
          <p:cNvSpPr/>
          <p:nvPr/>
        </p:nvSpPr>
        <p:spPr>
          <a:xfrm>
            <a:off x="4025581" y="4407981"/>
            <a:ext cx="3067285" cy="7176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Выдать наряды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9CB1589D-22CF-227F-B73E-6FA8436A1E93}"/>
              </a:ext>
            </a:extLst>
          </p:cNvPr>
          <p:cNvSpPr/>
          <p:nvPr/>
        </p:nvSpPr>
        <p:spPr>
          <a:xfrm>
            <a:off x="3659598" y="5388805"/>
            <a:ext cx="3979762" cy="10629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Получить анализ работников с минимальной нагрузкой</a:t>
            </a:r>
          </a:p>
        </p:txBody>
      </p: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0D234A5E-4D8C-5148-E3B4-94DC59FB516F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1951642" y="1210335"/>
            <a:ext cx="1822729" cy="2719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04DCFA07-F665-C59E-6E5A-B46173DFC66C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1965251" y="2432584"/>
            <a:ext cx="1690451" cy="1648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A7E82D92-6DF4-3C47-FC3F-2C3509C9308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1984762" y="3645964"/>
            <a:ext cx="1417758" cy="499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D2C3EB85-0ED3-1A9E-21ED-34A7E8678B44}"/>
              </a:ext>
            </a:extLst>
          </p:cNvPr>
          <p:cNvCxnSpPr>
            <a:cxnSpLocks/>
            <a:endCxn id="37" idx="2"/>
          </p:cNvCxnSpPr>
          <p:nvPr/>
        </p:nvCxnSpPr>
        <p:spPr>
          <a:xfrm>
            <a:off x="1965251" y="4255366"/>
            <a:ext cx="2060330" cy="5114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207C8F01-3C01-D7D8-1CAB-C1F064234B14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1951642" y="4471856"/>
            <a:ext cx="1707956" cy="1448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Овал 80">
            <a:extLst>
              <a:ext uri="{FF2B5EF4-FFF2-40B4-BE49-F238E27FC236}">
                <a16:creationId xmlns:a16="http://schemas.microsoft.com/office/drawing/2014/main" id="{A92FA75D-387A-F313-7D57-C6BAB0B41F80}"/>
              </a:ext>
            </a:extLst>
          </p:cNvPr>
          <p:cNvSpPr/>
          <p:nvPr/>
        </p:nvSpPr>
        <p:spPr>
          <a:xfrm>
            <a:off x="8607737" y="881881"/>
            <a:ext cx="3472405" cy="11205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Контролировать штатное расписание</a:t>
            </a:r>
          </a:p>
        </p:txBody>
      </p:sp>
      <p:sp>
        <p:nvSpPr>
          <p:cNvPr id="82" name="Овал 81">
            <a:extLst>
              <a:ext uri="{FF2B5EF4-FFF2-40B4-BE49-F238E27FC236}">
                <a16:creationId xmlns:a16="http://schemas.microsoft.com/office/drawing/2014/main" id="{6D6240EE-4427-7C48-A53A-9348F4AD866F}"/>
              </a:ext>
            </a:extLst>
          </p:cNvPr>
          <p:cNvSpPr/>
          <p:nvPr/>
        </p:nvSpPr>
        <p:spPr>
          <a:xfrm>
            <a:off x="8719595" y="2308474"/>
            <a:ext cx="3472405" cy="11205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Контролировать штатный лимит	</a:t>
            </a:r>
          </a:p>
        </p:txBody>
      </p:sp>
      <p:sp>
        <p:nvSpPr>
          <p:cNvPr id="83" name="Овал 82">
            <a:extLst>
              <a:ext uri="{FF2B5EF4-FFF2-40B4-BE49-F238E27FC236}">
                <a16:creationId xmlns:a16="http://schemas.microsoft.com/office/drawing/2014/main" id="{7AADE0A5-669A-1038-8C56-96CD1EFAE4D5}"/>
              </a:ext>
            </a:extLst>
          </p:cNvPr>
          <p:cNvSpPr/>
          <p:nvPr/>
        </p:nvSpPr>
        <p:spPr>
          <a:xfrm>
            <a:off x="8719595" y="4206533"/>
            <a:ext cx="3472405" cy="11205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Проверить занятость работника</a:t>
            </a:r>
          </a:p>
        </p:txBody>
      </p:sp>
      <p:cxnSp>
        <p:nvCxnSpPr>
          <p:cNvPr id="85" name="Прямая со стрелкой 84">
            <a:extLst>
              <a:ext uri="{FF2B5EF4-FFF2-40B4-BE49-F238E27FC236}">
                <a16:creationId xmlns:a16="http://schemas.microsoft.com/office/drawing/2014/main" id="{4CEF1F7C-3D51-655B-A31C-C7ECA1ABB61A}"/>
              </a:ext>
            </a:extLst>
          </p:cNvPr>
          <p:cNvCxnSpPr>
            <a:cxnSpLocks/>
            <a:stCxn id="37" idx="6"/>
            <a:endCxn id="83" idx="2"/>
          </p:cNvCxnSpPr>
          <p:nvPr/>
        </p:nvCxnSpPr>
        <p:spPr>
          <a:xfrm>
            <a:off x="7092866" y="4766796"/>
            <a:ext cx="162672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Прямая со стрелкой 87">
            <a:extLst>
              <a:ext uri="{FF2B5EF4-FFF2-40B4-BE49-F238E27FC236}">
                <a16:creationId xmlns:a16="http://schemas.microsoft.com/office/drawing/2014/main" id="{69C3217C-83CD-C9E3-5CBB-60DD4B27C3FB}"/>
              </a:ext>
            </a:extLst>
          </p:cNvPr>
          <p:cNvCxnSpPr>
            <a:cxnSpLocks/>
            <a:stCxn id="36" idx="7"/>
            <a:endCxn id="81" idx="2"/>
          </p:cNvCxnSpPr>
          <p:nvPr/>
        </p:nvCxnSpPr>
        <p:spPr>
          <a:xfrm flipV="1">
            <a:off x="6899903" y="1442144"/>
            <a:ext cx="1707834" cy="186596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Прямая со стрелкой 91">
            <a:extLst>
              <a:ext uri="{FF2B5EF4-FFF2-40B4-BE49-F238E27FC236}">
                <a16:creationId xmlns:a16="http://schemas.microsoft.com/office/drawing/2014/main" id="{D33FDC51-71A3-9C71-4207-427E7638BED6}"/>
              </a:ext>
            </a:extLst>
          </p:cNvPr>
          <p:cNvCxnSpPr>
            <a:cxnSpLocks/>
            <a:stCxn id="36" idx="6"/>
            <a:endCxn id="82" idx="3"/>
          </p:cNvCxnSpPr>
          <p:nvPr/>
        </p:nvCxnSpPr>
        <p:spPr>
          <a:xfrm flipV="1">
            <a:off x="7499959" y="3264903"/>
            <a:ext cx="1728158" cy="38106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8101C506-88CA-F878-4825-B233A0105C33}"/>
              </a:ext>
            </a:extLst>
          </p:cNvPr>
          <p:cNvSpPr txBox="1"/>
          <p:nvPr/>
        </p:nvSpPr>
        <p:spPr>
          <a:xfrm>
            <a:off x="507073" y="5536834"/>
            <a:ext cx="206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Сотрудник ПФО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FBC416D-7C72-2147-B45C-B0F190591D1E}"/>
              </a:ext>
            </a:extLst>
          </p:cNvPr>
          <p:cNvSpPr txBox="1"/>
          <p:nvPr/>
        </p:nvSpPr>
        <p:spPr>
          <a:xfrm rot="18747089">
            <a:off x="7157539" y="1879955"/>
            <a:ext cx="113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</a:t>
            </a:r>
            <a:endParaRPr lang="ru-RU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F0B3592-1CB5-77D9-FD95-B36CF4616C60}"/>
              </a:ext>
            </a:extLst>
          </p:cNvPr>
          <p:cNvSpPr txBox="1"/>
          <p:nvPr/>
        </p:nvSpPr>
        <p:spPr>
          <a:xfrm rot="20524511">
            <a:off x="7495354" y="3028144"/>
            <a:ext cx="1297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</a:t>
            </a:r>
            <a:endParaRPr lang="ru-RU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FC152B1-46F5-A722-59F5-62B0AAAB22D2}"/>
              </a:ext>
            </a:extLst>
          </p:cNvPr>
          <p:cNvSpPr txBox="1"/>
          <p:nvPr/>
        </p:nvSpPr>
        <p:spPr>
          <a:xfrm>
            <a:off x="7391823" y="4394420"/>
            <a:ext cx="101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182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8C8A1E-7563-50F9-9724-CF641905F1D8}"/>
              </a:ext>
            </a:extLst>
          </p:cNvPr>
          <p:cNvCxnSpPr>
            <a:cxnSpLocks/>
          </p:cNvCxnSpPr>
          <p:nvPr/>
        </p:nvCxnSpPr>
        <p:spPr>
          <a:xfrm>
            <a:off x="1324746" y="2739648"/>
            <a:ext cx="0" cy="11372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320C89E-BB41-6402-2CF6-3EAA88241237}"/>
              </a:ext>
            </a:extLst>
          </p:cNvPr>
          <p:cNvCxnSpPr>
            <a:cxnSpLocks/>
          </p:cNvCxnSpPr>
          <p:nvPr/>
        </p:nvCxnSpPr>
        <p:spPr>
          <a:xfrm flipH="1">
            <a:off x="1066383" y="3876861"/>
            <a:ext cx="258363" cy="6221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07FE1CC-9A02-1014-EAE5-82F7BB82652B}"/>
              </a:ext>
            </a:extLst>
          </p:cNvPr>
          <p:cNvCxnSpPr>
            <a:cxnSpLocks/>
          </p:cNvCxnSpPr>
          <p:nvPr/>
        </p:nvCxnSpPr>
        <p:spPr>
          <a:xfrm>
            <a:off x="1324746" y="3876861"/>
            <a:ext cx="258363" cy="6221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75505B0-3C08-A4B6-FE79-11C145D48564}"/>
              </a:ext>
            </a:extLst>
          </p:cNvPr>
          <p:cNvCxnSpPr>
            <a:cxnSpLocks/>
          </p:cNvCxnSpPr>
          <p:nvPr/>
        </p:nvCxnSpPr>
        <p:spPr>
          <a:xfrm>
            <a:off x="869613" y="2922156"/>
            <a:ext cx="8801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Овал 7">
            <a:extLst>
              <a:ext uri="{FF2B5EF4-FFF2-40B4-BE49-F238E27FC236}">
                <a16:creationId xmlns:a16="http://schemas.microsoft.com/office/drawing/2014/main" id="{6DB4504D-F5B5-6ADB-0030-F3BA8136B468}"/>
              </a:ext>
            </a:extLst>
          </p:cNvPr>
          <p:cNvSpPr/>
          <p:nvPr/>
        </p:nvSpPr>
        <p:spPr>
          <a:xfrm>
            <a:off x="976666" y="2169533"/>
            <a:ext cx="683331" cy="57011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F6D7D11F-4961-1497-37D4-E30C7F5DDE0A}"/>
              </a:ext>
            </a:extLst>
          </p:cNvPr>
          <p:cNvSpPr/>
          <p:nvPr/>
        </p:nvSpPr>
        <p:spPr>
          <a:xfrm>
            <a:off x="3881883" y="1509688"/>
            <a:ext cx="3180045" cy="77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Планировать мероприятие 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4090653C-8ED5-224D-76DE-FCB9EC3E78CD}"/>
              </a:ext>
            </a:extLst>
          </p:cNvPr>
          <p:cNvSpPr/>
          <p:nvPr/>
        </p:nvSpPr>
        <p:spPr>
          <a:xfrm>
            <a:off x="3978411" y="2994940"/>
            <a:ext cx="3067285" cy="71763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Выдать наряды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E8FA869E-1DD3-AB8A-D7BC-99E38501A0C3}"/>
              </a:ext>
            </a:extLst>
          </p:cNvPr>
          <p:cNvSpPr/>
          <p:nvPr/>
        </p:nvSpPr>
        <p:spPr>
          <a:xfrm>
            <a:off x="3978411" y="4499000"/>
            <a:ext cx="3180045" cy="8310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Отмечать выполнение наряда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274FCDA-770B-8576-8FD7-95F9E8D1B0B0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2118167" y="1898539"/>
            <a:ext cx="1763716" cy="1180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BACB1226-BB1F-D6C6-C7A3-8524DF01A90F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2204852" y="3353755"/>
            <a:ext cx="17735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0DA14109-0D96-BC7A-42D2-57F5BE2D9E12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2118167" y="3622876"/>
            <a:ext cx="1860244" cy="12916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C5CB6F9-B812-34E0-40AA-0A89A0749BE8}"/>
              </a:ext>
            </a:extLst>
          </p:cNvPr>
          <p:cNvSpPr txBox="1"/>
          <p:nvPr/>
        </p:nvSpPr>
        <p:spPr>
          <a:xfrm>
            <a:off x="414128" y="4638184"/>
            <a:ext cx="2060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Мастер участка</a:t>
            </a:r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B1EFE1D6-5C47-29D9-60F1-11823789BF68}"/>
              </a:ext>
            </a:extLst>
          </p:cNvPr>
          <p:cNvSpPr/>
          <p:nvPr/>
        </p:nvSpPr>
        <p:spPr>
          <a:xfrm>
            <a:off x="8483810" y="1509688"/>
            <a:ext cx="3180045" cy="77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Проверить занятость участка</a:t>
            </a:r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4C077DFC-25EC-C06A-BDE0-53F22EE0F86F}"/>
              </a:ext>
            </a:extLst>
          </p:cNvPr>
          <p:cNvSpPr/>
          <p:nvPr/>
        </p:nvSpPr>
        <p:spPr>
          <a:xfrm>
            <a:off x="8587982" y="2964904"/>
            <a:ext cx="3180045" cy="77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Проверить занятость работника</a:t>
            </a: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7DBD4F47-1ECD-F9A5-9E91-65D05D3B250F}"/>
              </a:ext>
            </a:extLst>
          </p:cNvPr>
          <p:cNvCxnSpPr>
            <a:cxnSpLocks/>
            <a:stCxn id="11" idx="6"/>
            <a:endCxn id="51" idx="2"/>
          </p:cNvCxnSpPr>
          <p:nvPr/>
        </p:nvCxnSpPr>
        <p:spPr>
          <a:xfrm>
            <a:off x="7061928" y="1898539"/>
            <a:ext cx="142188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9271C93-94EF-0919-0DED-DC69A019C92E}"/>
              </a:ext>
            </a:extLst>
          </p:cNvPr>
          <p:cNvSpPr txBox="1"/>
          <p:nvPr/>
        </p:nvSpPr>
        <p:spPr>
          <a:xfrm>
            <a:off x="7249679" y="2898423"/>
            <a:ext cx="113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</a:t>
            </a:r>
            <a:endParaRPr lang="ru-RU" dirty="0"/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841E312D-B151-FC2E-C9BF-F077EF93B095}"/>
              </a:ext>
            </a:extLst>
          </p:cNvPr>
          <p:cNvCxnSpPr>
            <a:cxnSpLocks/>
            <a:stCxn id="12" idx="6"/>
            <a:endCxn id="52" idx="2"/>
          </p:cNvCxnSpPr>
          <p:nvPr/>
        </p:nvCxnSpPr>
        <p:spPr>
          <a:xfrm>
            <a:off x="7045696" y="3353755"/>
            <a:ext cx="154228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13D4DE8-A35F-054A-2A50-FD8CE1B476D6}"/>
              </a:ext>
            </a:extLst>
          </p:cNvPr>
          <p:cNvSpPr txBox="1"/>
          <p:nvPr/>
        </p:nvSpPr>
        <p:spPr>
          <a:xfrm>
            <a:off x="7358109" y="1615208"/>
            <a:ext cx="113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</a:t>
            </a:r>
            <a:endParaRPr lang="ru-RU" dirty="0"/>
          </a:p>
        </p:txBody>
      </p:sp>
      <p:sp>
        <p:nvSpPr>
          <p:cNvPr id="73" name="Заголовок 1">
            <a:extLst>
              <a:ext uri="{FF2B5EF4-FFF2-40B4-BE49-F238E27FC236}">
                <a16:creationId xmlns:a16="http://schemas.microsoft.com/office/drawing/2014/main" id="{75D5805E-5B2C-6E01-4651-1091DB040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97" y="202364"/>
            <a:ext cx="3302643" cy="1433986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3055460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62EB1-C634-7EEB-6DD7-8186BB5E8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9741" y="216310"/>
            <a:ext cx="3791449" cy="796259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Инфологическая модель данных 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035FECC5-4A59-40D2-D630-89B08FAA2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707" y="216310"/>
            <a:ext cx="6388494" cy="6337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5643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761169-A766-BAA8-27CF-746476967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935" y="196771"/>
            <a:ext cx="3152171" cy="1056130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pic>
        <p:nvPicPr>
          <p:cNvPr id="2050" name="Рисунок 1">
            <a:extLst>
              <a:ext uri="{FF2B5EF4-FFF2-40B4-BE49-F238E27FC236}">
                <a16:creationId xmlns:a16="http://schemas.microsoft.com/office/drawing/2014/main" id="{81D2F44C-3FD9-E47C-D35F-761CD80C4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337" y="196772"/>
            <a:ext cx="7176304" cy="6551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3381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1D6356-CBE2-A50D-31E4-D9A31890A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9124" y="358233"/>
            <a:ext cx="10293752" cy="998256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и выходные данные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77E9C4-153C-DAEC-A739-1D315282DED9}"/>
              </a:ext>
            </a:extLst>
          </p:cNvPr>
          <p:cNvSpPr txBox="1"/>
          <p:nvPr/>
        </p:nvSpPr>
        <p:spPr>
          <a:xfrm>
            <a:off x="1211982" y="1790786"/>
            <a:ext cx="418592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Справочная информация: список участков, должностей, табельный номер и ФИО работников.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План работ: дата, участок и описание планируемого мероприятия.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Задание на работу: кому, на какое мероприятие и на сколько часов выдан наряд.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4235A5-18B4-D89D-5BC8-34D181E2167D}"/>
              </a:ext>
            </a:extLst>
          </p:cNvPr>
          <p:cNvSpPr txBox="1"/>
          <p:nvPr/>
        </p:nvSpPr>
        <p:spPr>
          <a:xfrm>
            <a:off x="6946553" y="1790786"/>
            <a:ext cx="450802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Выходные данные: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Аналитический отчёт: список участков, не использовавшихся в заданном месяце.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Расчётный документ: ведомость начисления заработной платы по итогам месяца.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Служебная аналитика: список работников с наименьшим количеством поручений.</a:t>
            </a:r>
          </a:p>
          <a:p>
            <a:br>
              <a:rPr lang="ru-RU" dirty="0"/>
            </a:b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197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E3304-7443-F807-F398-50ED1B52A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516"/>
            <a:ext cx="9144000" cy="1044555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Прототипы интерфейсов</a:t>
            </a:r>
          </a:p>
        </p:txBody>
      </p:sp>
      <p:pic>
        <p:nvPicPr>
          <p:cNvPr id="3074" name="Рисунок 1">
            <a:extLst>
              <a:ext uri="{FF2B5EF4-FFF2-40B4-BE49-F238E27FC236}">
                <a16:creationId xmlns:a16="http://schemas.microsoft.com/office/drawing/2014/main" id="{656E28C6-E842-8BCA-6163-43B305C55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66" y="1706240"/>
            <a:ext cx="5392678" cy="3687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Рисунок 1">
            <a:extLst>
              <a:ext uri="{FF2B5EF4-FFF2-40B4-BE49-F238E27FC236}">
                <a16:creationId xmlns:a16="http://schemas.microsoft.com/office/drawing/2014/main" id="{78F744CC-6C7B-6107-BAC3-A963368BD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456" y="1789193"/>
            <a:ext cx="5392678" cy="3687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6192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Рисунок 1">
            <a:extLst>
              <a:ext uri="{FF2B5EF4-FFF2-40B4-BE49-F238E27FC236}">
                <a16:creationId xmlns:a16="http://schemas.microsoft.com/office/drawing/2014/main" id="{EA4FB96A-5D8E-A65B-0537-70055E5CE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31" y="150419"/>
            <a:ext cx="6694611" cy="2081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Рисунок 1">
            <a:extLst>
              <a:ext uri="{FF2B5EF4-FFF2-40B4-BE49-F238E27FC236}">
                <a16:creationId xmlns:a16="http://schemas.microsoft.com/office/drawing/2014/main" id="{D83C72B8-AF71-6A7A-139F-DA7EDBDE7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731" y="2278217"/>
            <a:ext cx="5814538" cy="182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Рисунок 1">
            <a:extLst>
              <a:ext uri="{FF2B5EF4-FFF2-40B4-BE49-F238E27FC236}">
                <a16:creationId xmlns:a16="http://schemas.microsoft.com/office/drawing/2014/main" id="{B42CBA46-88BA-A794-5B80-104AE88BE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475" y="4298349"/>
            <a:ext cx="6035678" cy="210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0075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C26DE-985C-2F4D-6AF8-998C7CE3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044555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5BE6634D-89D9-017C-A98A-89E5503D4F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3370928"/>
              </p:ext>
            </p:extLst>
          </p:nvPr>
        </p:nvGraphicFramePr>
        <p:xfrm>
          <a:off x="2032000" y="1044554"/>
          <a:ext cx="8128000" cy="5447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477CC54-07D6-1B9C-B9EF-9A1D6A617DB3}"/>
              </a:ext>
            </a:extLst>
          </p:cNvPr>
          <p:cNvSpPr txBox="1"/>
          <p:nvPr/>
        </p:nvSpPr>
        <p:spPr>
          <a:xfrm>
            <a:off x="1914014" y="1425678"/>
            <a:ext cx="875071" cy="378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1862" dirty="0">
                <a:solidFill>
                  <a:prstClr val="black">
                    <a:lumMod val="65000"/>
                    <a:lumOff val="3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Часы</a:t>
            </a:r>
          </a:p>
        </p:txBody>
      </p:sp>
    </p:spTree>
    <p:extLst>
      <p:ext uri="{BB962C8B-B14F-4D97-AF65-F5344CB8AC3E}">
        <p14:creationId xmlns:p14="http://schemas.microsoft.com/office/powerpoint/2010/main" val="18181911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5705</TotalTime>
  <Words>546</Words>
  <Application>Microsoft Office PowerPoint</Application>
  <PresentationFormat>Широкоэкранный</PresentationFormat>
  <Paragraphs>127</Paragraphs>
  <Slides>14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Тема Office</vt:lpstr>
      <vt:lpstr>Отчёт по практике на тему: База данных планово-финансового отдела.</vt:lpstr>
      <vt:lpstr>Анализ предметной области</vt:lpstr>
      <vt:lpstr>Презентация PowerPoint</vt:lpstr>
      <vt:lpstr>Сравнительная таблица аналогов</vt:lpstr>
      <vt:lpstr>Модель TO BE</vt:lpstr>
      <vt:lpstr>Цели и задачи </vt:lpstr>
      <vt:lpstr>Диаграмма вариантов использования</vt:lpstr>
      <vt:lpstr>Диаграмма вариантов использования</vt:lpstr>
      <vt:lpstr>Инфологическая модель данных </vt:lpstr>
      <vt:lpstr>Диаграмма классов</vt:lpstr>
      <vt:lpstr>Входные и выходные данные</vt:lpstr>
      <vt:lpstr>Прототипы интерфейсов</vt:lpstr>
      <vt:lpstr>Презентация PowerPoint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Sasha Shlapick</dc:creator>
  <cp:lastModifiedBy>Sasha Shlapick</cp:lastModifiedBy>
  <cp:revision>6</cp:revision>
  <dcterms:created xsi:type="dcterms:W3CDTF">2026-01-30T17:32:37Z</dcterms:created>
  <dcterms:modified xsi:type="dcterms:W3CDTF">2026-02-03T16:42:48Z</dcterms:modified>
</cp:coreProperties>
</file>