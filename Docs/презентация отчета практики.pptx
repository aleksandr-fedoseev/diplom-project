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73" r:id="rId4"/>
    <p:sldId id="265" r:id="rId5"/>
    <p:sldId id="274" r:id="rId6"/>
    <p:sldId id="278" r:id="rId7"/>
    <p:sldId id="264" r:id="rId8"/>
    <p:sldId id="267" r:id="rId9"/>
    <p:sldId id="275" r:id="rId10"/>
    <p:sldId id="276" r:id="rId11"/>
    <p:sldId id="279" r:id="rId12"/>
    <p:sldId id="27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5976" autoAdjust="0"/>
  </p:normalViewPr>
  <p:slideViewPr>
    <p:cSldViewPr snapToGrid="0">
      <p:cViewPr varScale="1">
        <p:scale>
          <a:sx n="70" d="100"/>
          <a:sy n="70" d="100"/>
        </p:scale>
        <p:origin x="116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2D0499-D14E-48BA-B98B-62E99783125D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0FE8C8-7DED-4110-893D-A3A6052E5F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8049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9BD45-8EE3-4845-A3C9-48E05C6F919D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79328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FE8C8-7DED-4110-893D-A3A6052E5FEA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7770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134EB-A719-481F-8CA7-CEB3B68B5481}" type="datetime1">
              <a:rPr lang="ru-RU" smtClean="0"/>
              <a:t>10.07.2026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5BCF2-7E61-4E30-B3BF-B73FAB6F54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9034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FF524-FCF4-4D99-8348-B9148DC7344F}" type="datetime1">
              <a:rPr lang="ru-RU" smtClean="0"/>
              <a:t>10.07.2026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5BCF2-7E61-4E30-B3BF-B73FAB6F54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6713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E12D-5E5F-4F6F-AAD0-E08A02476653}" type="datetime1">
              <a:rPr lang="ru-RU" smtClean="0"/>
              <a:t>10.07.2026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5BCF2-7E61-4E30-B3BF-B73FAB6F54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1741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3CE39-AF10-4E80-BD85-666937B30EBA}" type="datetime1">
              <a:rPr lang="ru-RU" smtClean="0"/>
              <a:t>10.07.2026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5BCF2-7E61-4E30-B3BF-B73FAB6F54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50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2850F-B339-40EE-A179-7E241D75BEB3}" type="datetime1">
              <a:rPr lang="ru-RU" smtClean="0"/>
              <a:t>10.07.2026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5BCF2-7E61-4E30-B3BF-B73FAB6F54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25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B4958-BAC7-448A-8F18-08BB15731015}" type="datetime1">
              <a:rPr lang="ru-RU" smtClean="0"/>
              <a:t>10.07.2026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5BCF2-7E61-4E30-B3BF-B73FAB6F54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1698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D1F83-8719-4861-89AF-87064AF10494}" type="datetime1">
              <a:rPr lang="ru-RU" smtClean="0"/>
              <a:t>10.07.2026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5BCF2-7E61-4E30-B3BF-B73FAB6F54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8314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2B2E4-3CC2-47C9-81F9-3A44C87996E4}" type="datetime1">
              <a:rPr lang="ru-RU" smtClean="0"/>
              <a:t>10.07.2026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5BCF2-7E61-4E30-B3BF-B73FAB6F54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9226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7809-78FE-467C-822A-6ADC3B94AA3F}" type="datetime1">
              <a:rPr lang="ru-RU" smtClean="0"/>
              <a:t>10.07.2026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5BCF2-7E61-4E30-B3BF-B73FAB6F54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8771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E9D4B-17C7-4673-82DF-7292B6FE54ED}" type="datetime1">
              <a:rPr lang="ru-RU" smtClean="0"/>
              <a:t>10.07.2026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5BCF2-7E61-4E30-B3BF-B73FAB6F54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8497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3D9F5-CC1B-42AC-80CA-DADFF8B56264}" type="datetime1">
              <a:rPr lang="ru-RU" smtClean="0"/>
              <a:t>10.07.2026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5BCF2-7E61-4E30-B3BF-B73FAB6F54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589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722F89-94B2-41AE-A801-0503CF1E4A5B}" type="datetime1">
              <a:rPr lang="ru-RU" smtClean="0"/>
              <a:t>10.07.2026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5BCF2-7E61-4E30-B3BF-B73FAB6F54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8647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4639236" y="1958025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Кафедра </a:t>
            </a:r>
            <a:r>
              <a:rPr lang="ru-RU" sz="1400" u="sng" dirty="0">
                <a:latin typeface="Times New Roman" panose="02020603050405020304" pitchFamily="18" charset="0"/>
                <a:ea typeface="Calibri" panose="020F0502020204030204" pitchFamily="34" charset="0"/>
              </a:rPr>
              <a:t>Автоматизированные системы обработки информации и управления</a:t>
            </a:r>
            <a:endParaRPr lang="ru-RU" sz="1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260309" y="2961689"/>
            <a:ext cx="9256295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ОТЧЕТ ПО ПРАКТИКЕ</a:t>
            </a:r>
          </a:p>
          <a:p>
            <a:pPr algn="ctr"/>
            <a:r>
              <a:rPr lang="ru-RU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 теме:</a:t>
            </a:r>
            <a:br>
              <a:rPr lang="ru-RU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интерактивной веб-платформы историко-культурного наследия Астраханской области</a:t>
            </a:r>
            <a:r>
              <a:rPr lang="ru-RU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6400800" y="4399355"/>
            <a:ext cx="4892842" cy="1328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обучающийся гр. ДИПРБ 31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/2</a:t>
            </a:r>
            <a:r>
              <a:rPr lang="ru-RU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Федосеев Александр Алексеевич</a:t>
            </a:r>
          </a:p>
          <a:p>
            <a:pPr lvl="0">
              <a:spcBef>
                <a:spcPts val="100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практики: к.т.н., доцент Евсина Елена Михайловна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8BBDD67-711A-4A6F-B647-8C64763B0CBD}"/>
              </a:ext>
            </a:extLst>
          </p:cNvPr>
          <p:cNvSpPr/>
          <p:nvPr/>
        </p:nvSpPr>
        <p:spPr>
          <a:xfrm>
            <a:off x="4920265" y="6228165"/>
            <a:ext cx="13398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Астрахань 2026 г.</a:t>
            </a:r>
            <a:endParaRPr lang="ru-RU" sz="1200" dirty="0"/>
          </a:p>
        </p:txBody>
      </p:sp>
      <p:pic>
        <p:nvPicPr>
          <p:cNvPr id="1026" name="Рисунок 1">
            <a:extLst>
              <a:ext uri="{FF2B5EF4-FFF2-40B4-BE49-F238E27FC236}">
                <a16:creationId xmlns:a16="http://schemas.microsoft.com/office/drawing/2014/main" id="{DE7E1DD2-4AC6-4E88-B498-C69DD7D7A772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245" y="297400"/>
            <a:ext cx="1313491" cy="1318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0321CAC-1BF1-4693-B6DB-41DA51572213}"/>
              </a:ext>
            </a:extLst>
          </p:cNvPr>
          <p:cNvSpPr/>
          <p:nvPr/>
        </p:nvSpPr>
        <p:spPr>
          <a:xfrm>
            <a:off x="2363637" y="297400"/>
            <a:ext cx="938553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агентство по рыболовству</a:t>
            </a:r>
          </a:p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</a:t>
            </a:r>
          </a:p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учреждение высшего образования</a:t>
            </a:r>
          </a:p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«Астраханский государственный технический университет»</a:t>
            </a:r>
          </a:p>
          <a:p>
            <a:pPr algn="ctr"/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менеджмента качества в области образования, воспитания, науки и инноваций сертифицирована</a:t>
            </a:r>
          </a:p>
          <a:p>
            <a:pPr algn="ctr"/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ООО «ДКС РУС» по ISO 9001 / ГОСТ Р ИСО 9001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5696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9C097F0-B594-4CBB-9552-3A0E19A02DA3}"/>
              </a:ext>
            </a:extLst>
          </p:cNvPr>
          <p:cNvSpPr/>
          <p:nvPr/>
        </p:nvSpPr>
        <p:spPr>
          <a:xfrm>
            <a:off x="2373999" y="159891"/>
            <a:ext cx="80914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</a:t>
            </a:r>
            <a:endParaRPr lang="ru-RU" sz="3600" dirty="0"/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1D27CDA8-4634-46C4-BA1B-9D640DBB2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1702" y="6379946"/>
            <a:ext cx="2743200" cy="365125"/>
          </a:xfrm>
        </p:spPr>
        <p:txBody>
          <a:bodyPr/>
          <a:lstStyle/>
          <a:p>
            <a:fld id="{0A75BCF2-7E61-4E30-B3BF-B73FAB6F5420}" type="slidenum">
              <a:rPr lang="ru-RU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269F6A-936F-F341-22AA-6995CD4FA381}"/>
              </a:ext>
            </a:extLst>
          </p:cNvPr>
          <p:cNvSpPr txBox="1"/>
          <p:nvPr/>
        </p:nvSpPr>
        <p:spPr>
          <a:xfrm>
            <a:off x="312148" y="1060801"/>
            <a:ext cx="1156770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АНО «Центр сохранения архитектуры»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это автономная некоммерческая организация, осуществляющая деятельность в области сохранения, изучения и популяризации объектов архитектурного и историко-культурного наследия Астраханской области.</a:t>
            </a:r>
          </a:p>
          <a:p>
            <a:pPr algn="just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направления деятельности: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выявление и документирование объектов культурного наследия;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и систематизация исторических материалов;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сохранение информации об утраченных объектах;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популяризация историко-культурного наследия региона;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содействие развитию внутреннего и культурно-познавательного туризма. </a:t>
            </a:r>
          </a:p>
          <a:p>
            <a:pPr algn="just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Миссия организации: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повышение доступности объектов историко-культурного наследия Астраханской области и сохранение исторической памяти региона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7413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756123" y="96437"/>
            <a:ext cx="10567503" cy="4657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ПРОЦЕССА «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IS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E50871C-7554-4014-89E3-EDE8D3D89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3770" y="6471582"/>
            <a:ext cx="2743200" cy="365125"/>
          </a:xfrm>
        </p:spPr>
        <p:txBody>
          <a:bodyPr/>
          <a:lstStyle/>
          <a:p>
            <a:fld id="{0A75BCF2-7E61-4E30-B3BF-B73FAB6F5420}" type="slidenum">
              <a:rPr lang="ru-RU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4FA47C9-4D7E-096B-6EB9-261FEACD4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30" y="499972"/>
            <a:ext cx="11727967" cy="597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501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0039" y="172529"/>
            <a:ext cx="10537214" cy="707468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СРАВНИТЕЛЬНАЯ ТАБЛИЦА АНАЛОГОВ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479600"/>
              </p:ext>
            </p:extLst>
          </p:nvPr>
        </p:nvGraphicFramePr>
        <p:xfrm>
          <a:off x="224288" y="949008"/>
          <a:ext cx="11395494" cy="542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3738">
                  <a:extLst>
                    <a:ext uri="{9D8B030D-6E8A-4147-A177-3AD203B41FA5}">
                      <a16:colId xmlns:a16="http://schemas.microsoft.com/office/drawing/2014/main" val="3201388423"/>
                    </a:ext>
                  </a:extLst>
                </a:gridCol>
                <a:gridCol w="2546246">
                  <a:extLst>
                    <a:ext uri="{9D8B030D-6E8A-4147-A177-3AD203B41FA5}">
                      <a16:colId xmlns:a16="http://schemas.microsoft.com/office/drawing/2014/main" val="23930508"/>
                    </a:ext>
                  </a:extLst>
                </a:gridCol>
                <a:gridCol w="2295796">
                  <a:extLst>
                    <a:ext uri="{9D8B030D-6E8A-4147-A177-3AD203B41FA5}">
                      <a16:colId xmlns:a16="http://schemas.microsoft.com/office/drawing/2014/main" val="2833222659"/>
                    </a:ext>
                  </a:extLst>
                </a:gridCol>
                <a:gridCol w="2389714">
                  <a:extLst>
                    <a:ext uri="{9D8B030D-6E8A-4147-A177-3AD203B41FA5}">
                      <a16:colId xmlns:a16="http://schemas.microsoft.com/office/drawing/2014/main" val="2947778584"/>
                    </a:ext>
                  </a:extLst>
                </a:gridCol>
              </a:tblGrid>
              <a:tr h="845732"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Критерий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PastVu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Яндекс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ru-RU" sz="20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Карты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2ГИС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ru-RU" sz="20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2367486147"/>
                  </a:ext>
                </a:extLst>
              </a:tr>
              <a:tr h="36767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Интерактивная 3D-реконструкция утраченных объектов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904251280"/>
                  </a:ext>
                </a:extLst>
              </a:tr>
              <a:tr h="367675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Просмотр исторической информации об объекте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/-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169939021"/>
                  </a:ext>
                </a:extLst>
              </a:tr>
              <a:tr h="367675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Просмотр исторических фотографий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501517234"/>
                  </a:ext>
                </a:extLst>
              </a:tr>
              <a:tr h="367675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Модерация пользовательского контента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+/-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625346655"/>
                  </a:ext>
                </a:extLst>
              </a:tr>
              <a:tr h="367675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Формирование тематических туристических маршрутов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+/-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+/-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943725281"/>
                  </a:ext>
                </a:extLst>
              </a:tr>
              <a:tr h="367675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Централизованное хранение исторических материалов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+/-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81032755"/>
                  </a:ext>
                </a:extLst>
              </a:tr>
              <a:tr h="36767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Аудиогид с автоматическим сопровождением маршрута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879028331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9D280D8-0260-49A8-A739-139645FAA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0713" y="6433897"/>
            <a:ext cx="2743200" cy="365125"/>
          </a:xfrm>
        </p:spPr>
        <p:txBody>
          <a:bodyPr/>
          <a:lstStyle/>
          <a:p>
            <a:fld id="{0A75BCF2-7E61-4E30-B3BF-B73FAB6F5420}" type="slidenum">
              <a:rPr lang="ru-RU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838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9177" y="161653"/>
            <a:ext cx="11455880" cy="1035829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ПРОЦЕССА «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C7F025D-0C6B-48B3-A893-026968BAE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6870" y="6331222"/>
            <a:ext cx="2743200" cy="365125"/>
          </a:xfrm>
        </p:spPr>
        <p:txBody>
          <a:bodyPr/>
          <a:lstStyle/>
          <a:p>
            <a:fld id="{0A75BCF2-7E61-4E30-B3BF-B73FAB6F5420}" type="slidenum">
              <a:rPr lang="ru-RU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B3641EAE-4031-2172-5AE9-D7F7B749A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63" y="1271124"/>
            <a:ext cx="11645907" cy="431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949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53E96E-40DB-82C9-6B08-897AE8172E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98438"/>
            <a:ext cx="12670971" cy="656771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и нефункциональные требования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4BBDC0-D457-3B92-440C-B576BD595006}"/>
              </a:ext>
            </a:extLst>
          </p:cNvPr>
          <p:cNvSpPr txBox="1"/>
          <p:nvPr/>
        </p:nvSpPr>
        <p:spPr>
          <a:xfrm>
            <a:off x="889940" y="1287587"/>
            <a:ext cx="485208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требования:</a:t>
            </a:r>
          </a:p>
          <a:p>
            <a:pPr lvl="0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Отображение объектов на интерактивной карте.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и фильтрация объектов.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информации и исторических материалов.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Построение туристических маршрутов.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объектов пользователями и их модерация.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Разграничение прав доступа пользователей.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AADB92-51EE-29C1-E843-02BEDA39B73E}"/>
              </a:ext>
            </a:extLst>
          </p:cNvPr>
          <p:cNvSpPr txBox="1"/>
          <p:nvPr/>
        </p:nvSpPr>
        <p:spPr>
          <a:xfrm>
            <a:off x="6232263" y="1407330"/>
            <a:ext cx="5502536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Нефункциональные требования: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производительность системы.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Интуитивно понятный пользовательский интерфейс.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Безопасное хранение данных.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Масштабируемость архитектуры.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 современных веб-браузеров.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интеграции с сервисами искусственного интеллекта.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9124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64978"/>
            <a:ext cx="10515600" cy="1325563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ПРАКТИКИ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199" y="1385615"/>
            <a:ext cx="11602528" cy="2696527"/>
          </a:xfrm>
        </p:spPr>
        <p:txBody>
          <a:bodyPr>
            <a:no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Целью практики является анализ предметной области и разработка концепции веб-платформы для централизованного представления объектов историко-культурного наследия Астраханской области, направленной на сокращение времени поиска и получения информации об объектах, а также создание основы для дальнейшей реализации построения туристических маршрутов и интерактивной визуализации объектов.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457199" y="3945706"/>
            <a:ext cx="10406743" cy="2382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практики:</a:t>
            </a:r>
          </a:p>
          <a:p>
            <a:pPr lvl="0"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Провести анализ предметной области и деятельности организации. </a:t>
            </a:r>
          </a:p>
          <a:p>
            <a:pPr lvl="0"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Выполнить анализ существующих аналогов и определить их преимущества и недостатки. </a:t>
            </a:r>
          </a:p>
          <a:p>
            <a:pPr lvl="0"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Исследовать существующие бизнес-процессы и построить модели AS-IS и TO-BE.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7CFBE9D-AC85-40FF-9F27-B119AC040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7172" y="6327897"/>
            <a:ext cx="2743200" cy="365125"/>
          </a:xfrm>
        </p:spPr>
        <p:txBody>
          <a:bodyPr/>
          <a:lstStyle/>
          <a:p>
            <a:fld id="{0A75BCF2-7E61-4E30-B3BF-B73FAB6F5420}" type="slidenum">
              <a:rPr lang="ru-RU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9009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9178" y="126402"/>
            <a:ext cx="11223445" cy="1085269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ВАРИАНТОВ ИСПОЛЬЗОВАНИЯ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A9F97B5-1332-4F17-B502-7EB20B7F8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8954" y="6364976"/>
            <a:ext cx="2743200" cy="365125"/>
          </a:xfrm>
        </p:spPr>
        <p:txBody>
          <a:bodyPr/>
          <a:lstStyle/>
          <a:p>
            <a:fld id="{0A75BCF2-7E61-4E30-B3BF-B73FAB6F5420}" type="slidenum">
              <a:rPr lang="ru-RU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2C27D0F-12EA-FEA5-00B2-FBD46846C8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5512" y="1013513"/>
            <a:ext cx="10010775" cy="553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228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DED769-58BA-BCAF-8CB5-B759B64A8F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943" y="345232"/>
            <a:ext cx="11930743" cy="794755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ВАРИАНТОВ ИСПОЛЬЗОВАНИЯ</a:t>
            </a:r>
            <a:endParaRPr lang="ru-RU" sz="36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1C359CE-6ABC-C599-BC05-AB426DF6AE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67544" y="1731314"/>
            <a:ext cx="9601200" cy="3829731"/>
          </a:xfrm>
          <a:prstGeom prst="rect">
            <a:avLst/>
          </a:prstGeom>
        </p:spPr>
      </p:pic>
      <p:sp>
        <p:nvSpPr>
          <p:cNvPr id="6" name="Номер слайда 13">
            <a:extLst>
              <a:ext uri="{FF2B5EF4-FFF2-40B4-BE49-F238E27FC236}">
                <a16:creationId xmlns:a16="http://schemas.microsoft.com/office/drawing/2014/main" id="{9D3515E5-5F74-8814-A4B8-E9D77F460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1702" y="6379946"/>
            <a:ext cx="2743200" cy="365125"/>
          </a:xfrm>
        </p:spPr>
        <p:txBody>
          <a:bodyPr/>
          <a:lstStyle/>
          <a:p>
            <a:fld id="{0A75BCF2-7E61-4E30-B3BF-B73FAB6F5420}" type="slidenum">
              <a:rPr lang="ru-RU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504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A263AF-9350-4B74-5E0B-D0FEF56709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4187"/>
            <a:ext cx="9144000" cy="820672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ИНФОЛОГИЧЕСКАЯ МОДЕЛЬ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4910F97-D04D-C945-0CF3-9E400825B0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4485" y="1099457"/>
            <a:ext cx="8119187" cy="5264020"/>
          </a:xfrm>
          <a:prstGeom prst="rect">
            <a:avLst/>
          </a:prstGeom>
        </p:spPr>
      </p:pic>
      <p:sp>
        <p:nvSpPr>
          <p:cNvPr id="6" name="Номер слайда 13">
            <a:extLst>
              <a:ext uri="{FF2B5EF4-FFF2-40B4-BE49-F238E27FC236}">
                <a16:creationId xmlns:a16="http://schemas.microsoft.com/office/drawing/2014/main" id="{D9365EB6-FCC2-EDD3-AF80-941D30918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1702" y="6379946"/>
            <a:ext cx="2743200" cy="365125"/>
          </a:xfrm>
        </p:spPr>
        <p:txBody>
          <a:bodyPr/>
          <a:lstStyle/>
          <a:p>
            <a:fld id="{0A75BCF2-7E61-4E30-B3BF-B73FAB6F5420}" type="slidenum">
              <a:rPr lang="ru-RU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383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D0D556-175A-5FB8-B7FB-3C07EE78F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915"/>
            <a:ext cx="9144000" cy="734106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развёртывания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3E2DA61-391E-20A8-C269-93E9EA9E43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1257" y="1361709"/>
            <a:ext cx="11506200" cy="5202376"/>
          </a:xfrm>
          <a:prstGeom prst="rect">
            <a:avLst/>
          </a:prstGeom>
        </p:spPr>
      </p:pic>
      <p:sp>
        <p:nvSpPr>
          <p:cNvPr id="6" name="Номер слайда 13">
            <a:extLst>
              <a:ext uri="{FF2B5EF4-FFF2-40B4-BE49-F238E27FC236}">
                <a16:creationId xmlns:a16="http://schemas.microsoft.com/office/drawing/2014/main" id="{65B30A48-E189-3B7C-BEB1-66B60535A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1702" y="6379946"/>
            <a:ext cx="2743200" cy="365125"/>
          </a:xfrm>
        </p:spPr>
        <p:txBody>
          <a:bodyPr/>
          <a:lstStyle/>
          <a:p>
            <a:fld id="{0A75BCF2-7E61-4E30-B3BF-B73FAB6F5420}" type="slidenum">
              <a:rPr lang="ru-RU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3404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2A4492-E9D5-FFB4-7D0E-D2C09ADF14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914"/>
            <a:ext cx="9144000" cy="897391"/>
          </a:xfrm>
        </p:spPr>
        <p:txBody>
          <a:bodyPr>
            <a:normAutofit fontScale="90000"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0E9E24C-39B3-5876-8FDC-A47C4B8C1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257" y="1317171"/>
            <a:ext cx="11103429" cy="4604658"/>
          </a:xfrm>
        </p:spPr>
        <p:txBody>
          <a:bodyPr>
            <a:normAutofit/>
          </a:bodyPr>
          <a:lstStyle/>
          <a:p>
            <a:pPr algn="just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практики был проведён анализ предметной области, изучена деятельность организации и рассмотрены существующие аналоги. Выполнено моделирование существующих и целевых бизнес-процессов, что позволило определить основные проблемы и направления совершенствования системы. На основе проведённого анализа сформированы требования к разрабатываемой веб-платформе и разработана её концепция. Полученные результаты будут использованы на следующих этапах проектирования и разработки системы.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EBC13F-75A9-CB22-D2A7-09995327C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6870" y="6331222"/>
            <a:ext cx="2743200" cy="365125"/>
          </a:xfrm>
        </p:spPr>
        <p:txBody>
          <a:bodyPr/>
          <a:lstStyle/>
          <a:p>
            <a:fld id="{0A75BCF2-7E61-4E30-B3BF-B73FAB6F5420}" type="slidenum">
              <a:rPr lang="ru-RU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70334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6733</TotalTime>
  <Words>511</Words>
  <Application>Microsoft Office PowerPoint</Application>
  <PresentationFormat>Широкоэкранный</PresentationFormat>
  <Paragraphs>96</Paragraphs>
  <Slides>12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СРАВНИТЕЛЬНАЯ ТАБЛИЦА АНАЛОГОВ</vt:lpstr>
      <vt:lpstr>МОДЕЛЬ ПРОЦЕССА «TO BE»</vt:lpstr>
      <vt:lpstr>Функциональные и нефункциональные требования</vt:lpstr>
      <vt:lpstr>ЦЕЛЬ И ЗАДАЧИ ПРАКТИКИ</vt:lpstr>
      <vt:lpstr>ДИАГРАММА ВАРИАНТОВ ИСПОЛЬЗОВАНИЯ</vt:lpstr>
      <vt:lpstr>ДИАГРАММА ВАРИАНТОВ ИСПОЛЬЗОВАНИЯ</vt:lpstr>
      <vt:lpstr>ИНФОЛОГИЧЕСКАЯ МОДЕЛЬ</vt:lpstr>
      <vt:lpstr>Диаграмма развёртывания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Максим Коломыцев</dc:creator>
  <cp:lastModifiedBy>Sasha Shlapick</cp:lastModifiedBy>
  <cp:revision>171</cp:revision>
  <dcterms:created xsi:type="dcterms:W3CDTF">2025-11-04T14:19:45Z</dcterms:created>
  <dcterms:modified xsi:type="dcterms:W3CDTF">2026-07-10T10:23:51Z</dcterms:modified>
</cp:coreProperties>
</file>