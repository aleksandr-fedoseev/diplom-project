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7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360" autoAdjust="0"/>
  </p:normalViewPr>
  <p:slideViewPr>
    <p:cSldViewPr snapToGrid="0">
      <p:cViewPr varScale="1">
        <p:scale>
          <a:sx n="62" d="100"/>
          <a:sy n="62" d="100"/>
        </p:scale>
        <p:origin x="14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600" b="0">
                <a:solidFill>
                  <a:srgbClr val="000000"/>
                </a:solidFill>
                <a:latin typeface="Times New Roman"/>
              </a:rPr>
              <a:t>Размещено в гостиницах и других средствах размещения, тыс. чел.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Размещено в КСР, тыс. чел.</c:v>
                </c:pt>
              </c:strCache>
            </c:strRef>
          </c:tx>
          <c:spPr>
            <a:solidFill>
              <a:srgbClr val="595959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>
                    <a:solidFill>
                      <a:srgbClr val="000000"/>
                    </a:solidFill>
                    <a:latin typeface="Times New Roman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261.10000000000002</c:v>
                </c:pt>
                <c:pt idx="1">
                  <c:v>201.2</c:v>
                </c:pt>
                <c:pt idx="2">
                  <c:v>308.7</c:v>
                </c:pt>
                <c:pt idx="3">
                  <c:v>318.3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6DB-41A2-8D8E-9CD0C315E0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D0499-D14E-48BA-B98B-62E99783125D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FE8C8-7DED-4110-893D-A3A6052E5F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4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Уважаемые</a:t>
            </a:r>
            <a:r>
              <a:rPr dirty="0"/>
              <a:t> </a:t>
            </a:r>
            <a:r>
              <a:rPr dirty="0" err="1"/>
              <a:t>комиссии</a:t>
            </a:r>
            <a:r>
              <a:rPr dirty="0"/>
              <a:t>!</a:t>
            </a:r>
          </a:p>
          <a:p>
            <a:endParaRPr dirty="0"/>
          </a:p>
          <a:p>
            <a:r>
              <a:rPr dirty="0" err="1"/>
              <a:t>Вашему</a:t>
            </a:r>
            <a:r>
              <a:rPr dirty="0"/>
              <a:t> </a:t>
            </a:r>
            <a:r>
              <a:rPr dirty="0" err="1"/>
              <a:t>вниманию</a:t>
            </a:r>
            <a:r>
              <a:rPr dirty="0"/>
              <a:t> </a:t>
            </a:r>
            <a:r>
              <a:rPr dirty="0" err="1"/>
              <a:t>представляется</a:t>
            </a:r>
            <a:r>
              <a:rPr dirty="0"/>
              <a:t> </a:t>
            </a:r>
            <a:r>
              <a:rPr dirty="0" err="1"/>
              <a:t>выпускная</a:t>
            </a:r>
            <a:r>
              <a:rPr dirty="0"/>
              <a:t> </a:t>
            </a:r>
            <a:r>
              <a:rPr dirty="0" err="1"/>
              <a:t>квалификационная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тему</a:t>
            </a:r>
            <a:r>
              <a:rPr dirty="0"/>
              <a:t> «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интерактивной</a:t>
            </a:r>
            <a:r>
              <a:rPr dirty="0"/>
              <a:t> </a:t>
            </a:r>
            <a:r>
              <a:rPr dirty="0" err="1"/>
              <a:t>веб-платформы</a:t>
            </a:r>
            <a:r>
              <a:rPr dirty="0"/>
              <a:t> </a:t>
            </a:r>
            <a:r>
              <a:rPr dirty="0" err="1"/>
              <a:t>историко-культурного</a:t>
            </a:r>
            <a:r>
              <a:rPr dirty="0"/>
              <a:t> </a:t>
            </a:r>
            <a:r>
              <a:rPr dirty="0" err="1"/>
              <a:t>наследия</a:t>
            </a:r>
            <a:r>
              <a:rPr dirty="0"/>
              <a:t> </a:t>
            </a:r>
            <a:r>
              <a:rPr dirty="0" err="1"/>
              <a:t>Астраханской</a:t>
            </a:r>
            <a:r>
              <a:rPr dirty="0"/>
              <a:t> </a:t>
            </a:r>
            <a:r>
              <a:rPr dirty="0" err="1"/>
              <a:t>области</a:t>
            </a:r>
            <a:r>
              <a:rPr dirty="0"/>
              <a:t>».</a:t>
            </a:r>
          </a:p>
          <a:p>
            <a:endParaRPr dirty="0"/>
          </a:p>
          <a:p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выполнил</a:t>
            </a:r>
            <a:r>
              <a:rPr dirty="0"/>
              <a:t> </a:t>
            </a:r>
            <a:r>
              <a:rPr dirty="0" err="1"/>
              <a:t>обучающийся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ДИПРБ-41 </a:t>
            </a:r>
            <a:r>
              <a:rPr dirty="0" err="1"/>
              <a:t>Федосеев</a:t>
            </a:r>
            <a:r>
              <a:rPr dirty="0"/>
              <a:t> Александр </a:t>
            </a:r>
            <a:r>
              <a:rPr dirty="0" err="1"/>
              <a:t>Алексеевич</a:t>
            </a:r>
            <a:r>
              <a:rPr dirty="0"/>
              <a:t>. </a:t>
            </a:r>
            <a:r>
              <a:rPr dirty="0" err="1"/>
              <a:t>Руководитель</a:t>
            </a:r>
            <a:r>
              <a:rPr dirty="0"/>
              <a:t> — </a:t>
            </a:r>
            <a:r>
              <a:rPr dirty="0" err="1"/>
              <a:t>кандидат</a:t>
            </a:r>
            <a:r>
              <a:rPr dirty="0"/>
              <a:t> </a:t>
            </a:r>
            <a:r>
              <a:rPr dirty="0" err="1"/>
              <a:t>технических</a:t>
            </a:r>
            <a:r>
              <a:rPr dirty="0"/>
              <a:t> </a:t>
            </a:r>
            <a:r>
              <a:rPr dirty="0" err="1"/>
              <a:t>наук</a:t>
            </a:r>
            <a:r>
              <a:rPr dirty="0"/>
              <a:t>, </a:t>
            </a:r>
            <a:r>
              <a:rPr dirty="0" err="1"/>
              <a:t>доцент</a:t>
            </a:r>
            <a:r>
              <a:rPr dirty="0"/>
              <a:t> </a:t>
            </a:r>
            <a:r>
              <a:rPr dirty="0" err="1"/>
              <a:t>Кузнецова</a:t>
            </a:r>
            <a:r>
              <a:rPr dirty="0"/>
              <a:t> В. 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9BD45-8EE3-4845-A3C9-48E05C6F919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932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Предметная область работы — сведения об объектах историко-культурного наследия Астраханской области: как о сохранившихся зданиях и памятниках, так и об утраченных, о которых остались только архивные снимки, документы и воспоминания жителей.</a:t>
            </a:r>
          </a:p>
          <a:p/>
          <a:p>
            <a:r>
              <a:t>Сведения об одном и том же объекте сейчас находятся в разных местах. Историческое описание — в статьях, книгах и публикациях в интернете, архивные фотографии — в архивах и музеях, местоположение — на онлайн-картах, где утраченных зданий нет. А посмотреть объект в панорамном виде, в окружении застройки, нельзя — только прийти на место; утраченный объект так не увидеть вообще.</a:t>
            </a:r>
          </a:p>
          <a:p/>
          <a:p>
            <a:r>
              <a:t>Отсюда ключевая проблема: сведения разрознены, и нет возможности посмотреть объект, в том числе утраченный, в панорамном виде. Поэтому тема работы актуальна.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Заказчиком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выступает</a:t>
            </a:r>
            <a:r>
              <a:rPr dirty="0"/>
              <a:t> АНО «</a:t>
            </a:r>
            <a:r>
              <a:rPr dirty="0" err="1"/>
              <a:t>Центр</a:t>
            </a:r>
            <a:r>
              <a:rPr dirty="0"/>
              <a:t> </a:t>
            </a:r>
            <a:r>
              <a:rPr dirty="0" err="1"/>
              <a:t>сохранения</a:t>
            </a:r>
            <a:r>
              <a:rPr dirty="0"/>
              <a:t> </a:t>
            </a:r>
            <a:r>
              <a:rPr dirty="0" err="1"/>
              <a:t>архитектуры</a:t>
            </a:r>
            <a:r>
              <a:rPr dirty="0"/>
              <a:t>». </a:t>
            </a:r>
            <a:r>
              <a:rPr dirty="0" err="1"/>
              <a:t>Организация</a:t>
            </a:r>
            <a:r>
              <a:rPr dirty="0"/>
              <a:t> </a:t>
            </a:r>
            <a:r>
              <a:rPr dirty="0" err="1"/>
              <a:t>выявляет</a:t>
            </a:r>
            <a:r>
              <a:rPr dirty="0"/>
              <a:t> и </a:t>
            </a:r>
            <a:r>
              <a:rPr dirty="0" err="1"/>
              <a:t>документирует</a:t>
            </a:r>
            <a:r>
              <a:rPr dirty="0"/>
              <a:t> </a:t>
            </a:r>
            <a:r>
              <a:rPr dirty="0" err="1"/>
              <a:t>объекты</a:t>
            </a:r>
            <a:r>
              <a:rPr dirty="0"/>
              <a:t> </a:t>
            </a:r>
            <a:r>
              <a:rPr dirty="0" err="1"/>
              <a:t>наследия</a:t>
            </a:r>
            <a:r>
              <a:rPr dirty="0"/>
              <a:t> </a:t>
            </a:r>
            <a:r>
              <a:rPr dirty="0" err="1"/>
              <a:t>региона</a:t>
            </a:r>
            <a:r>
              <a:rPr dirty="0"/>
              <a:t>, </a:t>
            </a:r>
            <a:r>
              <a:rPr dirty="0" err="1"/>
              <a:t>собирает</a:t>
            </a:r>
            <a:r>
              <a:rPr dirty="0"/>
              <a:t> </a:t>
            </a:r>
            <a:r>
              <a:rPr dirty="0" err="1"/>
              <a:t>исторические</a:t>
            </a:r>
            <a:r>
              <a:rPr dirty="0"/>
              <a:t> </a:t>
            </a:r>
            <a:r>
              <a:rPr dirty="0" err="1"/>
              <a:t>материалы</a:t>
            </a:r>
            <a:r>
              <a:rPr dirty="0"/>
              <a:t>, в </a:t>
            </a:r>
            <a:r>
              <a:rPr dirty="0" err="1"/>
              <a:t>том</a:t>
            </a:r>
            <a:r>
              <a:rPr dirty="0"/>
              <a:t> </a:t>
            </a:r>
            <a:r>
              <a:rPr dirty="0" err="1"/>
              <a:t>числе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утраченных</a:t>
            </a:r>
            <a:r>
              <a:rPr dirty="0"/>
              <a:t> </a:t>
            </a:r>
            <a:r>
              <a:rPr dirty="0" err="1"/>
              <a:t>зданиях</a:t>
            </a:r>
            <a:r>
              <a:rPr dirty="0"/>
              <a:t>, и </a:t>
            </a:r>
            <a:r>
              <a:rPr dirty="0" err="1"/>
              <a:t>рассказывает</a:t>
            </a:r>
            <a:r>
              <a:rPr dirty="0"/>
              <a:t> о </a:t>
            </a:r>
            <a:r>
              <a:rPr dirty="0" err="1"/>
              <a:t>них</a:t>
            </a:r>
            <a:r>
              <a:rPr dirty="0"/>
              <a:t> </a:t>
            </a:r>
            <a:r>
              <a:rPr dirty="0" err="1"/>
              <a:t>жителям</a:t>
            </a:r>
            <a:r>
              <a:rPr dirty="0"/>
              <a:t> и </a:t>
            </a:r>
            <a:r>
              <a:rPr dirty="0" err="1"/>
              <a:t>туристам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Платформа</a:t>
            </a:r>
            <a:r>
              <a:rPr dirty="0"/>
              <a:t> </a:t>
            </a:r>
            <a:r>
              <a:rPr dirty="0" err="1"/>
              <a:t>разрабатывается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материалы</a:t>
            </a:r>
            <a:r>
              <a:rPr dirty="0"/>
              <a:t>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доступны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месте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Так турист знакомится с объектом сейчас. Он либо ищет сведения сам, либо идёт на экскурсию.</a:t>
            </a:r>
          </a:p>
          <a:p>
            <a:endParaRPr/>
          </a:p>
          <a:p>
            <a:r>
              <a:t>При самостоятельном поиске историю и старые фотографии он ищет в поисковиках и на PastVu, а местоположение — на картах, то есть в разных сервисах.</a:t>
            </a:r>
          </a:p>
          <a:p>
            <a:endParaRPr/>
          </a:p>
          <a:p>
            <a:r>
              <a:t>Если здания уже нет, на карте его не найти, и место приходится определять вручную по старому адресу.</a:t>
            </a:r>
          </a:p>
          <a:p>
            <a:endParaRPr/>
          </a:p>
          <a:p>
            <a:r>
              <a:t>Готовых тематических маршрутов для самостоятельной прогулки нет: их предлагают только экскурсионные бюро — платно и по расписанию. Сам турист составляет маршрут вручную: выбирает объекты и порядок обхода.</a:t>
            </a:r>
          </a:p>
          <a:p>
            <a:endParaRPr/>
          </a:p>
          <a:p>
            <a:r>
              <a:t>[Переход — диаграмма сдвигается вправо]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После посещения турист может поделиться тем, что узнал об объекте, но разместить это он может только в соцсетях или блоге.</a:t>
            </a:r>
          </a:p>
          <a:p>
            <a:endParaRPr/>
          </a:p>
          <a:p>
            <a:r>
              <a:t>В этом и состоит четвёртая проблема — достоверность. Сведения об объектах в интернете часто ничем не подтверждены: источник не указан, разные сайты пишут по-разному, и турист не может понять, каким из них верить. А знания жителей и краеведов так и не попадают в проверенный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итоге выявлено пять проблем: источники сведений разрознены; утраченных объектов нет на картах; нет готовых маршрутов для самостоятельного осмотра; сведения в интернете часто ничем не подтверждены и противоречат друг другу, и турист не знает, чему верить; наконец, у утраченных объектов нет панорамного вида — сохранившееся здание можно хотя бы увидеть на месте, а утраченное остаётся только на отдельных архивных снимках.</a:t>
            </a:r>
          </a:p>
          <a:p/>
          <a:p>
            <a:r>
              <a:t>Общий итог — нет единой точки доступа к достоверной информации о наследии региона.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 платформой процесс выглядит так. Турист открывает платформу и выбирает, как знакомиться с объектами: взять готовый тематический маршрут или выбрать объекты на карте с помощью поиска и фильтров.</a:t>
            </a:r>
          </a:p>
          <a:p>
            <a:endParaRPr/>
          </a:p>
          <a:p>
            <a:r>
              <a:t>Платформа показывает объекты на интерактивной карте, включая утраченные, строит маршрут и формирует карточки объектов.</a:t>
            </a:r>
          </a:p>
          <a:p>
            <a:endParaRPr/>
          </a:p>
          <a:p>
            <a:r>
              <a:t>В карточке турист изучает историю объекта, архивные фотографии и 3D-модель, а затем проходит маршрут с аудиогидом.</a:t>
            </a:r>
          </a:p>
          <a:p>
            <a:endParaRPr/>
          </a:p>
          <a:p>
            <a:r>
              <a:t>[Переход — диаграмма сдвигается вправо]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Если турист хочет поделиться сведениями об объекте, он заполняет заявку: место, дату, источник и фотографии. Платформа регистрирует её со статусом «На модерации».</a:t>
            </a:r>
          </a:p>
          <a:p>
            <a:endParaRPr/>
          </a:p>
          <a:p>
            <a:r>
              <a:t>Модератор — эксперт АНО — проверяет достоверность, источник и дубликаты. При одобрении объект публикуется на карте и попадает в единый реестр, при отказе модератор указывает причину. В обоих случаях автор получает уведомление о решении.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Платформа сравнивалась с PastVu, Яндекс.Картами и 2ГИС.</a:t>
            </a:r>
          </a:p>
          <a:p>
            <a:endParaRPr/>
          </a:p>
          <a:p>
            <a:r>
              <a:t>Ни один из аналогов не показывает 3D-реконструкцию утраченных объектов, и ни один не даёт аудиогид с сопровождением по маршруту. PastVu хранит старые фотографии, а карты строят маршруты, но не по объектам наследия и без проверки сведений.</a:t>
            </a:r>
          </a:p>
          <a:p>
            <a:endParaRPr/>
          </a:p>
          <a:p>
            <a:r>
              <a:t>Разрабатываемая платформа объединяет все эти возможности.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Цель работы — сделать сведения об объектах наследия, в том числе утраченных, доступнее и достовернее и сократить время на их поиск. Средством для этого служит интерактивная веб-платформа.</a:t>
            </a:r>
          </a:p>
          <a:p>
            <a:endParaRPr/>
          </a:p>
          <a:p>
            <a:r>
              <a:t>Для достижения цели решаются шесть задач, они перечислены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системе четыре роли.</a:t>
            </a:r>
          </a:p>
          <a:p>
            <a:endParaRPr/>
          </a:p>
          <a:p>
            <a:r>
              <a:t>Гость без регистрации смотрит карту, ищет объекты, открывает карточки, выбирает или строит маршрут и просматривает каталог магазина.</a:t>
            </a:r>
          </a:p>
          <a:p>
            <a:endParaRPr/>
          </a:p>
          <a:p>
            <a:r>
              <a:t>Зарегистрированный пользователь, кроме этого, подаёт заявки на новые объекты, дополняет существующие, сохраняет маршруты и оформляет заказы в магазине.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Модератор проверяет заявки: одобряет или отклоняет их с указанием причины, автор в обоих случаях получает уведомление. Модератор также редактирует объекты и может заблокировать нарушителя.</a:t>
            </a:r>
          </a:p>
          <a:p>
            <a:endParaRPr/>
          </a:p>
          <a:p>
            <a:r>
              <a:t>Администратор управляет пользователями и ролями, категориями объектов, тематическими маршрутами с аудиогидом и товарами магазина.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ходе работы проанализирована предметная область и деятельность заказчика, построена модель текущего процесса и выявлены пять проблем.</a:t>
            </a:r>
          </a:p>
          <a:p/>
          <a:p>
            <a:r>
              <a:t>На их основе разработана модель процесса с использованием веб-платформы, проведено сравнение с аналогами, сформулированы цель и задачи и построена диаграмма вариантов использования для четырёх ролей.</a:t>
            </a:r>
          </a:p>
          <a:p/>
          <a:p>
            <a:r>
              <a:t>Дальше предстоит спроектировать модель данных и архитектуру, реализовать и протестировать платформу.</a:t>
            </a:r>
          </a:p>
          <a:p/>
          <a:p>
            <a:r>
              <a:t>Спасибо за внимание! Готов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этой схеме показано, какие данные хранит система.</a:t>
            </a:r>
          </a:p>
          <a:p>
            <a:endParaRPr/>
          </a:p>
          <a:p>
            <a:r>
              <a:t>Центральная сущность — объект наследия: описание, год постройки, исторический адрес, координаты и состояние сохранности. К объекту относятся медиафайлы — фотографии, 3D-модели и аудио. Через заявки и решения модерации фиксируется, кто и когда добавил сведения и кто их проверил.</a:t>
            </a:r>
          </a:p>
          <a:p>
            <a:endParaRPr/>
          </a:p>
          <a:p>
            <a:r>
              <a:t>[Переход — схема сдвигается вниз]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Маршрут состоит из точек, и каждая точка ссылается на объект наследия.</a:t>
            </a:r>
          </a:p>
          <a:p>
            <a:endParaRPr/>
          </a:p>
          <a:p>
            <a:r>
              <a:t>Отдельная часть данных относится к магазину: товары, корзина, заказы и позиции заказов.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Эта схема показывает, где работает система. Пользователю ничего устанавливать не нужно — платформа открывается в браузере, а подложка карты загружается из OpenStreetMap.</a:t>
            </a:r>
          </a:p>
          <a:p/>
          <a:p>
            <a:r>
              <a:t>На сервере все запросы принимает nginx: страницы отдаёт фронтенд на Next.js, запросы к данным передаются серверному приложению, а запросы на построение пешеходного маршрута — сервису OSRM.</a:t>
            </a:r>
          </a:p>
          <a:p/>
          <a:p>
            <a:r>
              <a:t>[Переход — схема сдвигается вниз]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Серверная часть — это одно приложение на Go, разделённое на модули: авторизация, каталог и маршруты, заявки и модерация, медиафайлы, магазин и уведомления. Для платформы такого масштаба монолит проще в разработке и сопровождении, чем набор отдельных сервисов.</a:t>
            </a:r>
          </a:p>
          <a:p/>
          <a:p>
            <a:r>
              <a:t>Данные хранятся в PostgreSQL с расширением PostGIS для поиска по карте, файлы — в хранилище MinIO. Готовые тематические маршруты приложение заранее строит через OSRM и сохраняет в базе. Письма отправляются через почтовый сервер, оплата заказов проходит через ЮKassa.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134EB-A719-481F-8CA7-CEB3B68B5481}" type="datetime1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03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FF524-FCF4-4D99-8348-B9148DC7344F}" type="datetime1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71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E12D-5E5F-4F6F-AAD0-E08A02476653}" type="datetime1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74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3CE39-AF10-4E80-BD85-666937B30EBA}" type="datetime1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2850F-B339-40EE-A179-7E241D75BEB3}" type="datetime1">
              <a:rPr lang="ru-RU" smtClean="0"/>
              <a:t>08.10.2026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2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4958-BAC7-448A-8F18-08BB15731015}" type="datetime1">
              <a:rPr lang="ru-RU" smtClean="0"/>
              <a:t>08.10.2026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69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1F83-8719-4861-89AF-87064AF10494}" type="datetime1">
              <a:rPr lang="ru-RU" smtClean="0"/>
              <a:t>08.10.2026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31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2B2E4-3CC2-47C9-81F9-3A44C87996E4}" type="datetime1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26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7809-78FE-467C-822A-6ADC3B94AA3F}" type="datetime1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77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9D4B-17C7-4673-82DF-7292B6FE54ED}" type="datetime1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49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3D9F5-CC1B-42AC-80CA-DADFF8B56264}" type="datetime1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898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22F89-94B2-41AE-A801-0503CF1E4A5B}" type="datetime1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5BCF2-7E61-4E30-B3BF-B73FAB6F5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64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4639236" y="195802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Кафедра </a:t>
            </a:r>
            <a:r>
              <a:rPr lang="ru-RU" sz="1400" u="sng" dirty="0">
                <a:latin typeface="Times New Roman" panose="02020603050405020304" pitchFamily="18" charset="0"/>
                <a:ea typeface="Calibri" panose="020F0502020204030204" pitchFamily="34" charset="0"/>
              </a:rPr>
              <a:t>Автоматизированные системы обработки информации и управления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260309" y="2961689"/>
            <a:ext cx="925629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</a:p>
          <a:p>
            <a:pPr algn="ctr"/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теме:</a:t>
            </a:r>
            <a:b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400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интерактивной веб-платформы историко-культурного наследия Астраханской области</a:t>
            </a: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096000" y="4399355"/>
            <a:ext cx="5197642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обучающийся гр. ДИПРБ 41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Федосеев Александр Алексеевич</a:t>
            </a:r>
          </a:p>
          <a:p>
            <a:pPr lvl="0">
              <a:spcBef>
                <a:spcPts val="1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ВКР: к.т.н., доцент Кузнецова В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BBDD67-711A-4A6F-B647-8C64763B0CBD}"/>
              </a:ext>
            </a:extLst>
          </p:cNvPr>
          <p:cNvSpPr/>
          <p:nvPr/>
        </p:nvSpPr>
        <p:spPr>
          <a:xfrm>
            <a:off x="4920265" y="6228165"/>
            <a:ext cx="13398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 2026 г.</a:t>
            </a:r>
            <a:endParaRPr lang="ru-RU" sz="1200" dirty="0"/>
          </a:p>
        </p:txBody>
      </p:sp>
      <p:pic>
        <p:nvPicPr>
          <p:cNvPr id="1026" name="Рисунок 1">
            <a:extLst>
              <a:ext uri="{FF2B5EF4-FFF2-40B4-BE49-F238E27FC236}">
                <a16:creationId xmlns:a16="http://schemas.microsoft.com/office/drawing/2014/main" id="{DE7E1DD2-4AC6-4E88-B498-C69DD7D7A77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5" y="297400"/>
            <a:ext cx="1313491" cy="1318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321CAC-1BF1-4693-B6DB-41DA51572213}"/>
              </a:ext>
            </a:extLst>
          </p:cNvPr>
          <p:cNvSpPr/>
          <p:nvPr/>
        </p:nvSpPr>
        <p:spPr>
          <a:xfrm>
            <a:off x="2363637" y="297400"/>
            <a:ext cx="93855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агентство по рыболовству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высшего образования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«Астраханский государственный технический университет»</a:t>
            </a:r>
          </a:p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менеджмента качества в области образования, воспитания, науки и инноваций сертифицирована</a:t>
            </a:r>
          </a:p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ООО «ДКС РУС» по ISO 9001 / ГОСТ Р ИСО 9001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69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АНАЛИЗ ПРЕДМЕТНОЙ ОБЛАСТИ</a:t>
            </a:r>
          </a:p>
        </p:txBody>
      </p:sp>
      <p:sp>
        <p:nvSpPr>
          <p:cNvPr id="115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an_intro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>
                <a:solidFill>
                  <a:srgbClr val="000000"/>
                </a:solidFill>
                <a:latin typeface="Times New Roman"/>
              </a:rPr>
              <a:t>Объект исследования — сведения об объектах историко-культурного наследия Астраханской области: сохранившихся зданиях и памятниках, а также утраченных, о которых остались архивные снимки, документы и воспоминания жителей.</a:t>
            </a:r>
          </a:p>
        </p:txBody>
      </p:sp>
      <p:sp>
        <p:nvSpPr>
          <p:cNvPr id="117" name="!!an_h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Times New Roman"/>
              </a:rPr>
              <a:t>Сведения об одном объекте сейчас находятся в разных местах</a:t>
            </a:r>
          </a:p>
        </p:txBody>
      </p:sp>
      <p:cxnSp>
        <p:nvCxnSpPr>
          <p:cNvPr id="118" name="!!an_ln0"/>
          <p:cNvCxnSpPr/>
          <p:nvPr/>
        </p:nvCxnSpPr>
        <p:spPr>
          <a:xfrm flipH="1" flipV="1">
            <a:off x="3566160" y="2889504"/>
            <a:ext cx="1344168" cy="512064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!!an_sat0"/>
          <p:cNvSpPr/>
          <p:nvPr/>
        </p:nvSpPr>
        <p:spPr>
          <a:xfrm>
            <a:off x="548640" y="2377440"/>
            <a:ext cx="30175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F3864"/>
                </a:solidFill>
                <a:latin typeface="Times New Roman"/>
              </a:rPr>
              <a:t>Историческое описание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статьи, книги, публикации в интернете</a:t>
            </a:r>
          </a:p>
        </p:txBody>
      </p:sp>
      <p:cxnSp>
        <p:nvCxnSpPr>
          <p:cNvPr id="120" name="!!an_ln1"/>
          <p:cNvCxnSpPr/>
          <p:nvPr/>
        </p:nvCxnSpPr>
        <p:spPr>
          <a:xfrm flipH="1">
            <a:off x="3566160" y="3401568"/>
            <a:ext cx="1344168" cy="768096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!!an_sat1"/>
          <p:cNvSpPr/>
          <p:nvPr/>
        </p:nvSpPr>
        <p:spPr>
          <a:xfrm>
            <a:off x="548640" y="3657600"/>
            <a:ext cx="30175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F3864"/>
                </a:solidFill>
                <a:latin typeface="Times New Roman"/>
              </a:rPr>
              <a:t>Архивные фотографии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архивы, музеи, фотоархивы</a:t>
            </a:r>
          </a:p>
        </p:txBody>
      </p:sp>
      <p:cxnSp>
        <p:nvCxnSpPr>
          <p:cNvPr id="122" name="!!an_ln2"/>
          <p:cNvCxnSpPr/>
          <p:nvPr/>
        </p:nvCxnSpPr>
        <p:spPr>
          <a:xfrm flipV="1">
            <a:off x="7287768" y="2889504"/>
            <a:ext cx="1335024" cy="512064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!!an_sat2"/>
          <p:cNvSpPr/>
          <p:nvPr/>
        </p:nvSpPr>
        <p:spPr>
          <a:xfrm>
            <a:off x="8622792" y="2377440"/>
            <a:ext cx="30175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F3864"/>
                </a:solidFill>
                <a:latin typeface="Times New Roman"/>
              </a:rPr>
              <a:t>Местоположение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онлайн-карты — утраченных зданий на них нет</a:t>
            </a:r>
          </a:p>
        </p:txBody>
      </p:sp>
      <p:cxnSp>
        <p:nvCxnSpPr>
          <p:cNvPr id="124" name="!!an_ln3"/>
          <p:cNvCxnSpPr/>
          <p:nvPr/>
        </p:nvCxnSpPr>
        <p:spPr>
          <a:xfrm>
            <a:off x="7287768" y="3401568"/>
            <a:ext cx="1335024" cy="768096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!!an_sat3"/>
          <p:cNvSpPr/>
          <p:nvPr/>
        </p:nvSpPr>
        <p:spPr>
          <a:xfrm>
            <a:off x="8622792" y="3657600"/>
            <a:ext cx="30175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F3864"/>
                </a:solidFill>
                <a:latin typeface="Times New Roman"/>
              </a:rPr>
              <a:t>Панорамный вид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посмотреть объект в панорамном виде можно только на месте, утраченный — никак</a:t>
            </a:r>
          </a:p>
        </p:txBody>
      </p:sp>
      <p:sp>
        <p:nvSpPr>
          <p:cNvPr id="126" name="!!an_center"/>
          <p:cNvSpPr/>
          <p:nvPr/>
        </p:nvSpPr>
        <p:spPr>
          <a:xfrm>
            <a:off x="4910328" y="2944368"/>
            <a:ext cx="2377440" cy="9144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Объект наследия</a:t>
            </a:r>
          </a:p>
        </p:txBody>
      </p:sp>
      <p:sp>
        <p:nvSpPr>
          <p:cNvPr id="127" name="!!an_key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/>
              </a:rPr>
              <a:t>Ключевая проблема: </a:t>
            </a:r>
            <a:r>
              <a:rPr sz="1900" b="0">
                <a:solidFill>
                  <a:srgbClr val="FFFFFF"/>
                </a:solidFill>
                <a:latin typeface="Times New Roman"/>
              </a:rPr>
              <a:t>сведения об объектах разрознены, и нет возможности посмотреть объект — в том числе утраченный — в панорамном виде.</a:t>
            </a:r>
          </a:p>
        </p:txBody>
      </p:sp>
      <p:sp>
        <p:nvSpPr>
          <p:cNvPr id="94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9C097F0-B594-4CBB-9552-3A0E19A02DA3}"/>
              </a:ext>
            </a:extLst>
          </p:cNvPr>
          <p:cNvSpPr/>
          <p:nvPr/>
        </p:nvSpPr>
        <p:spPr>
          <a:xfrm>
            <a:off x="2373999" y="159891"/>
            <a:ext cx="80914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ЗАКАЗЧИК</a:t>
            </a:r>
            <a:endParaRPr lang="ru-RU" sz="3600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1D27CDA8-4634-46C4-BA1B-9D640DBB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880" y="6355080"/>
            <a:ext cx="822960" cy="457200"/>
          </a:xfrm>
        </p:spPr>
        <p:txBody>
          <a:bodyPr anchor="b"/>
          <a:lstStyle/>
          <a:p>
            <a:pPr algn="r"/>
            <a:fld id="{0A75BCF2-7E61-4E30-B3BF-B73FAB6F5420}" type="slidenum">
              <a:rPr lang="ru-RU" sz="2000" b="0" smtClean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269F6A-936F-F341-22AA-6995CD4FA381}"/>
              </a:ext>
            </a:extLst>
          </p:cNvPr>
          <p:cNvSpPr txBox="1"/>
          <p:nvPr/>
        </p:nvSpPr>
        <p:spPr>
          <a:xfrm>
            <a:off x="312148" y="1060801"/>
            <a:ext cx="115677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АНО «Центр сохранения архитектуры»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это автономная некоммерческая организация, осуществляющая деятельность в области сохранения, изучения и популяризации объектов архитектурного и историко-культурного наследия Астраханской области.</a:t>
            </a:r>
          </a:p>
          <a:p>
            <a:pPr algn="just"/>
            <a:r>
              <a:rPr lang="ru-RU" sz="24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направления деятельности: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и документирование объектов культурного наследия;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систематизация исторических материалов;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информации об утраченных объектах;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популяризация историко-культурного наследия региона;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содействие развитию внутреннего и культурно-познавательного туризма. </a:t>
            </a:r>
          </a:p>
          <a:p>
            <a:pPr algn="just"/>
            <a:r>
              <a:rPr lang="ru-RU" sz="24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Миссия организации: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повышение доступности объектов историко-культурного наследия Астраханской области и сохранение исторической памяти региона</a:t>
            </a:r>
          </a:p>
          <a:p>
            <a:endParaRPr lang="ru-RU" dirty="0"/>
          </a:p>
        </p:txBody>
      </p:sp>
      <p:sp>
        <p:nvSpPr>
          <p:cNvPr id="15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67741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МОДЕЛЬ ПРОЦЕССА «AS IS»</a:t>
            </a:r>
          </a:p>
        </p:txBody>
      </p:sp>
      <p:sp>
        <p:nvSpPr>
          <p:cNvPr id="3" name="!!as_P_Tourist"/>
          <p:cNvSpPr/>
          <p:nvPr/>
        </p:nvSpPr>
        <p:spPr>
          <a:xfrm>
            <a:off x="182880" y="1730203"/>
            <a:ext cx="18366419" cy="386989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as_P_Tourist_lbl"/>
          <p:cNvSpPr/>
          <p:nvPr/>
        </p:nvSpPr>
        <p:spPr>
          <a:xfrm>
            <a:off x="182880" y="1730203"/>
            <a:ext cx="187253" cy="386989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Турист</a:t>
            </a:r>
          </a:p>
        </p:txBody>
      </p:sp>
      <p:sp>
        <p:nvSpPr>
          <p:cNvPr id="5" name="!!as_P_Social"/>
          <p:cNvSpPr/>
          <p:nvPr/>
        </p:nvSpPr>
        <p:spPr>
          <a:xfrm>
            <a:off x="15974568" y="731520"/>
            <a:ext cx="1404399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Соцсети, блоги, форумы</a:t>
            </a:r>
          </a:p>
        </p:txBody>
      </p:sp>
      <p:sp>
        <p:nvSpPr>
          <p:cNvPr id="6" name="!!as_P_Search"/>
          <p:cNvSpPr/>
          <p:nvPr/>
        </p:nvSpPr>
        <p:spPr>
          <a:xfrm>
            <a:off x="3100909" y="731520"/>
            <a:ext cx="1404399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Поисковики, блоги, Википедия</a:t>
            </a:r>
          </a:p>
        </p:txBody>
      </p:sp>
      <p:sp>
        <p:nvSpPr>
          <p:cNvPr id="7" name="!!as_P_PastVu"/>
          <p:cNvSpPr/>
          <p:nvPr/>
        </p:nvSpPr>
        <p:spPr>
          <a:xfrm>
            <a:off x="4583330" y="731520"/>
            <a:ext cx="1326376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PastVu, группы в соцсетях</a:t>
            </a:r>
          </a:p>
        </p:txBody>
      </p:sp>
      <p:sp>
        <p:nvSpPr>
          <p:cNvPr id="8" name="!!as_P_Maps"/>
          <p:cNvSpPr/>
          <p:nvPr/>
        </p:nvSpPr>
        <p:spPr>
          <a:xfrm>
            <a:off x="5987729" y="731520"/>
            <a:ext cx="1170332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Яндекс.Карты / 2ГИС</a:t>
            </a:r>
          </a:p>
        </p:txBody>
      </p:sp>
      <p:sp>
        <p:nvSpPr>
          <p:cNvPr id="9" name="!!as_P_Guide"/>
          <p:cNvSpPr/>
          <p:nvPr/>
        </p:nvSpPr>
        <p:spPr>
          <a:xfrm>
            <a:off x="3256953" y="6099445"/>
            <a:ext cx="5227485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Экскурсовод / турфирма</a:t>
            </a:r>
          </a:p>
        </p:txBody>
      </p:sp>
      <p:sp>
        <p:nvSpPr>
          <p:cNvPr id="10" name="!!as_Grp_P1"/>
          <p:cNvSpPr/>
          <p:nvPr/>
        </p:nvSpPr>
        <p:spPr>
          <a:xfrm>
            <a:off x="3881131" y="2229545"/>
            <a:ext cx="3315942" cy="6366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as_F1"/>
          <p:cNvSpPr/>
          <p:nvPr/>
        </p:nvSpPr>
        <p:spPr>
          <a:xfrm>
            <a:off x="794573" y="3477900"/>
            <a:ext cx="199737" cy="0"/>
          </a:xfrm>
          <a:custGeom>
            <a:avLst/>
            <a:gdLst/>
            <a:ahLst/>
            <a:cxnLst/>
            <a:rect l="l" t="t" r="r" b="b"/>
            <a:pathLst>
              <a:path w="199737">
                <a:moveTo>
                  <a:pt x="0" y="0"/>
                </a:moveTo>
                <a:lnTo>
                  <a:pt x="199737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as_F2"/>
          <p:cNvSpPr/>
          <p:nvPr/>
        </p:nvSpPr>
        <p:spPr>
          <a:xfrm>
            <a:off x="2242665" y="3477900"/>
            <a:ext cx="390111" cy="0"/>
          </a:xfrm>
          <a:custGeom>
            <a:avLst/>
            <a:gdLst/>
            <a:ahLst/>
            <a:cxnLst/>
            <a:rect l="l" t="t" r="r" b="b"/>
            <a:pathLst>
              <a:path w="390111">
                <a:moveTo>
                  <a:pt x="0" y="0"/>
                </a:moveTo>
                <a:lnTo>
                  <a:pt x="390111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s_F3"/>
          <p:cNvSpPr/>
          <p:nvPr/>
        </p:nvSpPr>
        <p:spPr>
          <a:xfrm>
            <a:off x="2788820" y="2541634"/>
            <a:ext cx="1131322" cy="780222"/>
          </a:xfrm>
          <a:custGeom>
            <a:avLst/>
            <a:gdLst/>
            <a:ahLst/>
            <a:cxnLst/>
            <a:rect l="l" t="t" r="r" b="b"/>
            <a:pathLst>
              <a:path w="1131322" h="780222">
                <a:moveTo>
                  <a:pt x="0" y="780222"/>
                </a:moveTo>
                <a:lnTo>
                  <a:pt x="0" y="0"/>
                </a:lnTo>
                <a:lnTo>
                  <a:pt x="1131322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s_F3_t"/>
          <p:cNvSpPr txBox="1"/>
          <p:nvPr/>
        </p:nvSpPr>
        <p:spPr>
          <a:xfrm>
            <a:off x="2609369" y="2410557"/>
            <a:ext cx="905057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Без гида</a:t>
            </a:r>
          </a:p>
        </p:txBody>
      </p:sp>
      <p:sp>
        <p:nvSpPr>
          <p:cNvPr id="15" name="!!as_F5"/>
          <p:cNvSpPr/>
          <p:nvPr/>
        </p:nvSpPr>
        <p:spPr>
          <a:xfrm>
            <a:off x="5168496" y="2541634"/>
            <a:ext cx="741211" cy="0"/>
          </a:xfrm>
          <a:custGeom>
            <a:avLst/>
            <a:gdLst/>
            <a:ahLst/>
            <a:cxnLst/>
            <a:rect l="l" t="t" r="r" b="b"/>
            <a:pathLst>
              <a:path w="741211">
                <a:moveTo>
                  <a:pt x="0" y="0"/>
                </a:moveTo>
                <a:lnTo>
                  <a:pt x="741211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as_F6"/>
          <p:cNvSpPr/>
          <p:nvPr/>
        </p:nvSpPr>
        <p:spPr>
          <a:xfrm>
            <a:off x="7158062" y="2541634"/>
            <a:ext cx="312089" cy="0"/>
          </a:xfrm>
          <a:custGeom>
            <a:avLst/>
            <a:gdLst/>
            <a:ahLst/>
            <a:cxnLst/>
            <a:rect l="l" t="t" r="r" b="b"/>
            <a:pathLst>
              <a:path w="312089">
                <a:moveTo>
                  <a:pt x="0" y="0"/>
                </a:moveTo>
                <a:lnTo>
                  <a:pt x="312089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as_F8"/>
          <p:cNvSpPr/>
          <p:nvPr/>
        </p:nvSpPr>
        <p:spPr>
          <a:xfrm>
            <a:off x="7782239" y="2541634"/>
            <a:ext cx="312089" cy="0"/>
          </a:xfrm>
          <a:custGeom>
            <a:avLst/>
            <a:gdLst/>
            <a:ahLst/>
            <a:cxnLst/>
            <a:rect l="l" t="t" r="r" b="b"/>
            <a:pathLst>
              <a:path w="312089">
                <a:moveTo>
                  <a:pt x="0" y="0"/>
                </a:moveTo>
                <a:lnTo>
                  <a:pt x="312089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s_F8_t"/>
          <p:cNvSpPr txBox="1"/>
          <p:nvPr/>
        </p:nvSpPr>
        <p:spPr>
          <a:xfrm>
            <a:off x="7641799" y="2410557"/>
            <a:ext cx="631979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Нет</a:t>
            </a:r>
          </a:p>
        </p:txBody>
      </p:sp>
      <p:sp>
        <p:nvSpPr>
          <p:cNvPr id="19" name="!!as_F10"/>
          <p:cNvSpPr/>
          <p:nvPr/>
        </p:nvSpPr>
        <p:spPr>
          <a:xfrm>
            <a:off x="9342683" y="2541634"/>
            <a:ext cx="2028576" cy="0"/>
          </a:xfrm>
          <a:custGeom>
            <a:avLst/>
            <a:gdLst/>
            <a:ahLst/>
            <a:cxnLst/>
            <a:rect l="l" t="t" r="r" b="b"/>
            <a:pathLst>
              <a:path w="2028576">
                <a:moveTo>
                  <a:pt x="0" y="0"/>
                </a:moveTo>
                <a:lnTo>
                  <a:pt x="202857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as_F7"/>
          <p:cNvSpPr/>
          <p:nvPr/>
        </p:nvSpPr>
        <p:spPr>
          <a:xfrm>
            <a:off x="7626195" y="2697678"/>
            <a:ext cx="4369242" cy="405716"/>
          </a:xfrm>
          <a:custGeom>
            <a:avLst/>
            <a:gdLst/>
            <a:ahLst/>
            <a:cxnLst/>
            <a:rect l="l" t="t" r="r" b="b"/>
            <a:pathLst>
              <a:path w="4369242" h="405716">
                <a:moveTo>
                  <a:pt x="0" y="0"/>
                </a:moveTo>
                <a:lnTo>
                  <a:pt x="0" y="405716"/>
                </a:lnTo>
                <a:lnTo>
                  <a:pt x="4369242" y="405716"/>
                </a:lnTo>
                <a:lnTo>
                  <a:pt x="4369242" y="143561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as_F7_t"/>
          <p:cNvSpPr txBox="1"/>
          <p:nvPr/>
        </p:nvSpPr>
        <p:spPr>
          <a:xfrm>
            <a:off x="7485755" y="3159570"/>
            <a:ext cx="1373190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Да (объект существует)</a:t>
            </a:r>
          </a:p>
        </p:txBody>
      </p:sp>
      <p:sp>
        <p:nvSpPr>
          <p:cNvPr id="22" name="!!as_F12"/>
          <p:cNvSpPr/>
          <p:nvPr/>
        </p:nvSpPr>
        <p:spPr>
          <a:xfrm>
            <a:off x="12619614" y="2541634"/>
            <a:ext cx="624177" cy="780222"/>
          </a:xfrm>
          <a:custGeom>
            <a:avLst/>
            <a:gdLst/>
            <a:ahLst/>
            <a:cxnLst/>
            <a:rect l="l" t="t" r="r" b="b"/>
            <a:pathLst>
              <a:path w="624177" h="780222">
                <a:moveTo>
                  <a:pt x="0" y="0"/>
                </a:moveTo>
                <a:lnTo>
                  <a:pt x="624177" y="0"/>
                </a:lnTo>
                <a:lnTo>
                  <a:pt x="624177" y="780222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s_F13"/>
          <p:cNvSpPr/>
          <p:nvPr/>
        </p:nvSpPr>
        <p:spPr>
          <a:xfrm>
            <a:off x="2788820" y="3633944"/>
            <a:ext cx="468133" cy="842640"/>
          </a:xfrm>
          <a:custGeom>
            <a:avLst/>
            <a:gdLst/>
            <a:ahLst/>
            <a:cxnLst/>
            <a:rect l="l" t="t" r="r" b="b"/>
            <a:pathLst>
              <a:path w="468133" h="842640">
                <a:moveTo>
                  <a:pt x="0" y="0"/>
                </a:moveTo>
                <a:lnTo>
                  <a:pt x="0" y="842640"/>
                </a:lnTo>
                <a:lnTo>
                  <a:pt x="468133" y="84264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s_F13_t"/>
          <p:cNvSpPr txBox="1"/>
          <p:nvPr/>
        </p:nvSpPr>
        <p:spPr>
          <a:xfrm>
            <a:off x="2609369" y="3958517"/>
            <a:ext cx="1061101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 экскурсией</a:t>
            </a:r>
          </a:p>
        </p:txBody>
      </p:sp>
      <p:sp>
        <p:nvSpPr>
          <p:cNvPr id="25" name="!!as_F14"/>
          <p:cNvSpPr/>
          <p:nvPr/>
        </p:nvSpPr>
        <p:spPr>
          <a:xfrm>
            <a:off x="4505308" y="4476584"/>
            <a:ext cx="156044" cy="0"/>
          </a:xfrm>
          <a:custGeom>
            <a:avLst/>
            <a:gdLst/>
            <a:ahLst/>
            <a:cxnLst/>
            <a:rect l="l" t="t" r="r" b="b"/>
            <a:pathLst>
              <a:path w="156044">
                <a:moveTo>
                  <a:pt x="0" y="0"/>
                </a:moveTo>
                <a:lnTo>
                  <a:pt x="156044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as_F15"/>
          <p:cNvSpPr/>
          <p:nvPr/>
        </p:nvSpPr>
        <p:spPr>
          <a:xfrm>
            <a:off x="5909707" y="4476584"/>
            <a:ext cx="390111" cy="0"/>
          </a:xfrm>
          <a:custGeom>
            <a:avLst/>
            <a:gdLst/>
            <a:ahLst/>
            <a:cxnLst/>
            <a:rect l="l" t="t" r="r" b="b"/>
            <a:pathLst>
              <a:path w="390111">
                <a:moveTo>
                  <a:pt x="0" y="0"/>
                </a:moveTo>
                <a:lnTo>
                  <a:pt x="390111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as_F16"/>
          <p:cNvSpPr/>
          <p:nvPr/>
        </p:nvSpPr>
        <p:spPr>
          <a:xfrm>
            <a:off x="6611907" y="4476584"/>
            <a:ext cx="624177" cy="0"/>
          </a:xfrm>
          <a:custGeom>
            <a:avLst/>
            <a:gdLst/>
            <a:ahLst/>
            <a:cxnLst/>
            <a:rect l="l" t="t" r="r" b="b"/>
            <a:pathLst>
              <a:path w="624177">
                <a:moveTo>
                  <a:pt x="0" y="0"/>
                </a:moveTo>
                <a:lnTo>
                  <a:pt x="624177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s_F16_t"/>
          <p:cNvSpPr txBox="1"/>
          <p:nvPr/>
        </p:nvSpPr>
        <p:spPr>
          <a:xfrm>
            <a:off x="6549489" y="4345507"/>
            <a:ext cx="592968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Да</a:t>
            </a:r>
          </a:p>
        </p:txBody>
      </p:sp>
      <p:sp>
        <p:nvSpPr>
          <p:cNvPr id="29" name="!!as_F17"/>
          <p:cNvSpPr/>
          <p:nvPr/>
        </p:nvSpPr>
        <p:spPr>
          <a:xfrm>
            <a:off x="6455862" y="4632628"/>
            <a:ext cx="0" cy="418199"/>
          </a:xfrm>
          <a:custGeom>
            <a:avLst/>
            <a:gdLst/>
            <a:ahLst/>
            <a:cxnLst/>
            <a:rect l="l" t="t" r="r" b="b"/>
            <a:pathLst>
              <a:path h="418199">
                <a:moveTo>
                  <a:pt x="0" y="0"/>
                </a:moveTo>
                <a:lnTo>
                  <a:pt x="0" y="418199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as_F17_t"/>
          <p:cNvSpPr txBox="1"/>
          <p:nvPr/>
        </p:nvSpPr>
        <p:spPr>
          <a:xfrm>
            <a:off x="6284214" y="4769947"/>
            <a:ext cx="631979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Нет</a:t>
            </a:r>
          </a:p>
        </p:txBody>
      </p:sp>
      <p:sp>
        <p:nvSpPr>
          <p:cNvPr id="31" name="!!as_F18"/>
          <p:cNvSpPr/>
          <p:nvPr/>
        </p:nvSpPr>
        <p:spPr>
          <a:xfrm>
            <a:off x="8484439" y="3633944"/>
            <a:ext cx="4759352" cy="842640"/>
          </a:xfrm>
          <a:custGeom>
            <a:avLst/>
            <a:gdLst/>
            <a:ahLst/>
            <a:cxnLst/>
            <a:rect l="l" t="t" r="r" b="b"/>
            <a:pathLst>
              <a:path w="4759352" h="842640">
                <a:moveTo>
                  <a:pt x="0" y="842640"/>
                </a:moveTo>
                <a:lnTo>
                  <a:pt x="4759352" y="842640"/>
                </a:lnTo>
                <a:lnTo>
                  <a:pt x="4759352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as_F19"/>
          <p:cNvSpPr/>
          <p:nvPr/>
        </p:nvSpPr>
        <p:spPr>
          <a:xfrm>
            <a:off x="13399836" y="3477900"/>
            <a:ext cx="234066" cy="0"/>
          </a:xfrm>
          <a:custGeom>
            <a:avLst/>
            <a:gdLst/>
            <a:ahLst/>
            <a:cxnLst/>
            <a:rect l="l" t="t" r="r" b="b"/>
            <a:pathLst>
              <a:path w="234066">
                <a:moveTo>
                  <a:pt x="0" y="0"/>
                </a:moveTo>
                <a:lnTo>
                  <a:pt x="23406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as_F20"/>
          <p:cNvSpPr/>
          <p:nvPr/>
        </p:nvSpPr>
        <p:spPr>
          <a:xfrm>
            <a:off x="14882257" y="3477900"/>
            <a:ext cx="390111" cy="0"/>
          </a:xfrm>
          <a:custGeom>
            <a:avLst/>
            <a:gdLst/>
            <a:ahLst/>
            <a:cxnLst/>
            <a:rect l="l" t="t" r="r" b="b"/>
            <a:pathLst>
              <a:path w="390111">
                <a:moveTo>
                  <a:pt x="0" y="0"/>
                </a:moveTo>
                <a:lnTo>
                  <a:pt x="390111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as_F21"/>
          <p:cNvSpPr/>
          <p:nvPr/>
        </p:nvSpPr>
        <p:spPr>
          <a:xfrm>
            <a:off x="15584457" y="3477900"/>
            <a:ext cx="901936" cy="0"/>
          </a:xfrm>
          <a:custGeom>
            <a:avLst/>
            <a:gdLst/>
            <a:ahLst/>
            <a:cxnLst/>
            <a:rect l="l" t="t" r="r" b="b"/>
            <a:pathLst>
              <a:path w="901936">
                <a:moveTo>
                  <a:pt x="0" y="0"/>
                </a:moveTo>
                <a:lnTo>
                  <a:pt x="90193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!!as_F21_t"/>
          <p:cNvSpPr txBox="1"/>
          <p:nvPr/>
        </p:nvSpPr>
        <p:spPr>
          <a:xfrm>
            <a:off x="15678083" y="3484142"/>
            <a:ext cx="631979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Нет</a:t>
            </a:r>
          </a:p>
        </p:txBody>
      </p:sp>
      <p:sp>
        <p:nvSpPr>
          <p:cNvPr id="36" name="!!as_F22"/>
          <p:cNvSpPr/>
          <p:nvPr/>
        </p:nvSpPr>
        <p:spPr>
          <a:xfrm>
            <a:off x="15428412" y="2541634"/>
            <a:ext cx="624178" cy="780222"/>
          </a:xfrm>
          <a:custGeom>
            <a:avLst/>
            <a:gdLst/>
            <a:ahLst/>
            <a:cxnLst/>
            <a:rect l="l" t="t" r="r" b="b"/>
            <a:pathLst>
              <a:path w="624178" h="780222">
                <a:moveTo>
                  <a:pt x="0" y="780222"/>
                </a:moveTo>
                <a:lnTo>
                  <a:pt x="0" y="0"/>
                </a:lnTo>
                <a:lnTo>
                  <a:pt x="624178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!!as_F22_t"/>
          <p:cNvSpPr txBox="1"/>
          <p:nvPr/>
        </p:nvSpPr>
        <p:spPr>
          <a:xfrm>
            <a:off x="15256764" y="2959833"/>
            <a:ext cx="592968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Да</a:t>
            </a:r>
          </a:p>
        </p:txBody>
      </p:sp>
      <p:sp>
        <p:nvSpPr>
          <p:cNvPr id="38" name="!!as_F23"/>
          <p:cNvSpPr/>
          <p:nvPr/>
        </p:nvSpPr>
        <p:spPr>
          <a:xfrm>
            <a:off x="17300944" y="2541634"/>
            <a:ext cx="511826" cy="0"/>
          </a:xfrm>
          <a:custGeom>
            <a:avLst/>
            <a:gdLst/>
            <a:ahLst/>
            <a:cxnLst/>
            <a:rect l="l" t="t" r="r" b="b"/>
            <a:pathLst>
              <a:path w="511826">
                <a:moveTo>
                  <a:pt x="0" y="0"/>
                </a:moveTo>
                <a:lnTo>
                  <a:pt x="51182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!!as_M_C2"/>
          <p:cNvSpPr/>
          <p:nvPr/>
        </p:nvSpPr>
        <p:spPr>
          <a:xfrm>
            <a:off x="16676767" y="1106026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113600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as_M_C2_t"/>
          <p:cNvSpPr txBox="1"/>
          <p:nvPr/>
        </p:nvSpPr>
        <p:spPr>
          <a:xfrm>
            <a:off x="16648679" y="1399389"/>
            <a:ext cx="905057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Пост без проверки</a:t>
            </a:r>
          </a:p>
        </p:txBody>
      </p:sp>
      <p:sp>
        <p:nvSpPr>
          <p:cNvPr id="41" name="!!as_M_A1_s"/>
          <p:cNvSpPr/>
          <p:nvPr/>
        </p:nvSpPr>
        <p:spPr>
          <a:xfrm>
            <a:off x="4271241" y="1106026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0"/>
                </a:moveTo>
                <a:lnTo>
                  <a:pt x="0" y="1136003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!!as_M_A1_s_t"/>
          <p:cNvSpPr txBox="1"/>
          <p:nvPr/>
        </p:nvSpPr>
        <p:spPr>
          <a:xfrm>
            <a:off x="3494141" y="1399389"/>
            <a:ext cx="905057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Статьи без проверки</a:t>
            </a:r>
          </a:p>
        </p:txBody>
      </p:sp>
      <p:sp>
        <p:nvSpPr>
          <p:cNvPr id="43" name="!!as_M_A1_p"/>
          <p:cNvSpPr/>
          <p:nvPr/>
        </p:nvSpPr>
        <p:spPr>
          <a:xfrm>
            <a:off x="4817397" y="1106026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0"/>
                </a:moveTo>
                <a:lnTo>
                  <a:pt x="0" y="1136003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as_M_A1_p_t"/>
          <p:cNvSpPr txBox="1"/>
          <p:nvPr/>
        </p:nvSpPr>
        <p:spPr>
          <a:xfrm>
            <a:off x="4804913" y="1399389"/>
            <a:ext cx="905057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Фото без описания</a:t>
            </a:r>
          </a:p>
        </p:txBody>
      </p:sp>
      <p:sp>
        <p:nvSpPr>
          <p:cNvPr id="45" name="!!as_M_A3"/>
          <p:cNvSpPr/>
          <p:nvPr/>
        </p:nvSpPr>
        <p:spPr>
          <a:xfrm>
            <a:off x="6533884" y="1106026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0"/>
                </a:moveTo>
                <a:lnTo>
                  <a:pt x="0" y="1136003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!!as_M_A3_t"/>
          <p:cNvSpPr txBox="1"/>
          <p:nvPr/>
        </p:nvSpPr>
        <p:spPr>
          <a:xfrm>
            <a:off x="6521401" y="1399389"/>
            <a:ext cx="905057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Только современная карта</a:t>
            </a:r>
          </a:p>
        </p:txBody>
      </p:sp>
      <p:sp>
        <p:nvSpPr>
          <p:cNvPr id="47" name="!!as_M_B1"/>
          <p:cNvSpPr/>
          <p:nvPr/>
        </p:nvSpPr>
        <p:spPr>
          <a:xfrm>
            <a:off x="3881131" y="4776189"/>
            <a:ext cx="0" cy="1323256"/>
          </a:xfrm>
          <a:custGeom>
            <a:avLst/>
            <a:gdLst/>
            <a:ahLst/>
            <a:cxnLst/>
            <a:rect l="l" t="t" r="r" b="b"/>
            <a:pathLst>
              <a:path h="1323256">
                <a:moveTo>
                  <a:pt x="0" y="132325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!!as_M_B1_t"/>
          <p:cNvSpPr txBox="1"/>
          <p:nvPr/>
        </p:nvSpPr>
        <p:spPr>
          <a:xfrm>
            <a:off x="3853043" y="5269289"/>
            <a:ext cx="1139123" cy="149802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Программы экскурсий</a:t>
            </a:r>
          </a:p>
        </p:txBody>
      </p:sp>
      <p:sp>
        <p:nvSpPr>
          <p:cNvPr id="49" name="!!as_M_B2"/>
          <p:cNvSpPr/>
          <p:nvPr/>
        </p:nvSpPr>
        <p:spPr>
          <a:xfrm>
            <a:off x="5285530" y="4776189"/>
            <a:ext cx="0" cy="1323256"/>
          </a:xfrm>
          <a:custGeom>
            <a:avLst/>
            <a:gdLst/>
            <a:ahLst/>
            <a:cxnLst/>
            <a:rect l="l" t="t" r="r" b="b"/>
            <a:pathLst>
              <a:path h="1323256">
                <a:moveTo>
                  <a:pt x="0" y="132325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!!as_M_B2_t"/>
          <p:cNvSpPr txBox="1"/>
          <p:nvPr/>
        </p:nvSpPr>
        <p:spPr>
          <a:xfrm>
            <a:off x="5257442" y="5643796"/>
            <a:ext cx="983079" cy="149802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Расписание, цена</a:t>
            </a:r>
          </a:p>
        </p:txBody>
      </p:sp>
      <p:sp>
        <p:nvSpPr>
          <p:cNvPr id="51" name="!!as_M_B3"/>
          <p:cNvSpPr/>
          <p:nvPr/>
        </p:nvSpPr>
        <p:spPr>
          <a:xfrm>
            <a:off x="7860261" y="4776189"/>
            <a:ext cx="0" cy="1323256"/>
          </a:xfrm>
          <a:custGeom>
            <a:avLst/>
            <a:gdLst/>
            <a:ahLst/>
            <a:cxnLst/>
            <a:rect l="l" t="t" r="r" b="b"/>
            <a:pathLst>
              <a:path h="1323256">
                <a:moveTo>
                  <a:pt x="0" y="132325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!!as_M_B3_t"/>
          <p:cNvSpPr txBox="1"/>
          <p:nvPr/>
        </p:nvSpPr>
        <p:spPr>
          <a:xfrm>
            <a:off x="7832173" y="5643796"/>
            <a:ext cx="1295168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Рассказ гида (только во время экскурсии)</a:t>
            </a:r>
          </a:p>
        </p:txBody>
      </p:sp>
      <p:sp>
        <p:nvSpPr>
          <p:cNvPr id="53" name="!!as_As_N_P1"/>
          <p:cNvSpPr/>
          <p:nvPr/>
        </p:nvSpPr>
        <p:spPr>
          <a:xfrm>
            <a:off x="4544319" y="2841239"/>
            <a:ext cx="0" cy="386990"/>
          </a:xfrm>
          <a:custGeom>
            <a:avLst/>
            <a:gdLst/>
            <a:ahLst/>
            <a:cxnLst/>
            <a:rect l="l" t="t" r="r" b="b"/>
            <a:pathLst>
              <a:path h="386990">
                <a:moveTo>
                  <a:pt x="0" y="38699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!!as_As_N_P2"/>
          <p:cNvSpPr/>
          <p:nvPr/>
        </p:nvSpPr>
        <p:spPr>
          <a:xfrm>
            <a:off x="8718505" y="2179611"/>
            <a:ext cx="0" cy="62418"/>
          </a:xfrm>
          <a:custGeom>
            <a:avLst/>
            <a:gdLst/>
            <a:ahLst/>
            <a:cxnLst/>
            <a:rect l="l" t="t" r="r" b="b"/>
            <a:pathLst>
              <a:path h="62418">
                <a:moveTo>
                  <a:pt x="0" y="0"/>
                </a:moveTo>
                <a:lnTo>
                  <a:pt x="0" y="62418"/>
                </a:lnTo>
              </a:path>
            </a:pathLst>
          </a:custGeom>
          <a:noFill/>
          <a:ln w="9525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!!as_As_N_P3"/>
          <p:cNvSpPr/>
          <p:nvPr/>
        </p:nvSpPr>
        <p:spPr>
          <a:xfrm>
            <a:off x="8406417" y="4663837"/>
            <a:ext cx="234066" cy="187253"/>
          </a:xfrm>
          <a:custGeom>
            <a:avLst/>
            <a:gdLst/>
            <a:ahLst/>
            <a:cxnLst/>
            <a:rect l="l" t="t" r="r" b="b"/>
            <a:pathLst>
              <a:path w="234066" h="187253">
                <a:moveTo>
                  <a:pt x="234066" y="18725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!!as_Start"/>
          <p:cNvSpPr/>
          <p:nvPr/>
        </p:nvSpPr>
        <p:spPr>
          <a:xfrm>
            <a:off x="569869" y="3365548"/>
            <a:ext cx="224703" cy="2247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!!as_Start_t"/>
          <p:cNvSpPr txBox="1"/>
          <p:nvPr/>
        </p:nvSpPr>
        <p:spPr>
          <a:xfrm>
            <a:off x="402902" y="3596494"/>
            <a:ext cx="770859" cy="34953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900" b="0" i="0">
                <a:solidFill>
                  <a:srgbClr val="000000"/>
                </a:solidFill>
                <a:latin typeface="Times New Roman"/>
              </a:rPr>
              <a:t>Возник интерес к объекту</a:t>
            </a:r>
          </a:p>
        </p:txBody>
      </p:sp>
      <p:sp>
        <p:nvSpPr>
          <p:cNvPr id="59" name="!!as_T_choose"/>
          <p:cNvSpPr/>
          <p:nvPr/>
        </p:nvSpPr>
        <p:spPr>
          <a:xfrm>
            <a:off x="994310" y="3178295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Выбрать способ знакомства с объектом</a:t>
            </a:r>
          </a:p>
        </p:txBody>
      </p:sp>
      <p:sp>
        <p:nvSpPr>
          <p:cNvPr id="60" name="!!as_G_or"/>
          <p:cNvSpPr/>
          <p:nvPr/>
        </p:nvSpPr>
        <p:spPr>
          <a:xfrm>
            <a:off x="2632776" y="3321856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!!as_G_or_c"/>
          <p:cNvSpPr/>
          <p:nvPr/>
        </p:nvSpPr>
        <p:spPr>
          <a:xfrm>
            <a:off x="2717040" y="3406120"/>
            <a:ext cx="143560" cy="143560"/>
          </a:xfrm>
          <a:prstGeom prst="ellips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!!as_G_or_t"/>
          <p:cNvSpPr txBox="1"/>
          <p:nvPr/>
        </p:nvSpPr>
        <p:spPr>
          <a:xfrm>
            <a:off x="2042928" y="3534076"/>
            <a:ext cx="867606" cy="19973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Способ?</a:t>
            </a:r>
          </a:p>
        </p:txBody>
      </p:sp>
      <p:sp>
        <p:nvSpPr>
          <p:cNvPr id="63" name="!!as_A1"/>
          <p:cNvSpPr/>
          <p:nvPr/>
        </p:nvSpPr>
        <p:spPr>
          <a:xfrm>
            <a:off x="3920142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</a:rPr>
              <a:t>Найти описание и старые фотографии объекта</a:t>
            </a:r>
          </a:p>
        </p:txBody>
      </p:sp>
      <p:sp>
        <p:nvSpPr>
          <p:cNvPr id="64" name="!!as_A3"/>
          <p:cNvSpPr/>
          <p:nvPr/>
        </p:nvSpPr>
        <p:spPr>
          <a:xfrm>
            <a:off x="5909707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Найти местоположение объекта на карте</a:t>
            </a:r>
          </a:p>
        </p:txBody>
      </p:sp>
      <p:sp>
        <p:nvSpPr>
          <p:cNvPr id="65" name="!!as_G_map"/>
          <p:cNvSpPr/>
          <p:nvPr/>
        </p:nvSpPr>
        <p:spPr>
          <a:xfrm>
            <a:off x="7470151" y="2385590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66" name="!!as_G_map_t"/>
          <p:cNvSpPr txBox="1"/>
          <p:nvPr/>
        </p:nvSpPr>
        <p:spPr>
          <a:xfrm>
            <a:off x="6981732" y="2135919"/>
            <a:ext cx="1101673" cy="26215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Объект есть на карте?</a:t>
            </a:r>
          </a:p>
        </p:txBody>
      </p:sp>
      <p:sp>
        <p:nvSpPr>
          <p:cNvPr id="67" name="!!as_A4"/>
          <p:cNvSpPr/>
          <p:nvPr/>
        </p:nvSpPr>
        <p:spPr>
          <a:xfrm>
            <a:off x="8094328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Определить место по старому адресу вручную</a:t>
            </a:r>
          </a:p>
        </p:txBody>
      </p:sp>
      <p:sp>
        <p:nvSpPr>
          <p:cNvPr id="68" name="!!as_A6"/>
          <p:cNvSpPr/>
          <p:nvPr/>
        </p:nvSpPr>
        <p:spPr>
          <a:xfrm>
            <a:off x="11371259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Составить маршрут вручную</a:t>
            </a:r>
          </a:p>
        </p:txBody>
      </p:sp>
      <p:sp>
        <p:nvSpPr>
          <p:cNvPr id="69" name="!!as_B1"/>
          <p:cNvSpPr/>
          <p:nvPr/>
        </p:nvSpPr>
        <p:spPr>
          <a:xfrm>
            <a:off x="3256953" y="417697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Найти экскурсионную программу</a:t>
            </a:r>
          </a:p>
        </p:txBody>
      </p:sp>
      <p:sp>
        <p:nvSpPr>
          <p:cNvPr id="70" name="!!as_B2"/>
          <p:cNvSpPr/>
          <p:nvPr/>
        </p:nvSpPr>
        <p:spPr>
          <a:xfrm>
            <a:off x="4661352" y="417697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Связаться с гидом и забронировать</a:t>
            </a:r>
          </a:p>
        </p:txBody>
      </p:sp>
      <p:sp>
        <p:nvSpPr>
          <p:cNvPr id="71" name="!!as_G_exc"/>
          <p:cNvSpPr/>
          <p:nvPr/>
        </p:nvSpPr>
        <p:spPr>
          <a:xfrm>
            <a:off x="6299818" y="4320540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72" name="!!as_G_exc_t"/>
          <p:cNvSpPr txBox="1"/>
          <p:nvPr/>
        </p:nvSpPr>
        <p:spPr>
          <a:xfrm>
            <a:off x="5905026" y="3871132"/>
            <a:ext cx="1101673" cy="44940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Есть экскурсия на удобное время?</a:t>
            </a:r>
          </a:p>
        </p:txBody>
      </p:sp>
      <p:sp>
        <p:nvSpPr>
          <p:cNvPr id="73" name="!!as_E_exc"/>
          <p:cNvSpPr/>
          <p:nvPr/>
        </p:nvSpPr>
        <p:spPr>
          <a:xfrm>
            <a:off x="6343510" y="5050827"/>
            <a:ext cx="224703" cy="22470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!!as_E_exc_t"/>
          <p:cNvSpPr txBox="1"/>
          <p:nvPr/>
        </p:nvSpPr>
        <p:spPr>
          <a:xfrm>
            <a:off x="6373159" y="5063311"/>
            <a:ext cx="1101673" cy="26215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Экскурсия недоступна</a:t>
            </a:r>
          </a:p>
        </p:txBody>
      </p:sp>
      <p:sp>
        <p:nvSpPr>
          <p:cNvPr id="75" name="!!as_B3"/>
          <p:cNvSpPr/>
          <p:nvPr/>
        </p:nvSpPr>
        <p:spPr>
          <a:xfrm>
            <a:off x="7236084" y="417697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Пройти экскурсию по маршруту гида</a:t>
            </a:r>
          </a:p>
        </p:txBody>
      </p:sp>
      <p:sp>
        <p:nvSpPr>
          <p:cNvPr id="76" name="!!as_G_or_j"/>
          <p:cNvSpPr/>
          <p:nvPr/>
        </p:nvSpPr>
        <p:spPr>
          <a:xfrm>
            <a:off x="13087747" y="3321856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!!as_G_or_j_c"/>
          <p:cNvSpPr/>
          <p:nvPr/>
        </p:nvSpPr>
        <p:spPr>
          <a:xfrm>
            <a:off x="13172011" y="3406120"/>
            <a:ext cx="143560" cy="143560"/>
          </a:xfrm>
          <a:prstGeom prst="ellips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!!as_C1"/>
          <p:cNvSpPr/>
          <p:nvPr/>
        </p:nvSpPr>
        <p:spPr>
          <a:xfrm>
            <a:off x="13633902" y="3178295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Посетить объекты</a:t>
            </a:r>
          </a:p>
        </p:txBody>
      </p:sp>
      <p:sp>
        <p:nvSpPr>
          <p:cNvPr id="79" name="!!as_G_share"/>
          <p:cNvSpPr/>
          <p:nvPr/>
        </p:nvSpPr>
        <p:spPr>
          <a:xfrm>
            <a:off x="15272368" y="3321856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80" name="!!as_G_share_t"/>
          <p:cNvSpPr txBox="1"/>
          <p:nvPr/>
        </p:nvSpPr>
        <p:spPr>
          <a:xfrm>
            <a:off x="14666916" y="3602736"/>
            <a:ext cx="1023650" cy="44940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Хочет поделиться своими знаниями?</a:t>
            </a:r>
          </a:p>
        </p:txBody>
      </p:sp>
      <p:sp>
        <p:nvSpPr>
          <p:cNvPr id="81" name="!!as_E_end"/>
          <p:cNvSpPr/>
          <p:nvPr/>
        </p:nvSpPr>
        <p:spPr>
          <a:xfrm>
            <a:off x="16486393" y="3365548"/>
            <a:ext cx="224703" cy="22470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!!as_E_end_t"/>
          <p:cNvSpPr txBox="1"/>
          <p:nvPr/>
        </p:nvSpPr>
        <p:spPr>
          <a:xfrm>
            <a:off x="16047908" y="3596494"/>
            <a:ext cx="1101673" cy="26215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Объекты посещены</a:t>
            </a:r>
          </a:p>
        </p:txBody>
      </p:sp>
      <p:sp>
        <p:nvSpPr>
          <p:cNvPr id="83" name="!!as_C2"/>
          <p:cNvSpPr/>
          <p:nvPr/>
        </p:nvSpPr>
        <p:spPr>
          <a:xfrm>
            <a:off x="16052590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</a:rPr>
              <a:t>Опубликовать свои сведения в соцсети или блоге</a:t>
            </a:r>
          </a:p>
        </p:txBody>
      </p:sp>
      <p:sp>
        <p:nvSpPr>
          <p:cNvPr id="84" name="!!as_E_post"/>
          <p:cNvSpPr/>
          <p:nvPr/>
        </p:nvSpPr>
        <p:spPr>
          <a:xfrm>
            <a:off x="17812770" y="2429282"/>
            <a:ext cx="224703" cy="22470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!!as_E_post_t"/>
          <p:cNvSpPr txBox="1"/>
          <p:nvPr/>
        </p:nvSpPr>
        <p:spPr>
          <a:xfrm>
            <a:off x="17374285" y="2660228"/>
            <a:ext cx="1101673" cy="355781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Сведения опубликованы без проверки</a:t>
            </a:r>
          </a:p>
        </p:txBody>
      </p:sp>
      <p:sp>
        <p:nvSpPr>
          <p:cNvPr id="86" name="!!as_N_P1_br"/>
          <p:cNvSpPr/>
          <p:nvPr/>
        </p:nvSpPr>
        <p:spPr>
          <a:xfrm>
            <a:off x="3881131" y="3228229"/>
            <a:ext cx="62417" cy="349539"/>
          </a:xfrm>
          <a:custGeom>
            <a:avLst/>
            <a:gdLst/>
            <a:ahLst/>
            <a:cxnLst/>
            <a:rect l="l" t="t" r="r" b="b"/>
            <a:pathLst>
              <a:path w="62417" h="349539">
                <a:moveTo>
                  <a:pt x="62417" y="0"/>
                </a:moveTo>
                <a:lnTo>
                  <a:pt x="0" y="0"/>
                </a:lnTo>
                <a:lnTo>
                  <a:pt x="0" y="349539"/>
                </a:lnTo>
                <a:lnTo>
                  <a:pt x="62417" y="349539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!!as_N_P1"/>
          <p:cNvSpPr txBox="1"/>
          <p:nvPr/>
        </p:nvSpPr>
        <p:spPr>
          <a:xfrm>
            <a:off x="3906098" y="3228229"/>
            <a:ext cx="2640270" cy="47437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l"/>
            <a:r>
              <a:rPr sz="1000" b="0" i="0">
                <a:solidFill>
                  <a:srgbClr val="C00000"/>
                </a:solidFill>
                <a:latin typeface="Times New Roman"/>
              </a:rPr>
              <a:t>П1. Разрозненность: описание, фото и карта — в разных сервисах, в каждом объект приходится искать отдельно</a:t>
            </a:r>
          </a:p>
        </p:txBody>
      </p:sp>
      <p:sp>
        <p:nvSpPr>
          <p:cNvPr id="88" name="!!as_N_P2_br"/>
          <p:cNvSpPr/>
          <p:nvPr/>
        </p:nvSpPr>
        <p:spPr>
          <a:xfrm>
            <a:off x="8211361" y="1805105"/>
            <a:ext cx="62418" cy="312088"/>
          </a:xfrm>
          <a:custGeom>
            <a:avLst/>
            <a:gdLst/>
            <a:ahLst/>
            <a:cxnLst/>
            <a:rect l="l" t="t" r="r" b="b"/>
            <a:pathLst>
              <a:path w="62418" h="312088">
                <a:moveTo>
                  <a:pt x="62418" y="0"/>
                </a:moveTo>
                <a:lnTo>
                  <a:pt x="0" y="0"/>
                </a:lnTo>
                <a:lnTo>
                  <a:pt x="0" y="312088"/>
                </a:lnTo>
                <a:lnTo>
                  <a:pt x="62418" y="312088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as_N_P2"/>
          <p:cNvSpPr txBox="1"/>
          <p:nvPr/>
        </p:nvSpPr>
        <p:spPr>
          <a:xfrm>
            <a:off x="8236328" y="1805105"/>
            <a:ext cx="2640270" cy="43692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l"/>
            <a:r>
              <a:rPr sz="1000" b="0" i="0">
                <a:solidFill>
                  <a:srgbClr val="C00000"/>
                </a:solidFill>
                <a:latin typeface="Times New Roman"/>
              </a:rPr>
              <a:t>П2. Утраченного объекта нет на карте — место определяется вручную по старому адресу</a:t>
            </a:r>
          </a:p>
        </p:txBody>
      </p:sp>
      <p:sp>
        <p:nvSpPr>
          <p:cNvPr id="90" name="!!as_N_P3_br"/>
          <p:cNvSpPr/>
          <p:nvPr/>
        </p:nvSpPr>
        <p:spPr>
          <a:xfrm>
            <a:off x="8640483" y="4788673"/>
            <a:ext cx="62418" cy="436924"/>
          </a:xfrm>
          <a:custGeom>
            <a:avLst/>
            <a:gdLst/>
            <a:ahLst/>
            <a:cxnLst/>
            <a:rect l="l" t="t" r="r" b="b"/>
            <a:pathLst>
              <a:path w="62418" h="436924">
                <a:moveTo>
                  <a:pt x="62418" y="0"/>
                </a:moveTo>
                <a:lnTo>
                  <a:pt x="0" y="0"/>
                </a:lnTo>
                <a:lnTo>
                  <a:pt x="0" y="436924"/>
                </a:lnTo>
                <a:lnTo>
                  <a:pt x="62418" y="436924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!!as_N_P3"/>
          <p:cNvSpPr txBox="1"/>
          <p:nvPr/>
        </p:nvSpPr>
        <p:spPr>
          <a:xfrm>
            <a:off x="8665450" y="4788673"/>
            <a:ext cx="2562248" cy="56175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l"/>
            <a:r>
              <a:rPr sz="1000" b="0" i="0">
                <a:solidFill>
                  <a:srgbClr val="C00000"/>
                </a:solidFill>
                <a:latin typeface="Times New Roman"/>
              </a:rPr>
              <a:t>П3. Нет готовых маршрутов: тематические маршруты есть только в платных экскурсиях, самому туристу маршрут приходится составлять вручную</a:t>
            </a:r>
          </a:p>
        </p:txBody>
      </p:sp>
      <p:sp>
        <p:nvSpPr>
          <p:cNvPr id="94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4</a:t>
            </a:r>
          </a:p>
        </p:txBody>
      </p:sp>
      <p:sp>
        <p:nvSpPr>
          <p:cNvPr id="95" name="!!as_hl_A1"/>
          <p:cNvSpPr/>
          <p:nvPr/>
        </p:nvSpPr>
        <p:spPr>
          <a:xfrm>
            <a:off x="3920142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!!as_hl_A3"/>
          <p:cNvSpPr/>
          <p:nvPr/>
        </p:nvSpPr>
        <p:spPr>
          <a:xfrm>
            <a:off x="5909707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!!as_hl_A4"/>
          <p:cNvSpPr/>
          <p:nvPr/>
        </p:nvSpPr>
        <p:spPr>
          <a:xfrm>
            <a:off x="8094328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!!as_hl_A6"/>
          <p:cNvSpPr/>
          <p:nvPr/>
        </p:nvSpPr>
        <p:spPr>
          <a:xfrm>
            <a:off x="11371259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!!as_hl_B2"/>
          <p:cNvSpPr/>
          <p:nvPr/>
        </p:nvSpPr>
        <p:spPr>
          <a:xfrm>
            <a:off x="4661352" y="417697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!!as_hl_B3"/>
          <p:cNvSpPr/>
          <p:nvPr/>
        </p:nvSpPr>
        <p:spPr>
          <a:xfrm>
            <a:off x="7236084" y="417697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!!as_hl_E_exc"/>
          <p:cNvSpPr/>
          <p:nvPr/>
        </p:nvSpPr>
        <p:spPr>
          <a:xfrm>
            <a:off x="6343510" y="5050827"/>
            <a:ext cx="224703" cy="224703"/>
          </a:xfrm>
          <a:prstGeom prst="ellipse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3" grpId="0" animBg="1"/>
      <p:bldP spid="54" grpId="0" animBg="1"/>
      <p:bldP spid="5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МОДЕЛЬ ПРОЦЕССА «AS IS»</a:t>
            </a:r>
          </a:p>
        </p:txBody>
      </p:sp>
      <p:sp>
        <p:nvSpPr>
          <p:cNvPr id="3" name="!!as_P_Tourist"/>
          <p:cNvSpPr/>
          <p:nvPr/>
        </p:nvSpPr>
        <p:spPr>
          <a:xfrm>
            <a:off x="-6357299" y="1730203"/>
            <a:ext cx="18366419" cy="386989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as_P_Tourist_lbl"/>
          <p:cNvSpPr/>
          <p:nvPr/>
        </p:nvSpPr>
        <p:spPr>
          <a:xfrm>
            <a:off x="-6357299" y="1730203"/>
            <a:ext cx="187253" cy="386989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Турист</a:t>
            </a:r>
          </a:p>
        </p:txBody>
      </p:sp>
      <p:sp>
        <p:nvSpPr>
          <p:cNvPr id="5" name="!!as_P_Social"/>
          <p:cNvSpPr/>
          <p:nvPr/>
        </p:nvSpPr>
        <p:spPr>
          <a:xfrm>
            <a:off x="9434388" y="731520"/>
            <a:ext cx="1404399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Соцсети, блоги, форумы</a:t>
            </a:r>
          </a:p>
        </p:txBody>
      </p:sp>
      <p:sp>
        <p:nvSpPr>
          <p:cNvPr id="6" name="!!as_P_Search"/>
          <p:cNvSpPr/>
          <p:nvPr/>
        </p:nvSpPr>
        <p:spPr>
          <a:xfrm>
            <a:off x="-3439270" y="731520"/>
            <a:ext cx="1404399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Поисковики, блоги, Википедия</a:t>
            </a:r>
          </a:p>
        </p:txBody>
      </p:sp>
      <p:sp>
        <p:nvSpPr>
          <p:cNvPr id="7" name="!!as_P_PastVu"/>
          <p:cNvSpPr/>
          <p:nvPr/>
        </p:nvSpPr>
        <p:spPr>
          <a:xfrm>
            <a:off x="-1956849" y="731520"/>
            <a:ext cx="1326376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PastVu, группы в соцсетях</a:t>
            </a:r>
          </a:p>
        </p:txBody>
      </p:sp>
      <p:sp>
        <p:nvSpPr>
          <p:cNvPr id="8" name="!!as_P_Maps"/>
          <p:cNvSpPr/>
          <p:nvPr/>
        </p:nvSpPr>
        <p:spPr>
          <a:xfrm>
            <a:off x="-552449" y="731520"/>
            <a:ext cx="1170332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Яндекс.Карты / 2ГИС</a:t>
            </a:r>
          </a:p>
        </p:txBody>
      </p:sp>
      <p:sp>
        <p:nvSpPr>
          <p:cNvPr id="9" name="!!as_P_Guide"/>
          <p:cNvSpPr/>
          <p:nvPr/>
        </p:nvSpPr>
        <p:spPr>
          <a:xfrm>
            <a:off x="-3283226" y="6099445"/>
            <a:ext cx="5227485" cy="37450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Экскурсовод / турфирма</a:t>
            </a:r>
          </a:p>
        </p:txBody>
      </p:sp>
      <p:sp>
        <p:nvSpPr>
          <p:cNvPr id="10" name="!!as_Grp_P1"/>
          <p:cNvSpPr/>
          <p:nvPr/>
        </p:nvSpPr>
        <p:spPr>
          <a:xfrm>
            <a:off x="-2659048" y="2229545"/>
            <a:ext cx="3315942" cy="6366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as_F1"/>
          <p:cNvSpPr/>
          <p:nvPr/>
        </p:nvSpPr>
        <p:spPr>
          <a:xfrm>
            <a:off x="-5745605" y="3477900"/>
            <a:ext cx="199736" cy="0"/>
          </a:xfrm>
          <a:custGeom>
            <a:avLst/>
            <a:gdLst/>
            <a:ahLst/>
            <a:cxnLst/>
            <a:rect l="l" t="t" r="r" b="b"/>
            <a:pathLst>
              <a:path w="199736">
                <a:moveTo>
                  <a:pt x="0" y="0"/>
                </a:moveTo>
                <a:lnTo>
                  <a:pt x="19973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as_F2"/>
          <p:cNvSpPr/>
          <p:nvPr/>
        </p:nvSpPr>
        <p:spPr>
          <a:xfrm>
            <a:off x="-4297514" y="3477900"/>
            <a:ext cx="390111" cy="0"/>
          </a:xfrm>
          <a:custGeom>
            <a:avLst/>
            <a:gdLst/>
            <a:ahLst/>
            <a:cxnLst/>
            <a:rect l="l" t="t" r="r" b="b"/>
            <a:pathLst>
              <a:path w="390111">
                <a:moveTo>
                  <a:pt x="0" y="0"/>
                </a:moveTo>
                <a:lnTo>
                  <a:pt x="390111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s_F3"/>
          <p:cNvSpPr/>
          <p:nvPr/>
        </p:nvSpPr>
        <p:spPr>
          <a:xfrm>
            <a:off x="-3751359" y="2541634"/>
            <a:ext cx="1131322" cy="780222"/>
          </a:xfrm>
          <a:custGeom>
            <a:avLst/>
            <a:gdLst/>
            <a:ahLst/>
            <a:cxnLst/>
            <a:rect l="l" t="t" r="r" b="b"/>
            <a:pathLst>
              <a:path w="1131322" h="780222">
                <a:moveTo>
                  <a:pt x="0" y="780222"/>
                </a:moveTo>
                <a:lnTo>
                  <a:pt x="0" y="0"/>
                </a:lnTo>
                <a:lnTo>
                  <a:pt x="1131322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s_F3_t"/>
          <p:cNvSpPr txBox="1"/>
          <p:nvPr/>
        </p:nvSpPr>
        <p:spPr>
          <a:xfrm>
            <a:off x="-3930810" y="2410557"/>
            <a:ext cx="905057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Без гида</a:t>
            </a:r>
          </a:p>
        </p:txBody>
      </p:sp>
      <p:sp>
        <p:nvSpPr>
          <p:cNvPr id="15" name="!!as_F5"/>
          <p:cNvSpPr/>
          <p:nvPr/>
        </p:nvSpPr>
        <p:spPr>
          <a:xfrm>
            <a:off x="-1371682" y="2541634"/>
            <a:ext cx="741210" cy="0"/>
          </a:xfrm>
          <a:custGeom>
            <a:avLst/>
            <a:gdLst/>
            <a:ahLst/>
            <a:cxnLst/>
            <a:rect l="l" t="t" r="r" b="b"/>
            <a:pathLst>
              <a:path w="741210">
                <a:moveTo>
                  <a:pt x="0" y="0"/>
                </a:moveTo>
                <a:lnTo>
                  <a:pt x="74121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as_F6"/>
          <p:cNvSpPr/>
          <p:nvPr/>
        </p:nvSpPr>
        <p:spPr>
          <a:xfrm>
            <a:off x="617882" y="2541634"/>
            <a:ext cx="312089" cy="0"/>
          </a:xfrm>
          <a:custGeom>
            <a:avLst/>
            <a:gdLst/>
            <a:ahLst/>
            <a:cxnLst/>
            <a:rect l="l" t="t" r="r" b="b"/>
            <a:pathLst>
              <a:path w="312089">
                <a:moveTo>
                  <a:pt x="0" y="0"/>
                </a:moveTo>
                <a:lnTo>
                  <a:pt x="312089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as_F8"/>
          <p:cNvSpPr/>
          <p:nvPr/>
        </p:nvSpPr>
        <p:spPr>
          <a:xfrm>
            <a:off x="1242060" y="2541634"/>
            <a:ext cx="312088" cy="0"/>
          </a:xfrm>
          <a:custGeom>
            <a:avLst/>
            <a:gdLst/>
            <a:ahLst/>
            <a:cxnLst/>
            <a:rect l="l" t="t" r="r" b="b"/>
            <a:pathLst>
              <a:path w="312088">
                <a:moveTo>
                  <a:pt x="0" y="0"/>
                </a:moveTo>
                <a:lnTo>
                  <a:pt x="312088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s_F8_t"/>
          <p:cNvSpPr txBox="1"/>
          <p:nvPr/>
        </p:nvSpPr>
        <p:spPr>
          <a:xfrm>
            <a:off x="1101620" y="2410557"/>
            <a:ext cx="631979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Нет</a:t>
            </a:r>
          </a:p>
        </p:txBody>
      </p:sp>
      <p:sp>
        <p:nvSpPr>
          <p:cNvPr id="19" name="!!as_F10"/>
          <p:cNvSpPr/>
          <p:nvPr/>
        </p:nvSpPr>
        <p:spPr>
          <a:xfrm>
            <a:off x="2802503" y="2541634"/>
            <a:ext cx="2028577" cy="0"/>
          </a:xfrm>
          <a:custGeom>
            <a:avLst/>
            <a:gdLst/>
            <a:ahLst/>
            <a:cxnLst/>
            <a:rect l="l" t="t" r="r" b="b"/>
            <a:pathLst>
              <a:path w="2028577">
                <a:moveTo>
                  <a:pt x="0" y="0"/>
                </a:moveTo>
                <a:lnTo>
                  <a:pt x="2028577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as_F7"/>
          <p:cNvSpPr/>
          <p:nvPr/>
        </p:nvSpPr>
        <p:spPr>
          <a:xfrm>
            <a:off x="1086015" y="2697678"/>
            <a:ext cx="4369242" cy="405716"/>
          </a:xfrm>
          <a:custGeom>
            <a:avLst/>
            <a:gdLst/>
            <a:ahLst/>
            <a:cxnLst/>
            <a:rect l="l" t="t" r="r" b="b"/>
            <a:pathLst>
              <a:path w="4369242" h="405716">
                <a:moveTo>
                  <a:pt x="0" y="0"/>
                </a:moveTo>
                <a:lnTo>
                  <a:pt x="0" y="405716"/>
                </a:lnTo>
                <a:lnTo>
                  <a:pt x="4369242" y="405716"/>
                </a:lnTo>
                <a:lnTo>
                  <a:pt x="4369242" y="143561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as_F7_t"/>
          <p:cNvSpPr txBox="1"/>
          <p:nvPr/>
        </p:nvSpPr>
        <p:spPr>
          <a:xfrm>
            <a:off x="945575" y="3159570"/>
            <a:ext cx="1373190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Да (объект существует)</a:t>
            </a:r>
          </a:p>
        </p:txBody>
      </p:sp>
      <p:sp>
        <p:nvSpPr>
          <p:cNvPr id="22" name="!!as_F12"/>
          <p:cNvSpPr/>
          <p:nvPr/>
        </p:nvSpPr>
        <p:spPr>
          <a:xfrm>
            <a:off x="6079434" y="2541634"/>
            <a:ext cx="624178" cy="780222"/>
          </a:xfrm>
          <a:custGeom>
            <a:avLst/>
            <a:gdLst/>
            <a:ahLst/>
            <a:cxnLst/>
            <a:rect l="l" t="t" r="r" b="b"/>
            <a:pathLst>
              <a:path w="624178" h="780222">
                <a:moveTo>
                  <a:pt x="0" y="0"/>
                </a:moveTo>
                <a:lnTo>
                  <a:pt x="624178" y="0"/>
                </a:lnTo>
                <a:lnTo>
                  <a:pt x="624178" y="780222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s_F13"/>
          <p:cNvSpPr/>
          <p:nvPr/>
        </p:nvSpPr>
        <p:spPr>
          <a:xfrm>
            <a:off x="-3751359" y="3633944"/>
            <a:ext cx="468133" cy="842640"/>
          </a:xfrm>
          <a:custGeom>
            <a:avLst/>
            <a:gdLst/>
            <a:ahLst/>
            <a:cxnLst/>
            <a:rect l="l" t="t" r="r" b="b"/>
            <a:pathLst>
              <a:path w="468133" h="842640">
                <a:moveTo>
                  <a:pt x="0" y="0"/>
                </a:moveTo>
                <a:lnTo>
                  <a:pt x="0" y="842640"/>
                </a:lnTo>
                <a:lnTo>
                  <a:pt x="468133" y="84264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s_F13_t"/>
          <p:cNvSpPr txBox="1"/>
          <p:nvPr/>
        </p:nvSpPr>
        <p:spPr>
          <a:xfrm>
            <a:off x="-3930810" y="3958517"/>
            <a:ext cx="1061101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 экскурсией</a:t>
            </a:r>
          </a:p>
        </p:txBody>
      </p:sp>
      <p:sp>
        <p:nvSpPr>
          <p:cNvPr id="25" name="!!as_F14"/>
          <p:cNvSpPr/>
          <p:nvPr/>
        </p:nvSpPr>
        <p:spPr>
          <a:xfrm>
            <a:off x="-2034871" y="4476584"/>
            <a:ext cx="156045" cy="0"/>
          </a:xfrm>
          <a:custGeom>
            <a:avLst/>
            <a:gdLst/>
            <a:ahLst/>
            <a:cxnLst/>
            <a:rect l="l" t="t" r="r" b="b"/>
            <a:pathLst>
              <a:path w="156045">
                <a:moveTo>
                  <a:pt x="0" y="0"/>
                </a:moveTo>
                <a:lnTo>
                  <a:pt x="156045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as_F15"/>
          <p:cNvSpPr/>
          <p:nvPr/>
        </p:nvSpPr>
        <p:spPr>
          <a:xfrm>
            <a:off x="-630472" y="4476584"/>
            <a:ext cx="390111" cy="0"/>
          </a:xfrm>
          <a:custGeom>
            <a:avLst/>
            <a:gdLst/>
            <a:ahLst/>
            <a:cxnLst/>
            <a:rect l="l" t="t" r="r" b="b"/>
            <a:pathLst>
              <a:path w="390111">
                <a:moveTo>
                  <a:pt x="0" y="0"/>
                </a:moveTo>
                <a:lnTo>
                  <a:pt x="390111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as_F16"/>
          <p:cNvSpPr/>
          <p:nvPr/>
        </p:nvSpPr>
        <p:spPr>
          <a:xfrm>
            <a:off x="71727" y="4476584"/>
            <a:ext cx="624177" cy="0"/>
          </a:xfrm>
          <a:custGeom>
            <a:avLst/>
            <a:gdLst/>
            <a:ahLst/>
            <a:cxnLst/>
            <a:rect l="l" t="t" r="r" b="b"/>
            <a:pathLst>
              <a:path w="624177">
                <a:moveTo>
                  <a:pt x="0" y="0"/>
                </a:moveTo>
                <a:lnTo>
                  <a:pt x="624177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s_F16_t"/>
          <p:cNvSpPr txBox="1"/>
          <p:nvPr/>
        </p:nvSpPr>
        <p:spPr>
          <a:xfrm>
            <a:off x="9309" y="4345507"/>
            <a:ext cx="592968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Да</a:t>
            </a:r>
          </a:p>
        </p:txBody>
      </p:sp>
      <p:sp>
        <p:nvSpPr>
          <p:cNvPr id="29" name="!!as_F17"/>
          <p:cNvSpPr/>
          <p:nvPr/>
        </p:nvSpPr>
        <p:spPr>
          <a:xfrm>
            <a:off x="-84316" y="4632628"/>
            <a:ext cx="0" cy="418199"/>
          </a:xfrm>
          <a:custGeom>
            <a:avLst/>
            <a:gdLst/>
            <a:ahLst/>
            <a:cxnLst/>
            <a:rect l="l" t="t" r="r" b="b"/>
            <a:pathLst>
              <a:path h="418199">
                <a:moveTo>
                  <a:pt x="0" y="0"/>
                </a:moveTo>
                <a:lnTo>
                  <a:pt x="0" y="418199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as_F17_t"/>
          <p:cNvSpPr txBox="1"/>
          <p:nvPr/>
        </p:nvSpPr>
        <p:spPr>
          <a:xfrm>
            <a:off x="-255965" y="4769947"/>
            <a:ext cx="631979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Нет</a:t>
            </a:r>
          </a:p>
        </p:txBody>
      </p:sp>
      <p:sp>
        <p:nvSpPr>
          <p:cNvPr id="31" name="!!as_F18"/>
          <p:cNvSpPr/>
          <p:nvPr/>
        </p:nvSpPr>
        <p:spPr>
          <a:xfrm>
            <a:off x="1944259" y="3633944"/>
            <a:ext cx="4759353" cy="842640"/>
          </a:xfrm>
          <a:custGeom>
            <a:avLst/>
            <a:gdLst/>
            <a:ahLst/>
            <a:cxnLst/>
            <a:rect l="l" t="t" r="r" b="b"/>
            <a:pathLst>
              <a:path w="4759353" h="842640">
                <a:moveTo>
                  <a:pt x="0" y="842640"/>
                </a:moveTo>
                <a:lnTo>
                  <a:pt x="4759353" y="842640"/>
                </a:lnTo>
                <a:lnTo>
                  <a:pt x="4759353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as_F19"/>
          <p:cNvSpPr/>
          <p:nvPr/>
        </p:nvSpPr>
        <p:spPr>
          <a:xfrm>
            <a:off x="6859656" y="3477900"/>
            <a:ext cx="234067" cy="0"/>
          </a:xfrm>
          <a:custGeom>
            <a:avLst/>
            <a:gdLst/>
            <a:ahLst/>
            <a:cxnLst/>
            <a:rect l="l" t="t" r="r" b="b"/>
            <a:pathLst>
              <a:path w="234067">
                <a:moveTo>
                  <a:pt x="0" y="0"/>
                </a:moveTo>
                <a:lnTo>
                  <a:pt x="234067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as_F20"/>
          <p:cNvSpPr/>
          <p:nvPr/>
        </p:nvSpPr>
        <p:spPr>
          <a:xfrm>
            <a:off x="8342077" y="3477900"/>
            <a:ext cx="390111" cy="0"/>
          </a:xfrm>
          <a:custGeom>
            <a:avLst/>
            <a:gdLst/>
            <a:ahLst/>
            <a:cxnLst/>
            <a:rect l="l" t="t" r="r" b="b"/>
            <a:pathLst>
              <a:path w="390111">
                <a:moveTo>
                  <a:pt x="0" y="0"/>
                </a:moveTo>
                <a:lnTo>
                  <a:pt x="390111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as_F21"/>
          <p:cNvSpPr/>
          <p:nvPr/>
        </p:nvSpPr>
        <p:spPr>
          <a:xfrm>
            <a:off x="9044277" y="3477900"/>
            <a:ext cx="901936" cy="0"/>
          </a:xfrm>
          <a:custGeom>
            <a:avLst/>
            <a:gdLst/>
            <a:ahLst/>
            <a:cxnLst/>
            <a:rect l="l" t="t" r="r" b="b"/>
            <a:pathLst>
              <a:path w="901936">
                <a:moveTo>
                  <a:pt x="0" y="0"/>
                </a:moveTo>
                <a:lnTo>
                  <a:pt x="90193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!!as_F21_t"/>
          <p:cNvSpPr txBox="1"/>
          <p:nvPr/>
        </p:nvSpPr>
        <p:spPr>
          <a:xfrm>
            <a:off x="9137904" y="3484142"/>
            <a:ext cx="631979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Нет</a:t>
            </a:r>
          </a:p>
        </p:txBody>
      </p:sp>
      <p:sp>
        <p:nvSpPr>
          <p:cNvPr id="36" name="!!as_F22"/>
          <p:cNvSpPr/>
          <p:nvPr/>
        </p:nvSpPr>
        <p:spPr>
          <a:xfrm>
            <a:off x="8888233" y="2541634"/>
            <a:ext cx="624177" cy="780222"/>
          </a:xfrm>
          <a:custGeom>
            <a:avLst/>
            <a:gdLst/>
            <a:ahLst/>
            <a:cxnLst/>
            <a:rect l="l" t="t" r="r" b="b"/>
            <a:pathLst>
              <a:path w="624177" h="780222">
                <a:moveTo>
                  <a:pt x="0" y="780222"/>
                </a:moveTo>
                <a:lnTo>
                  <a:pt x="0" y="0"/>
                </a:lnTo>
                <a:lnTo>
                  <a:pt x="624177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!!as_F22_t"/>
          <p:cNvSpPr txBox="1"/>
          <p:nvPr/>
        </p:nvSpPr>
        <p:spPr>
          <a:xfrm>
            <a:off x="8716584" y="2959833"/>
            <a:ext cx="592968" cy="1373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Да</a:t>
            </a:r>
          </a:p>
        </p:txBody>
      </p:sp>
      <p:sp>
        <p:nvSpPr>
          <p:cNvPr id="38" name="!!as_F23"/>
          <p:cNvSpPr/>
          <p:nvPr/>
        </p:nvSpPr>
        <p:spPr>
          <a:xfrm>
            <a:off x="10760765" y="2541634"/>
            <a:ext cx="511825" cy="0"/>
          </a:xfrm>
          <a:custGeom>
            <a:avLst/>
            <a:gdLst/>
            <a:ahLst/>
            <a:cxnLst/>
            <a:rect l="l" t="t" r="r" b="b"/>
            <a:pathLst>
              <a:path w="511825">
                <a:moveTo>
                  <a:pt x="0" y="0"/>
                </a:moveTo>
                <a:lnTo>
                  <a:pt x="511825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!!as_M_C2"/>
          <p:cNvSpPr/>
          <p:nvPr/>
        </p:nvSpPr>
        <p:spPr>
          <a:xfrm>
            <a:off x="10136587" y="1106026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113600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as_M_C2_t"/>
          <p:cNvSpPr txBox="1"/>
          <p:nvPr/>
        </p:nvSpPr>
        <p:spPr>
          <a:xfrm>
            <a:off x="10108499" y="1399389"/>
            <a:ext cx="905057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Пост без проверки</a:t>
            </a:r>
          </a:p>
        </p:txBody>
      </p:sp>
      <p:sp>
        <p:nvSpPr>
          <p:cNvPr id="41" name="!!as_M_A1_s"/>
          <p:cNvSpPr/>
          <p:nvPr/>
        </p:nvSpPr>
        <p:spPr>
          <a:xfrm>
            <a:off x="-2268937" y="1106026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0"/>
                </a:moveTo>
                <a:lnTo>
                  <a:pt x="0" y="1136003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!!as_M_A1_s_t"/>
          <p:cNvSpPr txBox="1"/>
          <p:nvPr/>
        </p:nvSpPr>
        <p:spPr>
          <a:xfrm>
            <a:off x="-3046038" y="1399389"/>
            <a:ext cx="905057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Статьи без проверки</a:t>
            </a:r>
          </a:p>
        </p:txBody>
      </p:sp>
      <p:sp>
        <p:nvSpPr>
          <p:cNvPr id="43" name="!!as_M_A1_p"/>
          <p:cNvSpPr/>
          <p:nvPr/>
        </p:nvSpPr>
        <p:spPr>
          <a:xfrm>
            <a:off x="-1722782" y="1106026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0"/>
                </a:moveTo>
                <a:lnTo>
                  <a:pt x="0" y="1136003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as_M_A1_p_t"/>
          <p:cNvSpPr txBox="1"/>
          <p:nvPr/>
        </p:nvSpPr>
        <p:spPr>
          <a:xfrm>
            <a:off x="-1735266" y="1399389"/>
            <a:ext cx="905057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Фото без описания</a:t>
            </a:r>
          </a:p>
        </p:txBody>
      </p:sp>
      <p:sp>
        <p:nvSpPr>
          <p:cNvPr id="45" name="!!as_M_A3"/>
          <p:cNvSpPr/>
          <p:nvPr/>
        </p:nvSpPr>
        <p:spPr>
          <a:xfrm>
            <a:off x="-6294" y="1106026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0"/>
                </a:moveTo>
                <a:lnTo>
                  <a:pt x="0" y="1136003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!!as_M_A3_t"/>
          <p:cNvSpPr txBox="1"/>
          <p:nvPr/>
        </p:nvSpPr>
        <p:spPr>
          <a:xfrm>
            <a:off x="-18778" y="1399389"/>
            <a:ext cx="905057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Только современная карта</a:t>
            </a:r>
          </a:p>
        </p:txBody>
      </p:sp>
      <p:sp>
        <p:nvSpPr>
          <p:cNvPr id="47" name="!!as_M_B1"/>
          <p:cNvSpPr/>
          <p:nvPr/>
        </p:nvSpPr>
        <p:spPr>
          <a:xfrm>
            <a:off x="-2659048" y="4776189"/>
            <a:ext cx="0" cy="1323256"/>
          </a:xfrm>
          <a:custGeom>
            <a:avLst/>
            <a:gdLst/>
            <a:ahLst/>
            <a:cxnLst/>
            <a:rect l="l" t="t" r="r" b="b"/>
            <a:pathLst>
              <a:path h="1323256">
                <a:moveTo>
                  <a:pt x="0" y="132325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!!as_M_B1_t"/>
          <p:cNvSpPr txBox="1"/>
          <p:nvPr/>
        </p:nvSpPr>
        <p:spPr>
          <a:xfrm>
            <a:off x="-2687136" y="5269289"/>
            <a:ext cx="1139123" cy="149802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Программы экскурсий</a:t>
            </a:r>
          </a:p>
        </p:txBody>
      </p:sp>
      <p:sp>
        <p:nvSpPr>
          <p:cNvPr id="49" name="!!as_M_B2"/>
          <p:cNvSpPr/>
          <p:nvPr/>
        </p:nvSpPr>
        <p:spPr>
          <a:xfrm>
            <a:off x="-1254649" y="4776189"/>
            <a:ext cx="0" cy="1323256"/>
          </a:xfrm>
          <a:custGeom>
            <a:avLst/>
            <a:gdLst/>
            <a:ahLst/>
            <a:cxnLst/>
            <a:rect l="l" t="t" r="r" b="b"/>
            <a:pathLst>
              <a:path h="1323256">
                <a:moveTo>
                  <a:pt x="0" y="132325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!!as_M_B2_t"/>
          <p:cNvSpPr txBox="1"/>
          <p:nvPr/>
        </p:nvSpPr>
        <p:spPr>
          <a:xfrm>
            <a:off x="-1282737" y="5643796"/>
            <a:ext cx="983079" cy="149802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Расписание, цена</a:t>
            </a:r>
          </a:p>
        </p:txBody>
      </p:sp>
      <p:sp>
        <p:nvSpPr>
          <p:cNvPr id="51" name="!!as_M_B3"/>
          <p:cNvSpPr/>
          <p:nvPr/>
        </p:nvSpPr>
        <p:spPr>
          <a:xfrm>
            <a:off x="1320082" y="4776189"/>
            <a:ext cx="0" cy="1323256"/>
          </a:xfrm>
          <a:custGeom>
            <a:avLst/>
            <a:gdLst/>
            <a:ahLst/>
            <a:cxnLst/>
            <a:rect l="l" t="t" r="r" b="b"/>
            <a:pathLst>
              <a:path h="1323256">
                <a:moveTo>
                  <a:pt x="0" y="132325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headEnd type="oval" w="sm" len="sm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!!as_M_B3_t"/>
          <p:cNvSpPr txBox="1"/>
          <p:nvPr/>
        </p:nvSpPr>
        <p:spPr>
          <a:xfrm>
            <a:off x="1291994" y="5643796"/>
            <a:ext cx="1295168" cy="23718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Рассказ гида (только во время экскурсии)</a:t>
            </a:r>
          </a:p>
        </p:txBody>
      </p:sp>
      <p:sp>
        <p:nvSpPr>
          <p:cNvPr id="53" name="!!as_As_N_P1"/>
          <p:cNvSpPr/>
          <p:nvPr/>
        </p:nvSpPr>
        <p:spPr>
          <a:xfrm>
            <a:off x="-1995860" y="2841239"/>
            <a:ext cx="0" cy="386990"/>
          </a:xfrm>
          <a:custGeom>
            <a:avLst/>
            <a:gdLst/>
            <a:ahLst/>
            <a:cxnLst/>
            <a:rect l="l" t="t" r="r" b="b"/>
            <a:pathLst>
              <a:path h="386990">
                <a:moveTo>
                  <a:pt x="0" y="38699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!!as_As_N_P2"/>
          <p:cNvSpPr/>
          <p:nvPr/>
        </p:nvSpPr>
        <p:spPr>
          <a:xfrm>
            <a:off x="2178326" y="2179611"/>
            <a:ext cx="0" cy="62418"/>
          </a:xfrm>
          <a:custGeom>
            <a:avLst/>
            <a:gdLst/>
            <a:ahLst/>
            <a:cxnLst/>
            <a:rect l="l" t="t" r="r" b="b"/>
            <a:pathLst>
              <a:path h="62418">
                <a:moveTo>
                  <a:pt x="0" y="0"/>
                </a:moveTo>
                <a:lnTo>
                  <a:pt x="0" y="62418"/>
                </a:lnTo>
              </a:path>
            </a:pathLst>
          </a:custGeom>
          <a:noFill/>
          <a:ln w="9525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!!as_As_N_P3"/>
          <p:cNvSpPr/>
          <p:nvPr/>
        </p:nvSpPr>
        <p:spPr>
          <a:xfrm>
            <a:off x="1866237" y="4663837"/>
            <a:ext cx="234066" cy="187253"/>
          </a:xfrm>
          <a:custGeom>
            <a:avLst/>
            <a:gdLst/>
            <a:ahLst/>
            <a:cxnLst/>
            <a:rect l="l" t="t" r="r" b="b"/>
            <a:pathLst>
              <a:path w="234066" h="187253">
                <a:moveTo>
                  <a:pt x="234066" y="18725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!!as_As_N_P4"/>
          <p:cNvSpPr/>
          <p:nvPr/>
        </p:nvSpPr>
        <p:spPr>
          <a:xfrm>
            <a:off x="10682743" y="2841239"/>
            <a:ext cx="0" cy="1136003"/>
          </a:xfrm>
          <a:custGeom>
            <a:avLst/>
            <a:gdLst/>
            <a:ahLst/>
            <a:cxnLst/>
            <a:rect l="l" t="t" r="r" b="b"/>
            <a:pathLst>
              <a:path h="1136003">
                <a:moveTo>
                  <a:pt x="0" y="113600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!!as_Start"/>
          <p:cNvSpPr/>
          <p:nvPr/>
        </p:nvSpPr>
        <p:spPr>
          <a:xfrm>
            <a:off x="-5970309" y="3365548"/>
            <a:ext cx="224703" cy="2247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!!as_Start_t"/>
          <p:cNvSpPr txBox="1"/>
          <p:nvPr/>
        </p:nvSpPr>
        <p:spPr>
          <a:xfrm>
            <a:off x="-6137277" y="3596494"/>
            <a:ext cx="770859" cy="34953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900" b="0" i="0">
                <a:solidFill>
                  <a:srgbClr val="000000"/>
                </a:solidFill>
                <a:latin typeface="Times New Roman"/>
              </a:rPr>
              <a:t>Возник интерес к объекту</a:t>
            </a:r>
          </a:p>
        </p:txBody>
      </p:sp>
      <p:sp>
        <p:nvSpPr>
          <p:cNvPr id="59" name="!!as_T_choose"/>
          <p:cNvSpPr/>
          <p:nvPr/>
        </p:nvSpPr>
        <p:spPr>
          <a:xfrm>
            <a:off x="-5545869" y="3178295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Выбрать способ знакомства с объектом</a:t>
            </a:r>
          </a:p>
        </p:txBody>
      </p:sp>
      <p:sp>
        <p:nvSpPr>
          <p:cNvPr id="60" name="!!as_G_or"/>
          <p:cNvSpPr/>
          <p:nvPr/>
        </p:nvSpPr>
        <p:spPr>
          <a:xfrm>
            <a:off x="-3907403" y="3321856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!!as_G_or_c"/>
          <p:cNvSpPr/>
          <p:nvPr/>
        </p:nvSpPr>
        <p:spPr>
          <a:xfrm>
            <a:off x="-3823139" y="3406120"/>
            <a:ext cx="143560" cy="143560"/>
          </a:xfrm>
          <a:prstGeom prst="ellips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!!as_G_or_t"/>
          <p:cNvSpPr txBox="1"/>
          <p:nvPr/>
        </p:nvSpPr>
        <p:spPr>
          <a:xfrm>
            <a:off x="-4497251" y="3534076"/>
            <a:ext cx="867606" cy="19973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Способ?</a:t>
            </a:r>
          </a:p>
        </p:txBody>
      </p:sp>
      <p:sp>
        <p:nvSpPr>
          <p:cNvPr id="63" name="!!as_A1"/>
          <p:cNvSpPr/>
          <p:nvPr/>
        </p:nvSpPr>
        <p:spPr>
          <a:xfrm>
            <a:off x="-2620037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</a:rPr>
              <a:t>Найти описание и старые фотографии объекта</a:t>
            </a:r>
          </a:p>
        </p:txBody>
      </p:sp>
      <p:sp>
        <p:nvSpPr>
          <p:cNvPr id="64" name="!!as_A3"/>
          <p:cNvSpPr/>
          <p:nvPr/>
        </p:nvSpPr>
        <p:spPr>
          <a:xfrm>
            <a:off x="-630472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Найти местоположение объекта на карте</a:t>
            </a:r>
          </a:p>
        </p:txBody>
      </p:sp>
      <p:sp>
        <p:nvSpPr>
          <p:cNvPr id="65" name="!!as_G_map"/>
          <p:cNvSpPr/>
          <p:nvPr/>
        </p:nvSpPr>
        <p:spPr>
          <a:xfrm>
            <a:off x="929971" y="2385590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66" name="!!as_G_map_t"/>
          <p:cNvSpPr txBox="1"/>
          <p:nvPr/>
        </p:nvSpPr>
        <p:spPr>
          <a:xfrm>
            <a:off x="441552" y="2135919"/>
            <a:ext cx="1101673" cy="26215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Объект есть на карте?</a:t>
            </a:r>
          </a:p>
        </p:txBody>
      </p:sp>
      <p:sp>
        <p:nvSpPr>
          <p:cNvPr id="67" name="!!as_A4"/>
          <p:cNvSpPr/>
          <p:nvPr/>
        </p:nvSpPr>
        <p:spPr>
          <a:xfrm>
            <a:off x="1554148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Определить место по старому адресу вручную</a:t>
            </a:r>
          </a:p>
        </p:txBody>
      </p:sp>
      <p:sp>
        <p:nvSpPr>
          <p:cNvPr id="68" name="!!as_A6"/>
          <p:cNvSpPr/>
          <p:nvPr/>
        </p:nvSpPr>
        <p:spPr>
          <a:xfrm>
            <a:off x="4831080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Составить маршрут вручную</a:t>
            </a:r>
          </a:p>
        </p:txBody>
      </p:sp>
      <p:sp>
        <p:nvSpPr>
          <p:cNvPr id="69" name="!!as_B1"/>
          <p:cNvSpPr/>
          <p:nvPr/>
        </p:nvSpPr>
        <p:spPr>
          <a:xfrm>
            <a:off x="-3283226" y="417697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Найти экскурсионную программу</a:t>
            </a:r>
          </a:p>
        </p:txBody>
      </p:sp>
      <p:sp>
        <p:nvSpPr>
          <p:cNvPr id="70" name="!!as_B2"/>
          <p:cNvSpPr/>
          <p:nvPr/>
        </p:nvSpPr>
        <p:spPr>
          <a:xfrm>
            <a:off x="-1878826" y="417697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Связаться с гидом и забронировать</a:t>
            </a:r>
          </a:p>
        </p:txBody>
      </p:sp>
      <p:sp>
        <p:nvSpPr>
          <p:cNvPr id="71" name="!!as_G_exc"/>
          <p:cNvSpPr/>
          <p:nvPr/>
        </p:nvSpPr>
        <p:spPr>
          <a:xfrm>
            <a:off x="-240361" y="4320540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72" name="!!as_G_exc_t"/>
          <p:cNvSpPr txBox="1"/>
          <p:nvPr/>
        </p:nvSpPr>
        <p:spPr>
          <a:xfrm>
            <a:off x="-635153" y="3871132"/>
            <a:ext cx="1101673" cy="44940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Есть экскурсия на удобное время?</a:t>
            </a:r>
          </a:p>
        </p:txBody>
      </p:sp>
      <p:sp>
        <p:nvSpPr>
          <p:cNvPr id="73" name="!!as_E_exc"/>
          <p:cNvSpPr/>
          <p:nvPr/>
        </p:nvSpPr>
        <p:spPr>
          <a:xfrm>
            <a:off x="-196668" y="5050827"/>
            <a:ext cx="224703" cy="22470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!!as_E_exc_t"/>
          <p:cNvSpPr txBox="1"/>
          <p:nvPr/>
        </p:nvSpPr>
        <p:spPr>
          <a:xfrm>
            <a:off x="-167020" y="5063311"/>
            <a:ext cx="1101673" cy="26215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Экскурсия недоступна</a:t>
            </a:r>
          </a:p>
        </p:txBody>
      </p:sp>
      <p:sp>
        <p:nvSpPr>
          <p:cNvPr id="75" name="!!as_B3"/>
          <p:cNvSpPr/>
          <p:nvPr/>
        </p:nvSpPr>
        <p:spPr>
          <a:xfrm>
            <a:off x="695904" y="417697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Пройти экскурсию по маршруту гида</a:t>
            </a:r>
          </a:p>
        </p:txBody>
      </p:sp>
      <p:sp>
        <p:nvSpPr>
          <p:cNvPr id="76" name="!!as_G_or_j"/>
          <p:cNvSpPr/>
          <p:nvPr/>
        </p:nvSpPr>
        <p:spPr>
          <a:xfrm>
            <a:off x="6547567" y="3321856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!!as_G_or_j_c"/>
          <p:cNvSpPr/>
          <p:nvPr/>
        </p:nvSpPr>
        <p:spPr>
          <a:xfrm>
            <a:off x="6631831" y="3406120"/>
            <a:ext cx="143560" cy="143560"/>
          </a:xfrm>
          <a:prstGeom prst="ellips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!!as_C1"/>
          <p:cNvSpPr/>
          <p:nvPr/>
        </p:nvSpPr>
        <p:spPr>
          <a:xfrm>
            <a:off x="7093723" y="3178295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Посетить объекты</a:t>
            </a:r>
          </a:p>
        </p:txBody>
      </p:sp>
      <p:sp>
        <p:nvSpPr>
          <p:cNvPr id="79" name="!!as_G_share"/>
          <p:cNvSpPr/>
          <p:nvPr/>
        </p:nvSpPr>
        <p:spPr>
          <a:xfrm>
            <a:off x="8732188" y="3321856"/>
            <a:ext cx="312088" cy="3120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80" name="!!as_G_share_t"/>
          <p:cNvSpPr txBox="1"/>
          <p:nvPr/>
        </p:nvSpPr>
        <p:spPr>
          <a:xfrm>
            <a:off x="8126736" y="3602736"/>
            <a:ext cx="1023650" cy="449407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Хочет поделиться своими знаниями?</a:t>
            </a:r>
          </a:p>
        </p:txBody>
      </p:sp>
      <p:sp>
        <p:nvSpPr>
          <p:cNvPr id="81" name="!!as_E_end"/>
          <p:cNvSpPr/>
          <p:nvPr/>
        </p:nvSpPr>
        <p:spPr>
          <a:xfrm>
            <a:off x="9946213" y="3365548"/>
            <a:ext cx="224703" cy="22470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!!as_E_end_t"/>
          <p:cNvSpPr txBox="1"/>
          <p:nvPr/>
        </p:nvSpPr>
        <p:spPr>
          <a:xfrm>
            <a:off x="9507729" y="3596494"/>
            <a:ext cx="1101673" cy="26215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Объекты посещены</a:t>
            </a:r>
          </a:p>
        </p:txBody>
      </p:sp>
      <p:sp>
        <p:nvSpPr>
          <p:cNvPr id="83" name="!!as_C2"/>
          <p:cNvSpPr/>
          <p:nvPr/>
        </p:nvSpPr>
        <p:spPr>
          <a:xfrm>
            <a:off x="9512410" y="2242029"/>
            <a:ext cx="1248354" cy="5992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</a:rPr>
              <a:t>Опубликовать свои сведения в соцсети или блоге</a:t>
            </a:r>
          </a:p>
        </p:txBody>
      </p:sp>
      <p:sp>
        <p:nvSpPr>
          <p:cNvPr id="84" name="!!as_E_post"/>
          <p:cNvSpPr/>
          <p:nvPr/>
        </p:nvSpPr>
        <p:spPr>
          <a:xfrm>
            <a:off x="11272590" y="2429282"/>
            <a:ext cx="224703" cy="22470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!!as_E_post_t"/>
          <p:cNvSpPr txBox="1"/>
          <p:nvPr/>
        </p:nvSpPr>
        <p:spPr>
          <a:xfrm>
            <a:off x="10834106" y="2660228"/>
            <a:ext cx="1101673" cy="355781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Сведения опубликованы без проверки</a:t>
            </a:r>
          </a:p>
        </p:txBody>
      </p:sp>
      <p:sp>
        <p:nvSpPr>
          <p:cNvPr id="86" name="!!as_N_P1_br"/>
          <p:cNvSpPr/>
          <p:nvPr/>
        </p:nvSpPr>
        <p:spPr>
          <a:xfrm>
            <a:off x="-2659048" y="3228229"/>
            <a:ext cx="62418" cy="349539"/>
          </a:xfrm>
          <a:custGeom>
            <a:avLst/>
            <a:gdLst/>
            <a:ahLst/>
            <a:cxnLst/>
            <a:rect l="l" t="t" r="r" b="b"/>
            <a:pathLst>
              <a:path w="62418" h="349539">
                <a:moveTo>
                  <a:pt x="62418" y="0"/>
                </a:moveTo>
                <a:lnTo>
                  <a:pt x="0" y="0"/>
                </a:lnTo>
                <a:lnTo>
                  <a:pt x="0" y="349539"/>
                </a:lnTo>
                <a:lnTo>
                  <a:pt x="62418" y="349539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!!as_N_P1"/>
          <p:cNvSpPr txBox="1"/>
          <p:nvPr/>
        </p:nvSpPr>
        <p:spPr>
          <a:xfrm>
            <a:off x="-2634081" y="3228229"/>
            <a:ext cx="2640270" cy="47437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l"/>
            <a:r>
              <a:rPr sz="1000" b="0" i="0">
                <a:solidFill>
                  <a:srgbClr val="C00000"/>
                </a:solidFill>
                <a:latin typeface="Times New Roman"/>
              </a:rPr>
              <a:t>П1. Разрозненность: описание, фото и карта — в разных сервисах, в каждом объект приходится искать отдельно</a:t>
            </a:r>
          </a:p>
        </p:txBody>
      </p:sp>
      <p:sp>
        <p:nvSpPr>
          <p:cNvPr id="88" name="!!as_N_P2_br"/>
          <p:cNvSpPr/>
          <p:nvPr/>
        </p:nvSpPr>
        <p:spPr>
          <a:xfrm>
            <a:off x="1671181" y="1805105"/>
            <a:ext cx="62418" cy="312088"/>
          </a:xfrm>
          <a:custGeom>
            <a:avLst/>
            <a:gdLst/>
            <a:ahLst/>
            <a:cxnLst/>
            <a:rect l="l" t="t" r="r" b="b"/>
            <a:pathLst>
              <a:path w="62418" h="312088">
                <a:moveTo>
                  <a:pt x="62418" y="0"/>
                </a:moveTo>
                <a:lnTo>
                  <a:pt x="0" y="0"/>
                </a:lnTo>
                <a:lnTo>
                  <a:pt x="0" y="312088"/>
                </a:lnTo>
                <a:lnTo>
                  <a:pt x="62418" y="312088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as_N_P2"/>
          <p:cNvSpPr txBox="1"/>
          <p:nvPr/>
        </p:nvSpPr>
        <p:spPr>
          <a:xfrm>
            <a:off x="1696149" y="1805105"/>
            <a:ext cx="2640270" cy="43692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l"/>
            <a:r>
              <a:rPr sz="1000" b="0" i="0">
                <a:solidFill>
                  <a:srgbClr val="C00000"/>
                </a:solidFill>
                <a:latin typeface="Times New Roman"/>
              </a:rPr>
              <a:t>П2. Утраченного объекта нет на карте — место определяется вручную по старому адресу</a:t>
            </a:r>
          </a:p>
        </p:txBody>
      </p:sp>
      <p:sp>
        <p:nvSpPr>
          <p:cNvPr id="90" name="!!as_N_P3_br"/>
          <p:cNvSpPr/>
          <p:nvPr/>
        </p:nvSpPr>
        <p:spPr>
          <a:xfrm>
            <a:off x="2100303" y="4788673"/>
            <a:ext cx="62418" cy="436924"/>
          </a:xfrm>
          <a:custGeom>
            <a:avLst/>
            <a:gdLst/>
            <a:ahLst/>
            <a:cxnLst/>
            <a:rect l="l" t="t" r="r" b="b"/>
            <a:pathLst>
              <a:path w="62418" h="436924">
                <a:moveTo>
                  <a:pt x="62418" y="0"/>
                </a:moveTo>
                <a:lnTo>
                  <a:pt x="0" y="0"/>
                </a:lnTo>
                <a:lnTo>
                  <a:pt x="0" y="436924"/>
                </a:lnTo>
                <a:lnTo>
                  <a:pt x="62418" y="436924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!!as_N_P3"/>
          <p:cNvSpPr txBox="1"/>
          <p:nvPr/>
        </p:nvSpPr>
        <p:spPr>
          <a:xfrm>
            <a:off x="2125271" y="4788673"/>
            <a:ext cx="2562248" cy="56175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l"/>
            <a:r>
              <a:rPr sz="1000" b="0" i="0">
                <a:solidFill>
                  <a:srgbClr val="C00000"/>
                </a:solidFill>
                <a:latin typeface="Times New Roman"/>
              </a:rPr>
              <a:t>П3. Нет готовых маршрутов: тематические маршруты есть только в платных экскурсиях, самому туристу маршрут приходится составлять вручную</a:t>
            </a:r>
          </a:p>
        </p:txBody>
      </p:sp>
      <p:sp>
        <p:nvSpPr>
          <p:cNvPr id="92" name="!!as_N_P4_br"/>
          <p:cNvSpPr/>
          <p:nvPr/>
        </p:nvSpPr>
        <p:spPr>
          <a:xfrm>
            <a:off x="10643731" y="3977242"/>
            <a:ext cx="62418" cy="811431"/>
          </a:xfrm>
          <a:custGeom>
            <a:avLst/>
            <a:gdLst/>
            <a:ahLst/>
            <a:cxnLst/>
            <a:rect l="l" t="t" r="r" b="b"/>
            <a:pathLst>
              <a:path w="62418" h="811431">
                <a:moveTo>
                  <a:pt x="62418" y="0"/>
                </a:moveTo>
                <a:lnTo>
                  <a:pt x="0" y="0"/>
                </a:lnTo>
                <a:lnTo>
                  <a:pt x="0" y="811431"/>
                </a:lnTo>
                <a:lnTo>
                  <a:pt x="62418" y="811431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!!as_N_P4"/>
          <p:cNvSpPr txBox="1"/>
          <p:nvPr/>
        </p:nvSpPr>
        <p:spPr>
          <a:xfrm>
            <a:off x="10668699" y="3977242"/>
            <a:ext cx="1274882" cy="93626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l"/>
            <a:r>
              <a:rPr sz="1000" b="0" i="0">
                <a:solidFill>
                  <a:srgbClr val="C00000"/>
                </a:solidFill>
                <a:latin typeface="Times New Roman"/>
              </a:rPr>
              <a:t>П4. Сведения не верифицированы: любой может опубликовать что угодно, а потом эти записи находят другие туристы</a:t>
            </a:r>
          </a:p>
        </p:txBody>
      </p:sp>
      <p:sp>
        <p:nvSpPr>
          <p:cNvPr id="94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5</a:t>
            </a:r>
          </a:p>
        </p:txBody>
      </p:sp>
      <p:sp>
        <p:nvSpPr>
          <p:cNvPr id="95" name="!!as_hl_A1"/>
          <p:cNvSpPr/>
          <p:nvPr/>
        </p:nvSpPr>
        <p:spPr>
          <a:xfrm>
            <a:off x="-2620037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!!as_hl_A3"/>
          <p:cNvSpPr/>
          <p:nvPr/>
        </p:nvSpPr>
        <p:spPr>
          <a:xfrm>
            <a:off x="-630472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!!as_hl_A4"/>
          <p:cNvSpPr/>
          <p:nvPr/>
        </p:nvSpPr>
        <p:spPr>
          <a:xfrm>
            <a:off x="1554148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!!as_hl_A6"/>
          <p:cNvSpPr/>
          <p:nvPr/>
        </p:nvSpPr>
        <p:spPr>
          <a:xfrm>
            <a:off x="4831080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!!as_hl_B2"/>
          <p:cNvSpPr/>
          <p:nvPr/>
        </p:nvSpPr>
        <p:spPr>
          <a:xfrm>
            <a:off x="-1878826" y="417697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!!as_hl_B3"/>
          <p:cNvSpPr/>
          <p:nvPr/>
        </p:nvSpPr>
        <p:spPr>
          <a:xfrm>
            <a:off x="695904" y="417697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!!as_hl_E_exc"/>
          <p:cNvSpPr/>
          <p:nvPr/>
        </p:nvSpPr>
        <p:spPr>
          <a:xfrm>
            <a:off x="-196668" y="5050827"/>
            <a:ext cx="224703" cy="224703"/>
          </a:xfrm>
          <a:prstGeom prst="ellipse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!!as_hl_C2"/>
          <p:cNvSpPr/>
          <p:nvPr/>
        </p:nvSpPr>
        <p:spPr>
          <a:xfrm>
            <a:off x="9512410" y="2242029"/>
            <a:ext cx="1248354" cy="59921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!!as_hl_E_post"/>
          <p:cNvSpPr/>
          <p:nvPr/>
        </p:nvSpPr>
        <p:spPr>
          <a:xfrm>
            <a:off x="11272590" y="2429282"/>
            <a:ext cx="224703" cy="224703"/>
          </a:xfrm>
          <a:prstGeom prst="ellipse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92" grpId="0" animBg="1"/>
      <p:bldP spid="93" grpId="0" animBg="1"/>
      <p:bldP spid="102" grpId="0" animBg="1"/>
      <p:bldP spid="10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ВЫЯВЛЕННЫЕ ПРОБЛЕМЫ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sz="2200" b="1" dirty="0">
                <a:solidFill>
                  <a:srgbClr val="1F3864"/>
                </a:solidFill>
                <a:latin typeface="Times New Roman"/>
              </a:rPr>
              <a:t>П1.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Разрозненность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источников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.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Описание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объекта</a:t>
            </a:r>
            <a:r>
              <a:rPr sz="2200" dirty="0">
                <a:latin typeface="Times New Roman"/>
              </a:rPr>
              <a:t>, </a:t>
            </a:r>
            <a:r>
              <a:rPr sz="2200" dirty="0" err="1">
                <a:latin typeface="Times New Roman"/>
              </a:rPr>
              <a:t>старые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фотографии</a:t>
            </a:r>
            <a:r>
              <a:rPr sz="2200" dirty="0">
                <a:latin typeface="Times New Roman"/>
              </a:rPr>
              <a:t> и </a:t>
            </a:r>
            <a:r>
              <a:rPr sz="2200" dirty="0" err="1">
                <a:latin typeface="Times New Roman"/>
              </a:rPr>
              <a:t>местоположение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находятся</a:t>
            </a:r>
            <a:r>
              <a:rPr sz="2200" dirty="0">
                <a:latin typeface="Times New Roman"/>
              </a:rPr>
              <a:t> в </a:t>
            </a:r>
            <a:r>
              <a:rPr sz="2200" dirty="0" err="1">
                <a:latin typeface="Times New Roman"/>
              </a:rPr>
              <a:t>разных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сервисах</a:t>
            </a:r>
            <a:r>
              <a:rPr sz="2200" dirty="0">
                <a:latin typeface="Times New Roman"/>
              </a:rPr>
              <a:t>, </a:t>
            </a:r>
            <a:r>
              <a:rPr sz="2200" dirty="0" err="1">
                <a:latin typeface="Times New Roman"/>
              </a:rPr>
              <a:t>объект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приходится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искать</a:t>
            </a:r>
            <a:r>
              <a:rPr sz="2200" dirty="0">
                <a:latin typeface="Times New Roman"/>
              </a:rPr>
              <a:t> в </a:t>
            </a:r>
            <a:r>
              <a:rPr sz="2200" dirty="0" err="1">
                <a:latin typeface="Times New Roman"/>
              </a:rPr>
              <a:t>каждом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из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них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отдельно</a:t>
            </a:r>
            <a:r>
              <a:rPr sz="2200" dirty="0">
                <a:latin typeface="Times New Roman"/>
              </a:rPr>
              <a:t>.</a:t>
            </a:r>
          </a:p>
          <a:p>
            <a:pPr algn="just">
              <a:spcAft>
                <a:spcPts val="1000"/>
              </a:spcAft>
            </a:pPr>
            <a:r>
              <a:rPr sz="2200" b="1" dirty="0">
                <a:solidFill>
                  <a:srgbClr val="1F3864"/>
                </a:solidFill>
                <a:latin typeface="Times New Roman"/>
              </a:rPr>
              <a:t>П2.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Утраченные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объекты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не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отображаются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на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картах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.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Место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снесённого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здания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турист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определяет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вручную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по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старому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адресу</a:t>
            </a:r>
            <a:r>
              <a:rPr sz="2200" dirty="0">
                <a:latin typeface="Times New Roman"/>
              </a:rPr>
              <a:t> и </a:t>
            </a:r>
            <a:r>
              <a:rPr sz="2200" dirty="0" err="1">
                <a:latin typeface="Times New Roman"/>
              </a:rPr>
              <a:t>историческим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названиям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улиц</a:t>
            </a:r>
            <a:r>
              <a:rPr sz="2200" dirty="0">
                <a:latin typeface="Times New Roman"/>
              </a:rPr>
              <a:t>.</a:t>
            </a:r>
          </a:p>
          <a:p>
            <a:pPr algn="just">
              <a:spcAft>
                <a:spcPts val="1000"/>
              </a:spcAft>
            </a:pPr>
            <a:r>
              <a:rPr sz="2200" b="1" dirty="0">
                <a:solidFill>
                  <a:srgbClr val="1F3864"/>
                </a:solidFill>
                <a:latin typeface="Times New Roman"/>
              </a:rPr>
              <a:t>П3.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Нет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готовых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маршрутов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для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самостоятельного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осмотра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.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Тематические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маршруты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есть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только</a:t>
            </a:r>
            <a:r>
              <a:rPr sz="2200" dirty="0">
                <a:latin typeface="Times New Roman"/>
              </a:rPr>
              <a:t> у </a:t>
            </a:r>
            <a:r>
              <a:rPr sz="2200" dirty="0" err="1">
                <a:latin typeface="Times New Roman"/>
              </a:rPr>
              <a:t>экскурсионных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бюро</a:t>
            </a:r>
            <a:r>
              <a:rPr sz="2200" dirty="0">
                <a:latin typeface="Times New Roman"/>
              </a:rPr>
              <a:t> — </a:t>
            </a:r>
            <a:r>
              <a:rPr sz="2200" dirty="0" err="1">
                <a:latin typeface="Times New Roman"/>
              </a:rPr>
              <a:t>платно</a:t>
            </a:r>
            <a:r>
              <a:rPr sz="2200" dirty="0">
                <a:latin typeface="Times New Roman"/>
              </a:rPr>
              <a:t> и </a:t>
            </a:r>
            <a:r>
              <a:rPr sz="2200" dirty="0" err="1">
                <a:latin typeface="Times New Roman"/>
              </a:rPr>
              <a:t>по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расписанию</a:t>
            </a:r>
            <a:r>
              <a:rPr sz="2200" dirty="0">
                <a:latin typeface="Times New Roman"/>
              </a:rPr>
              <a:t>. </a:t>
            </a:r>
            <a:r>
              <a:rPr sz="2200" dirty="0" err="1">
                <a:latin typeface="Times New Roman"/>
              </a:rPr>
              <a:t>Самостоятельно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маршрут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приходится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составлять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вручную</a:t>
            </a:r>
            <a:r>
              <a:rPr sz="2200" dirty="0">
                <a:latin typeface="Times New Roman"/>
              </a:rPr>
              <a:t>.</a:t>
            </a:r>
          </a:p>
          <a:p>
            <a:pPr algn="just">
              <a:spcAft>
                <a:spcPts val="1000"/>
              </a:spcAft>
            </a:pPr>
            <a:r>
              <a:rPr sz="2200" b="1" dirty="0">
                <a:solidFill>
                  <a:srgbClr val="1F3864"/>
                </a:solidFill>
                <a:latin typeface="Times New Roman"/>
              </a:rPr>
              <a:t>П4.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Сведения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не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проверены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.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Опубликовать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информацию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может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любой</a:t>
            </a:r>
            <a:r>
              <a:rPr sz="2200" dirty="0">
                <a:latin typeface="Times New Roman"/>
              </a:rPr>
              <a:t>, </a:t>
            </a:r>
            <a:r>
              <a:rPr sz="2200" dirty="0" err="1">
                <a:latin typeface="Times New Roman"/>
              </a:rPr>
              <a:t>экспертной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проверки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нет</a:t>
            </a:r>
            <a:r>
              <a:rPr sz="2200" dirty="0">
                <a:latin typeface="Times New Roman"/>
              </a:rPr>
              <a:t>, </a:t>
            </a:r>
            <a:r>
              <a:rPr sz="2200" dirty="0" err="1">
                <a:latin typeface="Times New Roman"/>
              </a:rPr>
              <a:t>поэтому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туристы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получают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противоречивые</a:t>
            </a:r>
            <a:r>
              <a:rPr sz="2200" dirty="0">
                <a:latin typeface="Times New Roman"/>
              </a:rPr>
              <a:t> и </a:t>
            </a:r>
            <a:r>
              <a:rPr sz="2200" dirty="0" err="1">
                <a:latin typeface="Times New Roman"/>
              </a:rPr>
              <a:t>недостоверные</a:t>
            </a:r>
            <a:r>
              <a:rPr sz="2200" dirty="0">
                <a:latin typeface="Times New Roman"/>
              </a:rPr>
              <a:t> </a:t>
            </a:r>
            <a:r>
              <a:rPr sz="2200" dirty="0" err="1">
                <a:latin typeface="Times New Roman"/>
              </a:rPr>
              <a:t>данные</a:t>
            </a:r>
            <a:r>
              <a:rPr sz="2200" dirty="0">
                <a:latin typeface="Times New Roman"/>
              </a:rPr>
              <a:t>.</a:t>
            </a:r>
          </a:p>
          <a:p>
            <a:pPr algn="just">
              <a:spcAft>
                <a:spcPts val="1000"/>
              </a:spcAft>
            </a:pPr>
            <a:r>
              <a:rPr sz="2200" b="1" dirty="0">
                <a:solidFill>
                  <a:srgbClr val="1F3864"/>
                </a:solidFill>
                <a:latin typeface="Times New Roman"/>
              </a:rPr>
              <a:t>П5. У утраченных объектов нет панорамного вида. </a:t>
            </a:r>
            <a:r>
              <a:rPr sz="2200" dirty="0">
                <a:latin typeface="Times New Roman"/>
              </a:rPr>
              <a:t>Сохранившееся здание в окружении застройки можно увидеть хотя бы на месте, а утраченное — только на отдельных архивных снимках.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6</a:t>
            </a:r>
          </a:p>
        </p:txBody>
      </p:sp>
      <p:sp>
        <p:nvSpPr>
          <p:cNvPr id="5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МОДЕЛЬ ПРОЦЕССА «TO BE»</a:t>
            </a:r>
          </a:p>
        </p:txBody>
      </p:sp>
      <p:sp>
        <p:nvSpPr>
          <p:cNvPr id="3" name="!!tb_P_Platform"/>
          <p:cNvSpPr/>
          <p:nvPr/>
        </p:nvSpPr>
        <p:spPr>
          <a:xfrm>
            <a:off x="182880" y="731520"/>
            <a:ext cx="17498466" cy="5742432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b_P_Platform_lbl"/>
          <p:cNvSpPr/>
          <p:nvPr/>
        </p:nvSpPr>
        <p:spPr>
          <a:xfrm>
            <a:off x="182880" y="731520"/>
            <a:ext cx="191414" cy="5742432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Веб-платформа исторического наследия Астраханской области</a:t>
            </a:r>
          </a:p>
        </p:txBody>
      </p:sp>
      <p:sp>
        <p:nvSpPr>
          <p:cNvPr id="5" name="!!tb_L_Tourist"/>
          <p:cNvSpPr/>
          <p:nvPr/>
        </p:nvSpPr>
        <p:spPr>
          <a:xfrm>
            <a:off x="374294" y="731520"/>
            <a:ext cx="17307052" cy="178653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!!tb_L_Tourist_lbl"/>
          <p:cNvSpPr/>
          <p:nvPr/>
        </p:nvSpPr>
        <p:spPr>
          <a:xfrm>
            <a:off x="374294" y="731520"/>
            <a:ext cx="191414" cy="178653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</a:rPr>
              <a:t>Турист (гость)</a:t>
            </a:r>
          </a:p>
        </p:txBody>
      </p:sp>
      <p:sp>
        <p:nvSpPr>
          <p:cNvPr id="7" name="!!tb_L_Author"/>
          <p:cNvSpPr/>
          <p:nvPr/>
        </p:nvSpPr>
        <p:spPr>
          <a:xfrm>
            <a:off x="374294" y="2518054"/>
            <a:ext cx="17307052" cy="102087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!!tb_L_Author_lbl"/>
          <p:cNvSpPr/>
          <p:nvPr/>
        </p:nvSpPr>
        <p:spPr>
          <a:xfrm>
            <a:off x="374294" y="2518054"/>
            <a:ext cx="191414" cy="102087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</a:rPr>
              <a:t>Автор материала</a:t>
            </a:r>
          </a:p>
        </p:txBody>
      </p:sp>
      <p:sp>
        <p:nvSpPr>
          <p:cNvPr id="9" name="!!tb_L_Platform"/>
          <p:cNvSpPr/>
          <p:nvPr/>
        </p:nvSpPr>
        <p:spPr>
          <a:xfrm>
            <a:off x="374294" y="3538931"/>
            <a:ext cx="17307052" cy="185033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tb_L_Platform_lbl"/>
          <p:cNvSpPr/>
          <p:nvPr/>
        </p:nvSpPr>
        <p:spPr>
          <a:xfrm>
            <a:off x="374294" y="3538931"/>
            <a:ext cx="191414" cy="185033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Веб-платформа (система)</a:t>
            </a:r>
          </a:p>
        </p:txBody>
      </p:sp>
      <p:sp>
        <p:nvSpPr>
          <p:cNvPr id="11" name="!!tb_L_Moder"/>
          <p:cNvSpPr/>
          <p:nvPr/>
        </p:nvSpPr>
        <p:spPr>
          <a:xfrm>
            <a:off x="374294" y="5389270"/>
            <a:ext cx="17307052" cy="1084681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tb_L_Moder_lbl"/>
          <p:cNvSpPr/>
          <p:nvPr/>
        </p:nvSpPr>
        <p:spPr>
          <a:xfrm>
            <a:off x="374294" y="5389270"/>
            <a:ext cx="191414" cy="1084681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Модератор / эксперт АНО</a:t>
            </a:r>
          </a:p>
        </p:txBody>
      </p:sp>
      <p:sp>
        <p:nvSpPr>
          <p:cNvPr id="13" name="!!tb_F1"/>
          <p:cNvSpPr/>
          <p:nvPr/>
        </p:nvSpPr>
        <p:spPr>
          <a:xfrm>
            <a:off x="967679" y="1624787"/>
            <a:ext cx="204175" cy="0"/>
          </a:xfrm>
          <a:custGeom>
            <a:avLst/>
            <a:gdLst/>
            <a:ahLst/>
            <a:cxnLst/>
            <a:rect l="l" t="t" r="r" b="b"/>
            <a:pathLst>
              <a:path w="204175">
                <a:moveTo>
                  <a:pt x="0" y="0"/>
                </a:moveTo>
                <a:lnTo>
                  <a:pt x="204175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tb_F2"/>
          <p:cNvSpPr/>
          <p:nvPr/>
        </p:nvSpPr>
        <p:spPr>
          <a:xfrm>
            <a:off x="2447950" y="1624787"/>
            <a:ext cx="239268" cy="2118319"/>
          </a:xfrm>
          <a:custGeom>
            <a:avLst/>
            <a:gdLst/>
            <a:ahLst/>
            <a:cxnLst/>
            <a:rect l="l" t="t" r="r" b="b"/>
            <a:pathLst>
              <a:path w="239268" h="2118319">
                <a:moveTo>
                  <a:pt x="0" y="0"/>
                </a:moveTo>
                <a:lnTo>
                  <a:pt x="239268" y="0"/>
                </a:lnTo>
                <a:lnTo>
                  <a:pt x="239268" y="2118319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tb_F3"/>
          <p:cNvSpPr/>
          <p:nvPr/>
        </p:nvSpPr>
        <p:spPr>
          <a:xfrm>
            <a:off x="3325266" y="1624787"/>
            <a:ext cx="478536" cy="2424582"/>
          </a:xfrm>
          <a:custGeom>
            <a:avLst/>
            <a:gdLst/>
            <a:ahLst/>
            <a:cxnLst/>
            <a:rect l="l" t="t" r="r" b="b"/>
            <a:pathLst>
              <a:path w="478536" h="2424582">
                <a:moveTo>
                  <a:pt x="0" y="2424582"/>
                </a:moveTo>
                <a:lnTo>
                  <a:pt x="239268" y="2424582"/>
                </a:lnTo>
                <a:lnTo>
                  <a:pt x="239268" y="0"/>
                </a:lnTo>
                <a:lnTo>
                  <a:pt x="47853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tb_F4"/>
          <p:cNvSpPr/>
          <p:nvPr/>
        </p:nvSpPr>
        <p:spPr>
          <a:xfrm>
            <a:off x="3963314" y="1178153"/>
            <a:ext cx="638048" cy="287122"/>
          </a:xfrm>
          <a:custGeom>
            <a:avLst/>
            <a:gdLst/>
            <a:ahLst/>
            <a:cxnLst/>
            <a:rect l="l" t="t" r="r" b="b"/>
            <a:pathLst>
              <a:path w="638048" h="287122">
                <a:moveTo>
                  <a:pt x="0" y="287122"/>
                </a:moveTo>
                <a:lnTo>
                  <a:pt x="0" y="0"/>
                </a:lnTo>
                <a:lnTo>
                  <a:pt x="638048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tb_F4_t"/>
          <p:cNvSpPr txBox="1"/>
          <p:nvPr/>
        </p:nvSpPr>
        <p:spPr>
          <a:xfrm>
            <a:off x="3819753" y="1044163"/>
            <a:ext cx="845413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Готовый</a:t>
            </a:r>
          </a:p>
        </p:txBody>
      </p:sp>
      <p:sp>
        <p:nvSpPr>
          <p:cNvPr id="18" name="!!tb_F5"/>
          <p:cNvSpPr/>
          <p:nvPr/>
        </p:nvSpPr>
        <p:spPr>
          <a:xfrm>
            <a:off x="3963314" y="1784299"/>
            <a:ext cx="638048" cy="287121"/>
          </a:xfrm>
          <a:custGeom>
            <a:avLst/>
            <a:gdLst/>
            <a:ahLst/>
            <a:cxnLst/>
            <a:rect l="l" t="t" r="r" b="b"/>
            <a:pathLst>
              <a:path w="638048" h="287121">
                <a:moveTo>
                  <a:pt x="0" y="0"/>
                </a:moveTo>
                <a:lnTo>
                  <a:pt x="0" y="287121"/>
                </a:lnTo>
                <a:lnTo>
                  <a:pt x="638048" y="287121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tb_F5_t"/>
          <p:cNvSpPr txBox="1"/>
          <p:nvPr/>
        </p:nvSpPr>
        <p:spPr>
          <a:xfrm>
            <a:off x="3819753" y="1937430"/>
            <a:ext cx="765657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Свой</a:t>
            </a:r>
          </a:p>
        </p:txBody>
      </p:sp>
      <p:sp>
        <p:nvSpPr>
          <p:cNvPr id="20" name="!!tb_F6"/>
          <p:cNvSpPr/>
          <p:nvPr/>
        </p:nvSpPr>
        <p:spPr>
          <a:xfrm>
            <a:off x="5877458" y="1178153"/>
            <a:ext cx="319024" cy="287122"/>
          </a:xfrm>
          <a:custGeom>
            <a:avLst/>
            <a:gdLst/>
            <a:ahLst/>
            <a:cxnLst/>
            <a:rect l="l" t="t" r="r" b="b"/>
            <a:pathLst>
              <a:path w="319024" h="287122">
                <a:moveTo>
                  <a:pt x="0" y="0"/>
                </a:moveTo>
                <a:lnTo>
                  <a:pt x="319024" y="0"/>
                </a:lnTo>
                <a:lnTo>
                  <a:pt x="319024" y="287122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tb_F7"/>
          <p:cNvSpPr/>
          <p:nvPr/>
        </p:nvSpPr>
        <p:spPr>
          <a:xfrm>
            <a:off x="5877458" y="1784299"/>
            <a:ext cx="319024" cy="287121"/>
          </a:xfrm>
          <a:custGeom>
            <a:avLst/>
            <a:gdLst/>
            <a:ahLst/>
            <a:cxnLst/>
            <a:rect l="l" t="t" r="r" b="b"/>
            <a:pathLst>
              <a:path w="319024" h="287121">
                <a:moveTo>
                  <a:pt x="0" y="287121"/>
                </a:moveTo>
                <a:lnTo>
                  <a:pt x="319024" y="287121"/>
                </a:lnTo>
                <a:lnTo>
                  <a:pt x="319024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tb_F8"/>
          <p:cNvSpPr/>
          <p:nvPr/>
        </p:nvSpPr>
        <p:spPr>
          <a:xfrm>
            <a:off x="6355994" y="1624787"/>
            <a:ext cx="957072" cy="2092797"/>
          </a:xfrm>
          <a:custGeom>
            <a:avLst/>
            <a:gdLst/>
            <a:ahLst/>
            <a:cxnLst/>
            <a:rect l="l" t="t" r="r" b="b"/>
            <a:pathLst>
              <a:path w="957072" h="2092797">
                <a:moveTo>
                  <a:pt x="0" y="0"/>
                </a:moveTo>
                <a:lnTo>
                  <a:pt x="957072" y="0"/>
                </a:lnTo>
                <a:lnTo>
                  <a:pt x="957072" y="2092797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tb_F9"/>
          <p:cNvSpPr/>
          <p:nvPr/>
        </p:nvSpPr>
        <p:spPr>
          <a:xfrm>
            <a:off x="8070748" y="1931050"/>
            <a:ext cx="518414" cy="2118319"/>
          </a:xfrm>
          <a:custGeom>
            <a:avLst/>
            <a:gdLst/>
            <a:ahLst/>
            <a:cxnLst/>
            <a:rect l="l" t="t" r="r" b="b"/>
            <a:pathLst>
              <a:path w="518414" h="2118319">
                <a:moveTo>
                  <a:pt x="0" y="2118319"/>
                </a:moveTo>
                <a:lnTo>
                  <a:pt x="518414" y="2118319"/>
                </a:lnTo>
                <a:lnTo>
                  <a:pt x="518414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tb_F10"/>
          <p:cNvSpPr/>
          <p:nvPr/>
        </p:nvSpPr>
        <p:spPr>
          <a:xfrm>
            <a:off x="9227210" y="1624787"/>
            <a:ext cx="79756" cy="0"/>
          </a:xfrm>
          <a:custGeom>
            <a:avLst/>
            <a:gdLst/>
            <a:ahLst/>
            <a:cxnLst/>
            <a:rect l="l" t="t" r="r" b="b"/>
            <a:pathLst>
              <a:path w="79756">
                <a:moveTo>
                  <a:pt x="0" y="0"/>
                </a:moveTo>
                <a:lnTo>
                  <a:pt x="7975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tb_F11"/>
          <p:cNvSpPr/>
          <p:nvPr/>
        </p:nvSpPr>
        <p:spPr>
          <a:xfrm>
            <a:off x="10583062" y="1624787"/>
            <a:ext cx="398780" cy="0"/>
          </a:xfrm>
          <a:custGeom>
            <a:avLst/>
            <a:gdLst/>
            <a:ahLst/>
            <a:cxnLst/>
            <a:rect l="l" t="t" r="r" b="b"/>
            <a:pathLst>
              <a:path w="398780">
                <a:moveTo>
                  <a:pt x="0" y="0"/>
                </a:moveTo>
                <a:lnTo>
                  <a:pt x="39878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tb_F12"/>
          <p:cNvSpPr/>
          <p:nvPr/>
        </p:nvSpPr>
        <p:spPr>
          <a:xfrm>
            <a:off x="11300866" y="1624787"/>
            <a:ext cx="842223" cy="0"/>
          </a:xfrm>
          <a:custGeom>
            <a:avLst/>
            <a:gdLst/>
            <a:ahLst/>
            <a:cxnLst/>
            <a:rect l="l" t="t" r="r" b="b"/>
            <a:pathLst>
              <a:path w="842223">
                <a:moveTo>
                  <a:pt x="0" y="0"/>
                </a:moveTo>
                <a:lnTo>
                  <a:pt x="842223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tb_F12_t"/>
          <p:cNvSpPr txBox="1"/>
          <p:nvPr/>
        </p:nvSpPr>
        <p:spPr>
          <a:xfrm>
            <a:off x="11316817" y="1490797"/>
            <a:ext cx="646023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Нет</a:t>
            </a:r>
          </a:p>
        </p:txBody>
      </p:sp>
      <p:sp>
        <p:nvSpPr>
          <p:cNvPr id="28" name="!!tb_F13"/>
          <p:cNvSpPr/>
          <p:nvPr/>
        </p:nvSpPr>
        <p:spPr>
          <a:xfrm>
            <a:off x="11141354" y="1784299"/>
            <a:ext cx="0" cy="937930"/>
          </a:xfrm>
          <a:custGeom>
            <a:avLst/>
            <a:gdLst/>
            <a:ahLst/>
            <a:cxnLst/>
            <a:rect l="l" t="t" r="r" b="b"/>
            <a:pathLst>
              <a:path h="937930">
                <a:moveTo>
                  <a:pt x="0" y="0"/>
                </a:moveTo>
                <a:lnTo>
                  <a:pt x="0" y="93793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tb_F13_t"/>
          <p:cNvSpPr txBox="1"/>
          <p:nvPr/>
        </p:nvSpPr>
        <p:spPr>
          <a:xfrm>
            <a:off x="10965891" y="2243693"/>
            <a:ext cx="606145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Да</a:t>
            </a:r>
          </a:p>
        </p:txBody>
      </p:sp>
      <p:sp>
        <p:nvSpPr>
          <p:cNvPr id="30" name="!!tb_F14"/>
          <p:cNvSpPr/>
          <p:nvPr/>
        </p:nvSpPr>
        <p:spPr>
          <a:xfrm>
            <a:off x="11779402" y="3028492"/>
            <a:ext cx="638048" cy="714614"/>
          </a:xfrm>
          <a:custGeom>
            <a:avLst/>
            <a:gdLst/>
            <a:ahLst/>
            <a:cxnLst/>
            <a:rect l="l" t="t" r="r" b="b"/>
            <a:pathLst>
              <a:path w="638048" h="714614">
                <a:moveTo>
                  <a:pt x="0" y="0"/>
                </a:moveTo>
                <a:lnTo>
                  <a:pt x="638048" y="0"/>
                </a:lnTo>
                <a:lnTo>
                  <a:pt x="638048" y="714614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tb_F15"/>
          <p:cNvSpPr/>
          <p:nvPr/>
        </p:nvSpPr>
        <p:spPr>
          <a:xfrm>
            <a:off x="13055498" y="4049369"/>
            <a:ext cx="638048" cy="1575979"/>
          </a:xfrm>
          <a:custGeom>
            <a:avLst/>
            <a:gdLst/>
            <a:ahLst/>
            <a:cxnLst/>
            <a:rect l="l" t="t" r="r" b="b"/>
            <a:pathLst>
              <a:path w="638048" h="1575979">
                <a:moveTo>
                  <a:pt x="0" y="0"/>
                </a:moveTo>
                <a:lnTo>
                  <a:pt x="638048" y="0"/>
                </a:lnTo>
                <a:lnTo>
                  <a:pt x="638048" y="1575979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tb_F16"/>
          <p:cNvSpPr/>
          <p:nvPr/>
        </p:nvSpPr>
        <p:spPr>
          <a:xfrm>
            <a:off x="14331594" y="5931611"/>
            <a:ext cx="398780" cy="0"/>
          </a:xfrm>
          <a:custGeom>
            <a:avLst/>
            <a:gdLst/>
            <a:ahLst/>
            <a:cxnLst/>
            <a:rect l="l" t="t" r="r" b="b"/>
            <a:pathLst>
              <a:path w="398780">
                <a:moveTo>
                  <a:pt x="0" y="0"/>
                </a:moveTo>
                <a:lnTo>
                  <a:pt x="39878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tb_F17"/>
          <p:cNvSpPr/>
          <p:nvPr/>
        </p:nvSpPr>
        <p:spPr>
          <a:xfrm>
            <a:off x="14889886" y="4355632"/>
            <a:ext cx="0" cy="1416467"/>
          </a:xfrm>
          <a:custGeom>
            <a:avLst/>
            <a:gdLst/>
            <a:ahLst/>
            <a:cxnLst/>
            <a:rect l="l" t="t" r="r" b="b"/>
            <a:pathLst>
              <a:path h="1416467">
                <a:moveTo>
                  <a:pt x="0" y="1416467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tb_F17_t"/>
          <p:cNvSpPr txBox="1"/>
          <p:nvPr/>
        </p:nvSpPr>
        <p:spPr>
          <a:xfrm>
            <a:off x="14714423" y="5178714"/>
            <a:ext cx="885291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Одобрить</a:t>
            </a:r>
          </a:p>
        </p:txBody>
      </p:sp>
      <p:sp>
        <p:nvSpPr>
          <p:cNvPr id="35" name="!!tb_F18"/>
          <p:cNvSpPr/>
          <p:nvPr/>
        </p:nvSpPr>
        <p:spPr>
          <a:xfrm>
            <a:off x="15049398" y="5931611"/>
            <a:ext cx="717804" cy="0"/>
          </a:xfrm>
          <a:custGeom>
            <a:avLst/>
            <a:gdLst/>
            <a:ahLst/>
            <a:cxnLst/>
            <a:rect l="l" t="t" r="r" b="b"/>
            <a:pathLst>
              <a:path w="717804">
                <a:moveTo>
                  <a:pt x="0" y="0"/>
                </a:moveTo>
                <a:lnTo>
                  <a:pt x="717804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!!tb_F18_t"/>
          <p:cNvSpPr txBox="1"/>
          <p:nvPr/>
        </p:nvSpPr>
        <p:spPr>
          <a:xfrm>
            <a:off x="14865959" y="5701913"/>
            <a:ext cx="925169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Отклонить</a:t>
            </a:r>
          </a:p>
        </p:txBody>
      </p:sp>
      <p:sp>
        <p:nvSpPr>
          <p:cNvPr id="37" name="!!tb_F19"/>
          <p:cNvSpPr/>
          <p:nvPr/>
        </p:nvSpPr>
        <p:spPr>
          <a:xfrm>
            <a:off x="15527934" y="4049369"/>
            <a:ext cx="239268" cy="0"/>
          </a:xfrm>
          <a:custGeom>
            <a:avLst/>
            <a:gdLst/>
            <a:ahLst/>
            <a:cxnLst/>
            <a:rect l="l" t="t" r="r" b="b"/>
            <a:pathLst>
              <a:path w="239268">
                <a:moveTo>
                  <a:pt x="0" y="0"/>
                </a:moveTo>
                <a:lnTo>
                  <a:pt x="239268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tb_F20"/>
          <p:cNvSpPr/>
          <p:nvPr/>
        </p:nvSpPr>
        <p:spPr>
          <a:xfrm>
            <a:off x="16405250" y="4355632"/>
            <a:ext cx="0" cy="1269716"/>
          </a:xfrm>
          <a:custGeom>
            <a:avLst/>
            <a:gdLst/>
            <a:ahLst/>
            <a:cxnLst/>
            <a:rect l="l" t="t" r="r" b="b"/>
            <a:pathLst>
              <a:path h="1269716">
                <a:moveTo>
                  <a:pt x="0" y="126971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!!tb_F22"/>
          <p:cNvSpPr/>
          <p:nvPr/>
        </p:nvSpPr>
        <p:spPr>
          <a:xfrm>
            <a:off x="16405250" y="3143341"/>
            <a:ext cx="0" cy="599765"/>
          </a:xfrm>
          <a:custGeom>
            <a:avLst/>
            <a:gdLst/>
            <a:ahLst/>
            <a:cxnLst/>
            <a:rect l="l" t="t" r="r" b="b"/>
            <a:pathLst>
              <a:path h="599765">
                <a:moveTo>
                  <a:pt x="0" y="59976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tb_DA1"/>
          <p:cNvSpPr/>
          <p:nvPr/>
        </p:nvSpPr>
        <p:spPr>
          <a:xfrm>
            <a:off x="7313066" y="4381154"/>
            <a:ext cx="2233168" cy="529580"/>
          </a:xfrm>
          <a:custGeom>
            <a:avLst/>
            <a:gdLst/>
            <a:ahLst/>
            <a:cxnLst/>
            <a:rect l="l" t="t" r="r" b="b"/>
            <a:pathLst>
              <a:path w="2233168" h="529580">
                <a:moveTo>
                  <a:pt x="2233168" y="529580"/>
                </a:moveTo>
                <a:lnTo>
                  <a:pt x="0" y="52958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!!tb_DA2"/>
          <p:cNvSpPr/>
          <p:nvPr/>
        </p:nvSpPr>
        <p:spPr>
          <a:xfrm>
            <a:off x="9865258" y="4355632"/>
            <a:ext cx="2552192" cy="555102"/>
          </a:xfrm>
          <a:custGeom>
            <a:avLst/>
            <a:gdLst/>
            <a:ahLst/>
            <a:cxnLst/>
            <a:rect l="l" t="t" r="r" b="b"/>
            <a:pathLst>
              <a:path w="2552192" h="555102">
                <a:moveTo>
                  <a:pt x="2552192" y="0"/>
                </a:moveTo>
                <a:lnTo>
                  <a:pt x="2552192" y="555102"/>
                </a:lnTo>
                <a:lnTo>
                  <a:pt x="0" y="555102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!!tb_DA3"/>
          <p:cNvSpPr/>
          <p:nvPr/>
        </p:nvSpPr>
        <p:spPr>
          <a:xfrm>
            <a:off x="9865258" y="4355632"/>
            <a:ext cx="4625848" cy="650809"/>
          </a:xfrm>
          <a:custGeom>
            <a:avLst/>
            <a:gdLst/>
            <a:ahLst/>
            <a:cxnLst/>
            <a:rect l="l" t="t" r="r" b="b"/>
            <a:pathLst>
              <a:path w="4625848" h="650809">
                <a:moveTo>
                  <a:pt x="4625848" y="0"/>
                </a:moveTo>
                <a:lnTo>
                  <a:pt x="4625848" y="650809"/>
                </a:lnTo>
                <a:lnTo>
                  <a:pt x="0" y="650809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!!tb_S"/>
          <p:cNvSpPr/>
          <p:nvPr/>
        </p:nvSpPr>
        <p:spPr>
          <a:xfrm>
            <a:off x="737981" y="1509938"/>
            <a:ext cx="229697" cy="2296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tb_S_t"/>
          <p:cNvSpPr txBox="1"/>
          <p:nvPr/>
        </p:nvSpPr>
        <p:spPr>
          <a:xfrm>
            <a:off x="588040" y="1746016"/>
            <a:ext cx="708233" cy="35730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900" b="0" i="0">
                <a:solidFill>
                  <a:srgbClr val="000000"/>
                </a:solidFill>
                <a:latin typeface="Times New Roman"/>
              </a:rPr>
              <a:t>Возник интерес к объекту</a:t>
            </a:r>
          </a:p>
        </p:txBody>
      </p:sp>
      <p:sp>
        <p:nvSpPr>
          <p:cNvPr id="45" name="!!tb_T1"/>
          <p:cNvSpPr/>
          <p:nvPr/>
        </p:nvSpPr>
        <p:spPr>
          <a:xfrm>
            <a:off x="1171854" y="1318524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Открыть веб-платформу</a:t>
            </a:r>
          </a:p>
        </p:txBody>
      </p:sp>
      <p:sp>
        <p:nvSpPr>
          <p:cNvPr id="46" name="!!tb_P1"/>
          <p:cNvSpPr/>
          <p:nvPr/>
        </p:nvSpPr>
        <p:spPr>
          <a:xfrm>
            <a:off x="2049170" y="3743106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950" b="0">
                <a:solidFill>
                  <a:srgbClr val="000000"/>
                </a:solidFill>
                <a:latin typeface="Times New Roman"/>
              </a:rPr>
              <a:t>Показать объекты на интерактивной карте, включая утраченные</a:t>
            </a:r>
          </a:p>
        </p:txBody>
      </p:sp>
      <p:sp>
        <p:nvSpPr>
          <p:cNvPr id="47" name="!!tb_G1"/>
          <p:cNvSpPr/>
          <p:nvPr/>
        </p:nvSpPr>
        <p:spPr>
          <a:xfrm>
            <a:off x="3803802" y="1465275"/>
            <a:ext cx="319024" cy="3190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48" name="!!tb_G1_t"/>
          <p:cNvSpPr txBox="1"/>
          <p:nvPr/>
        </p:nvSpPr>
        <p:spPr>
          <a:xfrm>
            <a:off x="3057286" y="1203675"/>
            <a:ext cx="1046398" cy="26798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Способ знакомства?</a:t>
            </a:r>
          </a:p>
        </p:txBody>
      </p:sp>
      <p:sp>
        <p:nvSpPr>
          <p:cNvPr id="49" name="!!tb_T2"/>
          <p:cNvSpPr/>
          <p:nvPr/>
        </p:nvSpPr>
        <p:spPr>
          <a:xfrm>
            <a:off x="4601362" y="871890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Выбрать готовый тематический маршрут</a:t>
            </a:r>
          </a:p>
        </p:txBody>
      </p:sp>
      <p:sp>
        <p:nvSpPr>
          <p:cNvPr id="50" name="!!tb_T3"/>
          <p:cNvSpPr/>
          <p:nvPr/>
        </p:nvSpPr>
        <p:spPr>
          <a:xfrm>
            <a:off x="4601362" y="1765157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Выбрать объекты на карте (поиск, фильтры)</a:t>
            </a:r>
          </a:p>
        </p:txBody>
      </p:sp>
      <p:sp>
        <p:nvSpPr>
          <p:cNvPr id="51" name="!!tb_G2"/>
          <p:cNvSpPr/>
          <p:nvPr/>
        </p:nvSpPr>
        <p:spPr>
          <a:xfrm>
            <a:off x="6036970" y="1465275"/>
            <a:ext cx="319024" cy="3190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52" name="!!tb_P2"/>
          <p:cNvSpPr/>
          <p:nvPr/>
        </p:nvSpPr>
        <p:spPr>
          <a:xfrm>
            <a:off x="6555384" y="3717584"/>
            <a:ext cx="1515364" cy="6635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Построить маршрут и сформировать карточки объектов</a:t>
            </a:r>
          </a:p>
        </p:txBody>
      </p:sp>
      <p:sp>
        <p:nvSpPr>
          <p:cNvPr id="53" name="!!tb_T4"/>
          <p:cNvSpPr/>
          <p:nvPr/>
        </p:nvSpPr>
        <p:spPr>
          <a:xfrm>
            <a:off x="7951114" y="1318524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</a:rPr>
              <a:t>Изучить карточку: история, архивные фото, 3D-просмотр</a:t>
            </a:r>
          </a:p>
        </p:txBody>
      </p:sp>
      <p:sp>
        <p:nvSpPr>
          <p:cNvPr id="54" name="!!tb_T5"/>
          <p:cNvSpPr/>
          <p:nvPr/>
        </p:nvSpPr>
        <p:spPr>
          <a:xfrm>
            <a:off x="9306966" y="1318524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Пройти маршрут с аудиогидом</a:t>
            </a:r>
          </a:p>
        </p:txBody>
      </p:sp>
      <p:sp>
        <p:nvSpPr>
          <p:cNvPr id="55" name="!!tb_G3"/>
          <p:cNvSpPr/>
          <p:nvPr/>
        </p:nvSpPr>
        <p:spPr>
          <a:xfrm>
            <a:off x="10981842" y="1465275"/>
            <a:ext cx="319024" cy="3190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56" name="!!tb_G3_t"/>
          <p:cNvSpPr txBox="1"/>
          <p:nvPr/>
        </p:nvSpPr>
        <p:spPr>
          <a:xfrm>
            <a:off x="10578277" y="967597"/>
            <a:ext cx="1126154" cy="49129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Хочет поделиться своим объектом?</a:t>
            </a:r>
          </a:p>
        </p:txBody>
      </p:sp>
      <p:sp>
        <p:nvSpPr>
          <p:cNvPr id="57" name="!!tb_E1"/>
          <p:cNvSpPr/>
          <p:nvPr/>
        </p:nvSpPr>
        <p:spPr>
          <a:xfrm>
            <a:off x="12143089" y="1509938"/>
            <a:ext cx="229697" cy="22969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!!tb_E1_t"/>
          <p:cNvSpPr txBox="1"/>
          <p:nvPr/>
        </p:nvSpPr>
        <p:spPr>
          <a:xfrm>
            <a:off x="11726763" y="1746016"/>
            <a:ext cx="1126154" cy="26798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Объекты посещены</a:t>
            </a:r>
          </a:p>
        </p:txBody>
      </p:sp>
      <p:sp>
        <p:nvSpPr>
          <p:cNvPr id="59" name="!!tb_A1"/>
          <p:cNvSpPr/>
          <p:nvPr/>
        </p:nvSpPr>
        <p:spPr>
          <a:xfrm>
            <a:off x="10503306" y="2722229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</a:rPr>
              <a:t>Заполнить заявку: место, дата, источник, фото</a:t>
            </a:r>
          </a:p>
        </p:txBody>
      </p:sp>
      <p:sp>
        <p:nvSpPr>
          <p:cNvPr id="60" name="!!tb_P3"/>
          <p:cNvSpPr/>
          <p:nvPr/>
        </p:nvSpPr>
        <p:spPr>
          <a:xfrm>
            <a:off x="11779402" y="3743106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Зарегистрировать заявку (статус «На модерации»)</a:t>
            </a:r>
          </a:p>
        </p:txBody>
      </p:sp>
      <p:sp>
        <p:nvSpPr>
          <p:cNvPr id="61" name="!!tb_M1"/>
          <p:cNvSpPr/>
          <p:nvPr/>
        </p:nvSpPr>
        <p:spPr>
          <a:xfrm>
            <a:off x="13055498" y="5625348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950" b="0">
                <a:solidFill>
                  <a:srgbClr val="000000"/>
                </a:solidFill>
                <a:latin typeface="Times New Roman"/>
              </a:rPr>
              <a:t>Проверить достоверность, источник и дубликаты</a:t>
            </a:r>
          </a:p>
        </p:txBody>
      </p:sp>
      <p:sp>
        <p:nvSpPr>
          <p:cNvPr id="62" name="!!tb_G4"/>
          <p:cNvSpPr/>
          <p:nvPr/>
        </p:nvSpPr>
        <p:spPr>
          <a:xfrm>
            <a:off x="14730374" y="5772099"/>
            <a:ext cx="319024" cy="3190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63" name="!!tb_G4_t"/>
          <p:cNvSpPr txBox="1"/>
          <p:nvPr/>
        </p:nvSpPr>
        <p:spPr>
          <a:xfrm>
            <a:off x="14741540" y="6033698"/>
            <a:ext cx="1126154" cy="26798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Решение по заявке?</a:t>
            </a:r>
          </a:p>
        </p:txBody>
      </p:sp>
      <p:sp>
        <p:nvSpPr>
          <p:cNvPr id="64" name="!!tb_P4"/>
          <p:cNvSpPr/>
          <p:nvPr/>
        </p:nvSpPr>
        <p:spPr>
          <a:xfrm>
            <a:off x="14251838" y="3743106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Опубликовать объект на карте</a:t>
            </a:r>
          </a:p>
        </p:txBody>
      </p:sp>
      <p:sp>
        <p:nvSpPr>
          <p:cNvPr id="65" name="!!tb_M2"/>
          <p:cNvSpPr/>
          <p:nvPr/>
        </p:nvSpPr>
        <p:spPr>
          <a:xfrm>
            <a:off x="15767202" y="5625348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Указать причину отказа</a:t>
            </a:r>
          </a:p>
        </p:txBody>
      </p:sp>
      <p:sp>
        <p:nvSpPr>
          <p:cNvPr id="66" name="!!tb_P6"/>
          <p:cNvSpPr/>
          <p:nvPr/>
        </p:nvSpPr>
        <p:spPr>
          <a:xfrm>
            <a:off x="15767202" y="3743106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Уведомить автора о решении</a:t>
            </a:r>
          </a:p>
        </p:txBody>
      </p:sp>
      <p:sp>
        <p:nvSpPr>
          <p:cNvPr id="67" name="!!tb_E3"/>
          <p:cNvSpPr/>
          <p:nvPr/>
        </p:nvSpPr>
        <p:spPr>
          <a:xfrm>
            <a:off x="16290401" y="2913644"/>
            <a:ext cx="229697" cy="22969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!!tb_E3_t"/>
          <p:cNvSpPr txBox="1"/>
          <p:nvPr/>
        </p:nvSpPr>
        <p:spPr>
          <a:xfrm>
            <a:off x="16280831" y="2894502"/>
            <a:ext cx="1205910" cy="26798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Автор получил решение</a:t>
            </a:r>
          </a:p>
        </p:txBody>
      </p:sp>
      <p:sp>
        <p:nvSpPr>
          <p:cNvPr id="69" name="!!tb_DS"/>
          <p:cNvSpPr/>
          <p:nvPr/>
        </p:nvSpPr>
        <p:spPr>
          <a:xfrm>
            <a:off x="9546234" y="4751222"/>
            <a:ext cx="319024" cy="319024"/>
          </a:xfrm>
          <a:prstGeom prst="ca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!!tb_DS_t"/>
          <p:cNvSpPr txBox="1"/>
          <p:nvPr/>
        </p:nvSpPr>
        <p:spPr>
          <a:xfrm>
            <a:off x="9115551" y="5102148"/>
            <a:ext cx="1180388" cy="2552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Единый реестр объектов наследия</a:t>
            </a:r>
          </a:p>
        </p:txBody>
      </p:sp>
      <p:sp>
        <p:nvSpPr>
          <p:cNvPr id="71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7</a:t>
            </a:r>
          </a:p>
        </p:txBody>
      </p:sp>
      <p:sp>
        <p:nvSpPr>
          <p:cNvPr id="72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МОДЕЛЬ ПРОЦЕССА «TO BE»</a:t>
            </a:r>
          </a:p>
        </p:txBody>
      </p:sp>
      <p:sp>
        <p:nvSpPr>
          <p:cNvPr id="3" name="!!tb_P_Platform"/>
          <p:cNvSpPr/>
          <p:nvPr/>
        </p:nvSpPr>
        <p:spPr>
          <a:xfrm>
            <a:off x="-5489346" y="731520"/>
            <a:ext cx="17498466" cy="5742432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b_P_Platform_lbl"/>
          <p:cNvSpPr/>
          <p:nvPr/>
        </p:nvSpPr>
        <p:spPr>
          <a:xfrm>
            <a:off x="-5489346" y="731520"/>
            <a:ext cx="191414" cy="5742432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Веб-платформа исторического наследия Астраханской области</a:t>
            </a:r>
          </a:p>
        </p:txBody>
      </p:sp>
      <p:sp>
        <p:nvSpPr>
          <p:cNvPr id="5" name="!!tb_L_Tourist"/>
          <p:cNvSpPr/>
          <p:nvPr/>
        </p:nvSpPr>
        <p:spPr>
          <a:xfrm>
            <a:off x="-5297931" y="731520"/>
            <a:ext cx="17307052" cy="178653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!!tb_L_Tourist_lbl"/>
          <p:cNvSpPr/>
          <p:nvPr/>
        </p:nvSpPr>
        <p:spPr>
          <a:xfrm>
            <a:off x="-5297931" y="731520"/>
            <a:ext cx="191414" cy="178653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</a:rPr>
              <a:t>Турист (гость)</a:t>
            </a:r>
          </a:p>
        </p:txBody>
      </p:sp>
      <p:sp>
        <p:nvSpPr>
          <p:cNvPr id="7" name="!!tb_L_Author"/>
          <p:cNvSpPr/>
          <p:nvPr/>
        </p:nvSpPr>
        <p:spPr>
          <a:xfrm>
            <a:off x="-5297931" y="2518054"/>
            <a:ext cx="17307052" cy="102087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!!tb_L_Author_lbl"/>
          <p:cNvSpPr/>
          <p:nvPr/>
        </p:nvSpPr>
        <p:spPr>
          <a:xfrm>
            <a:off x="-5297931" y="2518054"/>
            <a:ext cx="191414" cy="102087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</a:rPr>
              <a:t>Автор материала</a:t>
            </a:r>
          </a:p>
        </p:txBody>
      </p:sp>
      <p:sp>
        <p:nvSpPr>
          <p:cNvPr id="9" name="!!tb_L_Platform"/>
          <p:cNvSpPr/>
          <p:nvPr/>
        </p:nvSpPr>
        <p:spPr>
          <a:xfrm>
            <a:off x="-5297931" y="3538931"/>
            <a:ext cx="17307052" cy="185033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tb_L_Platform_lbl"/>
          <p:cNvSpPr/>
          <p:nvPr/>
        </p:nvSpPr>
        <p:spPr>
          <a:xfrm>
            <a:off x="-5297931" y="3538931"/>
            <a:ext cx="191414" cy="185033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Веб-платформа (система)</a:t>
            </a:r>
          </a:p>
        </p:txBody>
      </p:sp>
      <p:sp>
        <p:nvSpPr>
          <p:cNvPr id="11" name="!!tb_L_Moder"/>
          <p:cNvSpPr/>
          <p:nvPr/>
        </p:nvSpPr>
        <p:spPr>
          <a:xfrm>
            <a:off x="-5297931" y="5389270"/>
            <a:ext cx="17307052" cy="1084681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tb_L_Moder_lbl"/>
          <p:cNvSpPr/>
          <p:nvPr/>
        </p:nvSpPr>
        <p:spPr>
          <a:xfrm>
            <a:off x="-5297931" y="5389270"/>
            <a:ext cx="191414" cy="1084681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4000" tIns="2000" rIns="4000" bIns="20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Модератор / эксперт АНО</a:t>
            </a:r>
          </a:p>
        </p:txBody>
      </p:sp>
      <p:sp>
        <p:nvSpPr>
          <p:cNvPr id="13" name="!!tb_F1"/>
          <p:cNvSpPr/>
          <p:nvPr/>
        </p:nvSpPr>
        <p:spPr>
          <a:xfrm>
            <a:off x="-4704547" y="1624787"/>
            <a:ext cx="204176" cy="0"/>
          </a:xfrm>
          <a:custGeom>
            <a:avLst/>
            <a:gdLst/>
            <a:ahLst/>
            <a:cxnLst/>
            <a:rect l="l" t="t" r="r" b="b"/>
            <a:pathLst>
              <a:path w="204176">
                <a:moveTo>
                  <a:pt x="0" y="0"/>
                </a:moveTo>
                <a:lnTo>
                  <a:pt x="20417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tb_F2"/>
          <p:cNvSpPr/>
          <p:nvPr/>
        </p:nvSpPr>
        <p:spPr>
          <a:xfrm>
            <a:off x="-3224275" y="1624787"/>
            <a:ext cx="239268" cy="2118319"/>
          </a:xfrm>
          <a:custGeom>
            <a:avLst/>
            <a:gdLst/>
            <a:ahLst/>
            <a:cxnLst/>
            <a:rect l="l" t="t" r="r" b="b"/>
            <a:pathLst>
              <a:path w="239268" h="2118319">
                <a:moveTo>
                  <a:pt x="0" y="0"/>
                </a:moveTo>
                <a:lnTo>
                  <a:pt x="239268" y="0"/>
                </a:lnTo>
                <a:lnTo>
                  <a:pt x="239268" y="2118319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tb_F3"/>
          <p:cNvSpPr/>
          <p:nvPr/>
        </p:nvSpPr>
        <p:spPr>
          <a:xfrm>
            <a:off x="-2346959" y="1624787"/>
            <a:ext cx="478536" cy="2424582"/>
          </a:xfrm>
          <a:custGeom>
            <a:avLst/>
            <a:gdLst/>
            <a:ahLst/>
            <a:cxnLst/>
            <a:rect l="l" t="t" r="r" b="b"/>
            <a:pathLst>
              <a:path w="478536" h="2424582">
                <a:moveTo>
                  <a:pt x="0" y="2424582"/>
                </a:moveTo>
                <a:lnTo>
                  <a:pt x="239268" y="2424582"/>
                </a:lnTo>
                <a:lnTo>
                  <a:pt x="239268" y="0"/>
                </a:lnTo>
                <a:lnTo>
                  <a:pt x="47853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tb_F4"/>
          <p:cNvSpPr/>
          <p:nvPr/>
        </p:nvSpPr>
        <p:spPr>
          <a:xfrm>
            <a:off x="-1708911" y="1178153"/>
            <a:ext cx="638048" cy="287122"/>
          </a:xfrm>
          <a:custGeom>
            <a:avLst/>
            <a:gdLst/>
            <a:ahLst/>
            <a:cxnLst/>
            <a:rect l="l" t="t" r="r" b="b"/>
            <a:pathLst>
              <a:path w="638048" h="287122">
                <a:moveTo>
                  <a:pt x="0" y="287122"/>
                </a:moveTo>
                <a:lnTo>
                  <a:pt x="0" y="0"/>
                </a:lnTo>
                <a:lnTo>
                  <a:pt x="638048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tb_F4_t"/>
          <p:cNvSpPr txBox="1"/>
          <p:nvPr/>
        </p:nvSpPr>
        <p:spPr>
          <a:xfrm>
            <a:off x="-1852472" y="1044163"/>
            <a:ext cx="845413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Готовый</a:t>
            </a:r>
          </a:p>
        </p:txBody>
      </p:sp>
      <p:sp>
        <p:nvSpPr>
          <p:cNvPr id="18" name="!!tb_F5"/>
          <p:cNvSpPr/>
          <p:nvPr/>
        </p:nvSpPr>
        <p:spPr>
          <a:xfrm>
            <a:off x="-1708911" y="1784299"/>
            <a:ext cx="638048" cy="287121"/>
          </a:xfrm>
          <a:custGeom>
            <a:avLst/>
            <a:gdLst/>
            <a:ahLst/>
            <a:cxnLst/>
            <a:rect l="l" t="t" r="r" b="b"/>
            <a:pathLst>
              <a:path w="638048" h="287121">
                <a:moveTo>
                  <a:pt x="0" y="0"/>
                </a:moveTo>
                <a:lnTo>
                  <a:pt x="0" y="287121"/>
                </a:lnTo>
                <a:lnTo>
                  <a:pt x="638048" y="287121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tb_F5_t"/>
          <p:cNvSpPr txBox="1"/>
          <p:nvPr/>
        </p:nvSpPr>
        <p:spPr>
          <a:xfrm>
            <a:off x="-1852472" y="1937430"/>
            <a:ext cx="765657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Свой</a:t>
            </a:r>
          </a:p>
        </p:txBody>
      </p:sp>
      <p:sp>
        <p:nvSpPr>
          <p:cNvPr id="20" name="!!tb_F6"/>
          <p:cNvSpPr/>
          <p:nvPr/>
        </p:nvSpPr>
        <p:spPr>
          <a:xfrm>
            <a:off x="205232" y="1178153"/>
            <a:ext cx="319024" cy="287122"/>
          </a:xfrm>
          <a:custGeom>
            <a:avLst/>
            <a:gdLst/>
            <a:ahLst/>
            <a:cxnLst/>
            <a:rect l="l" t="t" r="r" b="b"/>
            <a:pathLst>
              <a:path w="319024" h="287122">
                <a:moveTo>
                  <a:pt x="0" y="0"/>
                </a:moveTo>
                <a:lnTo>
                  <a:pt x="319024" y="0"/>
                </a:lnTo>
                <a:lnTo>
                  <a:pt x="319024" y="287122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tb_F7"/>
          <p:cNvSpPr/>
          <p:nvPr/>
        </p:nvSpPr>
        <p:spPr>
          <a:xfrm>
            <a:off x="205232" y="1784299"/>
            <a:ext cx="319024" cy="287121"/>
          </a:xfrm>
          <a:custGeom>
            <a:avLst/>
            <a:gdLst/>
            <a:ahLst/>
            <a:cxnLst/>
            <a:rect l="l" t="t" r="r" b="b"/>
            <a:pathLst>
              <a:path w="319024" h="287121">
                <a:moveTo>
                  <a:pt x="0" y="287121"/>
                </a:moveTo>
                <a:lnTo>
                  <a:pt x="319024" y="287121"/>
                </a:lnTo>
                <a:lnTo>
                  <a:pt x="319024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tb_F8"/>
          <p:cNvSpPr/>
          <p:nvPr/>
        </p:nvSpPr>
        <p:spPr>
          <a:xfrm>
            <a:off x="683768" y="1624787"/>
            <a:ext cx="957072" cy="2092797"/>
          </a:xfrm>
          <a:custGeom>
            <a:avLst/>
            <a:gdLst/>
            <a:ahLst/>
            <a:cxnLst/>
            <a:rect l="l" t="t" r="r" b="b"/>
            <a:pathLst>
              <a:path w="957072" h="2092797">
                <a:moveTo>
                  <a:pt x="0" y="0"/>
                </a:moveTo>
                <a:lnTo>
                  <a:pt x="957072" y="0"/>
                </a:lnTo>
                <a:lnTo>
                  <a:pt x="957072" y="2092797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tb_F9"/>
          <p:cNvSpPr/>
          <p:nvPr/>
        </p:nvSpPr>
        <p:spPr>
          <a:xfrm>
            <a:off x="2398522" y="1931050"/>
            <a:ext cx="518414" cy="2118319"/>
          </a:xfrm>
          <a:custGeom>
            <a:avLst/>
            <a:gdLst/>
            <a:ahLst/>
            <a:cxnLst/>
            <a:rect l="l" t="t" r="r" b="b"/>
            <a:pathLst>
              <a:path w="518414" h="2118319">
                <a:moveTo>
                  <a:pt x="0" y="2118319"/>
                </a:moveTo>
                <a:lnTo>
                  <a:pt x="518414" y="2118319"/>
                </a:lnTo>
                <a:lnTo>
                  <a:pt x="518414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tb_F10"/>
          <p:cNvSpPr/>
          <p:nvPr/>
        </p:nvSpPr>
        <p:spPr>
          <a:xfrm>
            <a:off x="3554984" y="1624787"/>
            <a:ext cx="79756" cy="0"/>
          </a:xfrm>
          <a:custGeom>
            <a:avLst/>
            <a:gdLst/>
            <a:ahLst/>
            <a:cxnLst/>
            <a:rect l="l" t="t" r="r" b="b"/>
            <a:pathLst>
              <a:path w="79756">
                <a:moveTo>
                  <a:pt x="0" y="0"/>
                </a:moveTo>
                <a:lnTo>
                  <a:pt x="79756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tb_F11"/>
          <p:cNvSpPr/>
          <p:nvPr/>
        </p:nvSpPr>
        <p:spPr>
          <a:xfrm>
            <a:off x="4910836" y="1624787"/>
            <a:ext cx="398780" cy="0"/>
          </a:xfrm>
          <a:custGeom>
            <a:avLst/>
            <a:gdLst/>
            <a:ahLst/>
            <a:cxnLst/>
            <a:rect l="l" t="t" r="r" b="b"/>
            <a:pathLst>
              <a:path w="398780">
                <a:moveTo>
                  <a:pt x="0" y="0"/>
                </a:moveTo>
                <a:lnTo>
                  <a:pt x="39878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tb_F12"/>
          <p:cNvSpPr/>
          <p:nvPr/>
        </p:nvSpPr>
        <p:spPr>
          <a:xfrm>
            <a:off x="5628640" y="1624787"/>
            <a:ext cx="842223" cy="0"/>
          </a:xfrm>
          <a:custGeom>
            <a:avLst/>
            <a:gdLst/>
            <a:ahLst/>
            <a:cxnLst/>
            <a:rect l="l" t="t" r="r" b="b"/>
            <a:pathLst>
              <a:path w="842223">
                <a:moveTo>
                  <a:pt x="0" y="0"/>
                </a:moveTo>
                <a:lnTo>
                  <a:pt x="842223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tb_F12_t"/>
          <p:cNvSpPr txBox="1"/>
          <p:nvPr/>
        </p:nvSpPr>
        <p:spPr>
          <a:xfrm>
            <a:off x="5644591" y="1490797"/>
            <a:ext cx="646023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Нет</a:t>
            </a:r>
          </a:p>
        </p:txBody>
      </p:sp>
      <p:sp>
        <p:nvSpPr>
          <p:cNvPr id="28" name="!!tb_F13"/>
          <p:cNvSpPr/>
          <p:nvPr/>
        </p:nvSpPr>
        <p:spPr>
          <a:xfrm>
            <a:off x="5469128" y="1784299"/>
            <a:ext cx="0" cy="937930"/>
          </a:xfrm>
          <a:custGeom>
            <a:avLst/>
            <a:gdLst/>
            <a:ahLst/>
            <a:cxnLst/>
            <a:rect l="l" t="t" r="r" b="b"/>
            <a:pathLst>
              <a:path h="937930">
                <a:moveTo>
                  <a:pt x="0" y="0"/>
                </a:moveTo>
                <a:lnTo>
                  <a:pt x="0" y="93793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tb_F13_t"/>
          <p:cNvSpPr txBox="1"/>
          <p:nvPr/>
        </p:nvSpPr>
        <p:spPr>
          <a:xfrm>
            <a:off x="5293664" y="2243693"/>
            <a:ext cx="606145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Да</a:t>
            </a:r>
          </a:p>
        </p:txBody>
      </p:sp>
      <p:sp>
        <p:nvSpPr>
          <p:cNvPr id="30" name="!!tb_F14"/>
          <p:cNvSpPr/>
          <p:nvPr/>
        </p:nvSpPr>
        <p:spPr>
          <a:xfrm>
            <a:off x="6107176" y="3028492"/>
            <a:ext cx="638048" cy="714614"/>
          </a:xfrm>
          <a:custGeom>
            <a:avLst/>
            <a:gdLst/>
            <a:ahLst/>
            <a:cxnLst/>
            <a:rect l="l" t="t" r="r" b="b"/>
            <a:pathLst>
              <a:path w="638048" h="714614">
                <a:moveTo>
                  <a:pt x="0" y="0"/>
                </a:moveTo>
                <a:lnTo>
                  <a:pt x="638048" y="0"/>
                </a:lnTo>
                <a:lnTo>
                  <a:pt x="638048" y="714614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tb_F15"/>
          <p:cNvSpPr/>
          <p:nvPr/>
        </p:nvSpPr>
        <p:spPr>
          <a:xfrm>
            <a:off x="7383272" y="4049369"/>
            <a:ext cx="638048" cy="1575979"/>
          </a:xfrm>
          <a:custGeom>
            <a:avLst/>
            <a:gdLst/>
            <a:ahLst/>
            <a:cxnLst/>
            <a:rect l="l" t="t" r="r" b="b"/>
            <a:pathLst>
              <a:path w="638048" h="1575979">
                <a:moveTo>
                  <a:pt x="0" y="0"/>
                </a:moveTo>
                <a:lnTo>
                  <a:pt x="638048" y="0"/>
                </a:lnTo>
                <a:lnTo>
                  <a:pt x="638048" y="1575979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tb_F16"/>
          <p:cNvSpPr/>
          <p:nvPr/>
        </p:nvSpPr>
        <p:spPr>
          <a:xfrm>
            <a:off x="8659368" y="5931611"/>
            <a:ext cx="398780" cy="0"/>
          </a:xfrm>
          <a:custGeom>
            <a:avLst/>
            <a:gdLst/>
            <a:ahLst/>
            <a:cxnLst/>
            <a:rect l="l" t="t" r="r" b="b"/>
            <a:pathLst>
              <a:path w="398780">
                <a:moveTo>
                  <a:pt x="0" y="0"/>
                </a:moveTo>
                <a:lnTo>
                  <a:pt x="39878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tb_F17"/>
          <p:cNvSpPr/>
          <p:nvPr/>
        </p:nvSpPr>
        <p:spPr>
          <a:xfrm>
            <a:off x="9217660" y="4355632"/>
            <a:ext cx="0" cy="1416467"/>
          </a:xfrm>
          <a:custGeom>
            <a:avLst/>
            <a:gdLst/>
            <a:ahLst/>
            <a:cxnLst/>
            <a:rect l="l" t="t" r="r" b="b"/>
            <a:pathLst>
              <a:path h="1416467">
                <a:moveTo>
                  <a:pt x="0" y="1416467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tb_F17_t"/>
          <p:cNvSpPr txBox="1"/>
          <p:nvPr/>
        </p:nvSpPr>
        <p:spPr>
          <a:xfrm>
            <a:off x="9042196" y="5178714"/>
            <a:ext cx="885291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Одобрить</a:t>
            </a:r>
          </a:p>
        </p:txBody>
      </p:sp>
      <p:sp>
        <p:nvSpPr>
          <p:cNvPr id="35" name="!!tb_F18"/>
          <p:cNvSpPr/>
          <p:nvPr/>
        </p:nvSpPr>
        <p:spPr>
          <a:xfrm>
            <a:off x="9377172" y="5931611"/>
            <a:ext cx="717804" cy="0"/>
          </a:xfrm>
          <a:custGeom>
            <a:avLst/>
            <a:gdLst/>
            <a:ahLst/>
            <a:cxnLst/>
            <a:rect l="l" t="t" r="r" b="b"/>
            <a:pathLst>
              <a:path w="717804">
                <a:moveTo>
                  <a:pt x="0" y="0"/>
                </a:moveTo>
                <a:lnTo>
                  <a:pt x="717804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!!tb_F18_t"/>
          <p:cNvSpPr txBox="1"/>
          <p:nvPr/>
        </p:nvSpPr>
        <p:spPr>
          <a:xfrm>
            <a:off x="9193733" y="5701913"/>
            <a:ext cx="925169" cy="14037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Отклонить</a:t>
            </a:r>
          </a:p>
        </p:txBody>
      </p:sp>
      <p:sp>
        <p:nvSpPr>
          <p:cNvPr id="37" name="!!tb_F19"/>
          <p:cNvSpPr/>
          <p:nvPr/>
        </p:nvSpPr>
        <p:spPr>
          <a:xfrm>
            <a:off x="9855708" y="4049369"/>
            <a:ext cx="239268" cy="0"/>
          </a:xfrm>
          <a:custGeom>
            <a:avLst/>
            <a:gdLst/>
            <a:ahLst/>
            <a:cxnLst/>
            <a:rect l="l" t="t" r="r" b="b"/>
            <a:pathLst>
              <a:path w="239268">
                <a:moveTo>
                  <a:pt x="0" y="0"/>
                </a:moveTo>
                <a:lnTo>
                  <a:pt x="239268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tb_F20"/>
          <p:cNvSpPr/>
          <p:nvPr/>
        </p:nvSpPr>
        <p:spPr>
          <a:xfrm>
            <a:off x="10733024" y="4355632"/>
            <a:ext cx="0" cy="1269716"/>
          </a:xfrm>
          <a:custGeom>
            <a:avLst/>
            <a:gdLst/>
            <a:ahLst/>
            <a:cxnLst/>
            <a:rect l="l" t="t" r="r" b="b"/>
            <a:pathLst>
              <a:path h="1269716">
                <a:moveTo>
                  <a:pt x="0" y="126971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!!tb_F22"/>
          <p:cNvSpPr/>
          <p:nvPr/>
        </p:nvSpPr>
        <p:spPr>
          <a:xfrm>
            <a:off x="10733024" y="3143341"/>
            <a:ext cx="0" cy="599765"/>
          </a:xfrm>
          <a:custGeom>
            <a:avLst/>
            <a:gdLst/>
            <a:ahLst/>
            <a:cxnLst/>
            <a:rect l="l" t="t" r="r" b="b"/>
            <a:pathLst>
              <a:path h="599765">
                <a:moveTo>
                  <a:pt x="0" y="59976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tb_DA1"/>
          <p:cNvSpPr/>
          <p:nvPr/>
        </p:nvSpPr>
        <p:spPr>
          <a:xfrm>
            <a:off x="1640840" y="4381154"/>
            <a:ext cx="2233168" cy="529580"/>
          </a:xfrm>
          <a:custGeom>
            <a:avLst/>
            <a:gdLst/>
            <a:ahLst/>
            <a:cxnLst/>
            <a:rect l="l" t="t" r="r" b="b"/>
            <a:pathLst>
              <a:path w="2233168" h="529580">
                <a:moveTo>
                  <a:pt x="2233168" y="529580"/>
                </a:moveTo>
                <a:lnTo>
                  <a:pt x="0" y="52958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!!tb_DA2"/>
          <p:cNvSpPr/>
          <p:nvPr/>
        </p:nvSpPr>
        <p:spPr>
          <a:xfrm>
            <a:off x="4193032" y="4355632"/>
            <a:ext cx="2552192" cy="555102"/>
          </a:xfrm>
          <a:custGeom>
            <a:avLst/>
            <a:gdLst/>
            <a:ahLst/>
            <a:cxnLst/>
            <a:rect l="l" t="t" r="r" b="b"/>
            <a:pathLst>
              <a:path w="2552192" h="555102">
                <a:moveTo>
                  <a:pt x="2552192" y="0"/>
                </a:moveTo>
                <a:lnTo>
                  <a:pt x="2552192" y="555102"/>
                </a:lnTo>
                <a:lnTo>
                  <a:pt x="0" y="555102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!!tb_DA3"/>
          <p:cNvSpPr/>
          <p:nvPr/>
        </p:nvSpPr>
        <p:spPr>
          <a:xfrm>
            <a:off x="4193032" y="4355632"/>
            <a:ext cx="4625848" cy="650809"/>
          </a:xfrm>
          <a:custGeom>
            <a:avLst/>
            <a:gdLst/>
            <a:ahLst/>
            <a:cxnLst/>
            <a:rect l="l" t="t" r="r" b="b"/>
            <a:pathLst>
              <a:path w="4625848" h="650809">
                <a:moveTo>
                  <a:pt x="4625848" y="0"/>
                </a:moveTo>
                <a:lnTo>
                  <a:pt x="4625848" y="650809"/>
                </a:lnTo>
                <a:lnTo>
                  <a:pt x="0" y="650809"/>
                </a:lnTo>
              </a:path>
            </a:pathLst>
          </a:custGeom>
          <a:noFill/>
          <a:ln w="9525">
            <a:solidFill>
              <a:srgbClr val="000000"/>
            </a:solidFill>
            <a:prstDash val="sysDot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!!tb_S"/>
          <p:cNvSpPr/>
          <p:nvPr/>
        </p:nvSpPr>
        <p:spPr>
          <a:xfrm>
            <a:off x="-4934244" y="1509938"/>
            <a:ext cx="229697" cy="2296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tb_S_t"/>
          <p:cNvSpPr txBox="1"/>
          <p:nvPr/>
        </p:nvSpPr>
        <p:spPr>
          <a:xfrm>
            <a:off x="-5084185" y="1746016"/>
            <a:ext cx="708233" cy="35730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900" b="0" i="0">
                <a:solidFill>
                  <a:srgbClr val="000000"/>
                </a:solidFill>
                <a:latin typeface="Times New Roman"/>
              </a:rPr>
              <a:t>Возник интерес к объекту</a:t>
            </a:r>
          </a:p>
        </p:txBody>
      </p:sp>
      <p:sp>
        <p:nvSpPr>
          <p:cNvPr id="45" name="!!tb_T1"/>
          <p:cNvSpPr/>
          <p:nvPr/>
        </p:nvSpPr>
        <p:spPr>
          <a:xfrm>
            <a:off x="-4500371" y="1318524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Открыть веб-платформу</a:t>
            </a:r>
          </a:p>
        </p:txBody>
      </p:sp>
      <p:sp>
        <p:nvSpPr>
          <p:cNvPr id="46" name="!!tb_P1"/>
          <p:cNvSpPr/>
          <p:nvPr/>
        </p:nvSpPr>
        <p:spPr>
          <a:xfrm>
            <a:off x="-3623055" y="3743106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950" b="0">
                <a:solidFill>
                  <a:srgbClr val="000000"/>
                </a:solidFill>
                <a:latin typeface="Times New Roman"/>
              </a:rPr>
              <a:t>Показать объекты на интерактивной карте, включая утраченные</a:t>
            </a:r>
          </a:p>
        </p:txBody>
      </p:sp>
      <p:sp>
        <p:nvSpPr>
          <p:cNvPr id="47" name="!!tb_G1"/>
          <p:cNvSpPr/>
          <p:nvPr/>
        </p:nvSpPr>
        <p:spPr>
          <a:xfrm>
            <a:off x="-1868423" y="1465275"/>
            <a:ext cx="319024" cy="3190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48" name="!!tb_G1_t"/>
          <p:cNvSpPr txBox="1"/>
          <p:nvPr/>
        </p:nvSpPr>
        <p:spPr>
          <a:xfrm>
            <a:off x="-2614940" y="1203675"/>
            <a:ext cx="1046398" cy="26798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Способ знакомства?</a:t>
            </a:r>
          </a:p>
        </p:txBody>
      </p:sp>
      <p:sp>
        <p:nvSpPr>
          <p:cNvPr id="49" name="!!tb_T2"/>
          <p:cNvSpPr/>
          <p:nvPr/>
        </p:nvSpPr>
        <p:spPr>
          <a:xfrm>
            <a:off x="-1070863" y="871890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Выбрать готовый тематический маршрут</a:t>
            </a:r>
          </a:p>
        </p:txBody>
      </p:sp>
      <p:sp>
        <p:nvSpPr>
          <p:cNvPr id="50" name="!!tb_T3"/>
          <p:cNvSpPr/>
          <p:nvPr/>
        </p:nvSpPr>
        <p:spPr>
          <a:xfrm>
            <a:off x="-1070863" y="1765157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Выбрать объекты на карте (поиск, фильтры)</a:t>
            </a:r>
          </a:p>
        </p:txBody>
      </p:sp>
      <p:sp>
        <p:nvSpPr>
          <p:cNvPr id="51" name="!!tb_G2"/>
          <p:cNvSpPr/>
          <p:nvPr/>
        </p:nvSpPr>
        <p:spPr>
          <a:xfrm>
            <a:off x="364744" y="1465275"/>
            <a:ext cx="319024" cy="3190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52" name="!!tb_P2"/>
          <p:cNvSpPr/>
          <p:nvPr/>
        </p:nvSpPr>
        <p:spPr>
          <a:xfrm>
            <a:off x="883158" y="3717584"/>
            <a:ext cx="1515364" cy="6635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Построить маршрут и сформировать карточки объектов</a:t>
            </a:r>
          </a:p>
        </p:txBody>
      </p:sp>
      <p:sp>
        <p:nvSpPr>
          <p:cNvPr id="53" name="!!tb_T4"/>
          <p:cNvSpPr/>
          <p:nvPr/>
        </p:nvSpPr>
        <p:spPr>
          <a:xfrm>
            <a:off x="2278888" y="1318524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</a:rPr>
              <a:t>Изучить карточку: история, архивные фото, 3D-просмотр</a:t>
            </a:r>
          </a:p>
        </p:txBody>
      </p:sp>
      <p:sp>
        <p:nvSpPr>
          <p:cNvPr id="54" name="!!tb_T5"/>
          <p:cNvSpPr/>
          <p:nvPr/>
        </p:nvSpPr>
        <p:spPr>
          <a:xfrm>
            <a:off x="3634740" y="1318524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Пройти маршрут с аудиогидом</a:t>
            </a:r>
          </a:p>
        </p:txBody>
      </p:sp>
      <p:sp>
        <p:nvSpPr>
          <p:cNvPr id="55" name="!!tb_G3"/>
          <p:cNvSpPr/>
          <p:nvPr/>
        </p:nvSpPr>
        <p:spPr>
          <a:xfrm>
            <a:off x="5309616" y="1465275"/>
            <a:ext cx="319024" cy="3190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56" name="!!tb_G3_t"/>
          <p:cNvSpPr txBox="1"/>
          <p:nvPr/>
        </p:nvSpPr>
        <p:spPr>
          <a:xfrm>
            <a:off x="4906050" y="967597"/>
            <a:ext cx="1126154" cy="49129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Хочет поделиться своим объектом?</a:t>
            </a:r>
          </a:p>
        </p:txBody>
      </p:sp>
      <p:sp>
        <p:nvSpPr>
          <p:cNvPr id="57" name="!!tb_E1"/>
          <p:cNvSpPr/>
          <p:nvPr/>
        </p:nvSpPr>
        <p:spPr>
          <a:xfrm>
            <a:off x="6470863" y="1509938"/>
            <a:ext cx="229697" cy="22969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!!tb_E1_t"/>
          <p:cNvSpPr txBox="1"/>
          <p:nvPr/>
        </p:nvSpPr>
        <p:spPr>
          <a:xfrm>
            <a:off x="6054537" y="1746016"/>
            <a:ext cx="1126154" cy="26798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Объекты посещены</a:t>
            </a:r>
          </a:p>
        </p:txBody>
      </p:sp>
      <p:sp>
        <p:nvSpPr>
          <p:cNvPr id="59" name="!!tb_A1"/>
          <p:cNvSpPr/>
          <p:nvPr/>
        </p:nvSpPr>
        <p:spPr>
          <a:xfrm>
            <a:off x="4831080" y="2722229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</a:rPr>
              <a:t>Заполнить заявку: место, дата, источник, фото</a:t>
            </a:r>
          </a:p>
        </p:txBody>
      </p:sp>
      <p:sp>
        <p:nvSpPr>
          <p:cNvPr id="60" name="!!tb_P3"/>
          <p:cNvSpPr/>
          <p:nvPr/>
        </p:nvSpPr>
        <p:spPr>
          <a:xfrm>
            <a:off x="6107176" y="3743106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Зарегистрировать заявку (статус «На модерации»)</a:t>
            </a:r>
          </a:p>
        </p:txBody>
      </p:sp>
      <p:sp>
        <p:nvSpPr>
          <p:cNvPr id="61" name="!!tb_M1"/>
          <p:cNvSpPr/>
          <p:nvPr/>
        </p:nvSpPr>
        <p:spPr>
          <a:xfrm>
            <a:off x="7383272" y="5625348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950" b="0">
                <a:solidFill>
                  <a:srgbClr val="000000"/>
                </a:solidFill>
                <a:latin typeface="Times New Roman"/>
              </a:rPr>
              <a:t>Проверить достоверность, источник и дубликаты</a:t>
            </a:r>
          </a:p>
        </p:txBody>
      </p:sp>
      <p:sp>
        <p:nvSpPr>
          <p:cNvPr id="62" name="!!tb_G4"/>
          <p:cNvSpPr/>
          <p:nvPr/>
        </p:nvSpPr>
        <p:spPr>
          <a:xfrm>
            <a:off x="9058148" y="5772099"/>
            <a:ext cx="319024" cy="3190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✕</a:t>
            </a:r>
          </a:p>
        </p:txBody>
      </p:sp>
      <p:sp>
        <p:nvSpPr>
          <p:cNvPr id="63" name="!!tb_G4_t"/>
          <p:cNvSpPr txBox="1"/>
          <p:nvPr/>
        </p:nvSpPr>
        <p:spPr>
          <a:xfrm>
            <a:off x="9069313" y="6033698"/>
            <a:ext cx="1126154" cy="26798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Решение по заявке?</a:t>
            </a:r>
          </a:p>
        </p:txBody>
      </p:sp>
      <p:sp>
        <p:nvSpPr>
          <p:cNvPr id="64" name="!!tb_P4"/>
          <p:cNvSpPr/>
          <p:nvPr/>
        </p:nvSpPr>
        <p:spPr>
          <a:xfrm>
            <a:off x="8579612" y="3743106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Опубликовать объект на карте</a:t>
            </a:r>
          </a:p>
        </p:txBody>
      </p:sp>
      <p:sp>
        <p:nvSpPr>
          <p:cNvPr id="65" name="!!tb_M2"/>
          <p:cNvSpPr/>
          <p:nvPr/>
        </p:nvSpPr>
        <p:spPr>
          <a:xfrm>
            <a:off x="10094976" y="5625348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Указать причину отказа</a:t>
            </a:r>
          </a:p>
        </p:txBody>
      </p:sp>
      <p:sp>
        <p:nvSpPr>
          <p:cNvPr id="66" name="!!tb_P6"/>
          <p:cNvSpPr/>
          <p:nvPr/>
        </p:nvSpPr>
        <p:spPr>
          <a:xfrm>
            <a:off x="10094976" y="3743106"/>
            <a:ext cx="1276096" cy="6125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" tIns="2000" rIns="4000" bIns="200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Уведомить автора о решении</a:t>
            </a:r>
          </a:p>
        </p:txBody>
      </p:sp>
      <p:sp>
        <p:nvSpPr>
          <p:cNvPr id="67" name="!!tb_E3"/>
          <p:cNvSpPr/>
          <p:nvPr/>
        </p:nvSpPr>
        <p:spPr>
          <a:xfrm>
            <a:off x="10618175" y="2913644"/>
            <a:ext cx="229697" cy="22969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!!tb_E3_t"/>
          <p:cNvSpPr txBox="1"/>
          <p:nvPr/>
        </p:nvSpPr>
        <p:spPr>
          <a:xfrm>
            <a:off x="10608604" y="2894502"/>
            <a:ext cx="1205910" cy="26798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Автор получил решение</a:t>
            </a:r>
          </a:p>
        </p:txBody>
      </p:sp>
      <p:sp>
        <p:nvSpPr>
          <p:cNvPr id="69" name="!!tb_DS"/>
          <p:cNvSpPr/>
          <p:nvPr/>
        </p:nvSpPr>
        <p:spPr>
          <a:xfrm>
            <a:off x="3874008" y="4751222"/>
            <a:ext cx="319024" cy="319024"/>
          </a:xfrm>
          <a:prstGeom prst="ca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!!tb_DS_t"/>
          <p:cNvSpPr txBox="1"/>
          <p:nvPr/>
        </p:nvSpPr>
        <p:spPr>
          <a:xfrm>
            <a:off x="3443325" y="5102148"/>
            <a:ext cx="1180388" cy="255219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Единый реестр объектов наследия</a:t>
            </a:r>
          </a:p>
        </p:txBody>
      </p:sp>
      <p:sp>
        <p:nvSpPr>
          <p:cNvPr id="71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8</a:t>
            </a:r>
          </a:p>
        </p:txBody>
      </p:sp>
      <p:sp>
        <p:nvSpPr>
          <p:cNvPr id="72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СРАВНИТЕЛЬНАЯ ТАБЛИЦА АНАЛОГОВ</a:t>
            </a:r>
          </a:p>
        </p:txBody>
      </p:sp>
      <p:graphicFrame>
        <p:nvGraphicFramePr>
          <p:cNvPr id="3" name="!!an_tbl"/>
          <p:cNvGraphicFramePr>
            <a:graphicFrameLocks noGrp="1"/>
          </p:cNvGraphicFramePr>
          <p:nvPr/>
        </p:nvGraphicFramePr>
        <p:xfrm>
          <a:off x="403707" y="914400"/>
          <a:ext cx="9326879" cy="5266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3864"/>
                          </a:solidFill>
                          <a:latin typeface="Times New Roman"/>
                        </a:rPr>
                        <a:t>Критерий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3864"/>
                          </a:solidFill>
                          <a:latin typeface="Times New Roman"/>
                        </a:rPr>
                        <a:t>PastVu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3864"/>
                          </a:solidFill>
                          <a:latin typeface="Times New Roman"/>
                        </a:rPr>
                        <a:t>Яндекс.Карты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3864"/>
                          </a:solidFill>
                          <a:latin typeface="Times New Roman"/>
                        </a:rPr>
                        <a:t>2ГИС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Интерактивная 3D-реконструкция утраченных объектов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Просмотр исторической информации об объекте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+/-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Просмотр исторических фотографий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Модерация пользовательского контента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+/-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Формирование тематических туристических маршрутов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+/-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+/-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Централизованное хранение исторических материалов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+/-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Аудиогид с автоматическим сопровождением маршрута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!!an_ours"/>
          <p:cNvGraphicFramePr>
            <a:graphicFrameLocks noGrp="1"/>
          </p:cNvGraphicFramePr>
          <p:nvPr/>
        </p:nvGraphicFramePr>
        <p:xfrm>
          <a:off x="9730587" y="914400"/>
          <a:ext cx="2057400" cy="5266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3864"/>
                          </a:solidFill>
                          <a:latin typeface="Times New Roman"/>
                        </a:rPr>
                        <a:t>Разрабатываемая платформа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marL="54864" marR="54864" marT="27432" marB="27432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!!an_fr0"/>
          <p:cNvSpPr/>
          <p:nvPr/>
        </p:nvSpPr>
        <p:spPr>
          <a:xfrm>
            <a:off x="4609947" y="1627632"/>
            <a:ext cx="5074920" cy="548640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an_fr6"/>
          <p:cNvSpPr/>
          <p:nvPr/>
        </p:nvSpPr>
        <p:spPr>
          <a:xfrm>
            <a:off x="4609947" y="5577840"/>
            <a:ext cx="5074920" cy="548640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9</a:t>
            </a:r>
          </a:p>
        </p:txBody>
      </p:sp>
      <p:sp>
        <p:nvSpPr>
          <p:cNvPr id="13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ЦЕЛЬ И ЗАДАЧИ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1400"/>
              </a:spcAft>
            </a:pPr>
            <a:r>
              <a:rPr sz="2200" b="1" dirty="0" err="1">
                <a:solidFill>
                  <a:srgbClr val="1F3864"/>
                </a:solidFill>
                <a:latin typeface="Times New Roman"/>
              </a:rPr>
              <a:t>Цель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200" b="1" dirty="0" err="1">
                <a:solidFill>
                  <a:srgbClr val="1F3864"/>
                </a:solidFill>
                <a:latin typeface="Times New Roman"/>
              </a:rPr>
              <a:t>работы</a:t>
            </a:r>
            <a:r>
              <a:rPr sz="2200" b="0" dirty="0">
                <a:latin typeface="Times New Roman"/>
              </a:rPr>
              <a:t> — </a:t>
            </a:r>
            <a:r>
              <a:rPr sz="2200" b="0" dirty="0" err="1">
                <a:latin typeface="Times New Roman"/>
              </a:rPr>
              <a:t>повышение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доступности</a:t>
            </a:r>
            <a:r>
              <a:rPr sz="2200" b="0" dirty="0">
                <a:latin typeface="Times New Roman"/>
              </a:rPr>
              <a:t> и </a:t>
            </a:r>
            <a:r>
              <a:rPr sz="2200" b="0" dirty="0" err="1">
                <a:latin typeface="Times New Roman"/>
              </a:rPr>
              <a:t>достоверности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сведений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об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объектах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историко-культурного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наследия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Астраханской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области</a:t>
            </a:r>
            <a:r>
              <a:rPr sz="2200" b="0" dirty="0">
                <a:latin typeface="Times New Roman"/>
              </a:rPr>
              <a:t>, в </a:t>
            </a:r>
            <a:r>
              <a:rPr sz="2200" b="0" dirty="0" err="1">
                <a:latin typeface="Times New Roman"/>
              </a:rPr>
              <a:t>том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числе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утраченных</a:t>
            </a:r>
            <a:r>
              <a:rPr sz="2200" b="0" dirty="0">
                <a:latin typeface="Times New Roman"/>
              </a:rPr>
              <a:t>, и </a:t>
            </a:r>
            <a:r>
              <a:rPr sz="2200" b="0" dirty="0" err="1">
                <a:latin typeface="Times New Roman"/>
              </a:rPr>
              <a:t>сокращение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времени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на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их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поиск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за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счёт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создания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интерактивной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веб-платформы</a:t>
            </a:r>
            <a:r>
              <a:rPr sz="2200" b="0" dirty="0">
                <a:latin typeface="Times New Roman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sz="2200" b="1" dirty="0" err="1">
                <a:solidFill>
                  <a:srgbClr val="1F3864"/>
                </a:solidFill>
                <a:latin typeface="Times New Roman"/>
              </a:rPr>
              <a:t>Задачи</a:t>
            </a:r>
            <a:r>
              <a:rPr sz="2200" b="1" dirty="0">
                <a:solidFill>
                  <a:srgbClr val="1F3864"/>
                </a:solidFill>
                <a:latin typeface="Times New Roman"/>
              </a:rPr>
              <a:t>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dirty="0">
                <a:latin typeface="Times New Roman"/>
              </a:rPr>
              <a:t>1) </a:t>
            </a:r>
            <a:r>
              <a:rPr sz="2200" b="0" dirty="0" err="1">
                <a:latin typeface="Times New Roman"/>
              </a:rPr>
              <a:t>Провести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анализ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предметной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области</a:t>
            </a:r>
            <a:r>
              <a:rPr sz="2200" b="0" dirty="0">
                <a:latin typeface="Times New Roman"/>
              </a:rPr>
              <a:t>, </a:t>
            </a:r>
            <a:r>
              <a:rPr sz="2200" b="0" dirty="0" err="1">
                <a:latin typeface="Times New Roman"/>
              </a:rPr>
              <a:t>деятельности</a:t>
            </a:r>
            <a:r>
              <a:rPr sz="2200" b="0" dirty="0">
                <a:latin typeface="Times New Roman"/>
              </a:rPr>
              <a:t> АНО «</a:t>
            </a:r>
            <a:r>
              <a:rPr sz="2200" b="0" dirty="0" err="1">
                <a:latin typeface="Times New Roman"/>
              </a:rPr>
              <a:t>Центр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сохранения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архитектуры</a:t>
            </a:r>
            <a:r>
              <a:rPr sz="2200" b="0" dirty="0">
                <a:latin typeface="Times New Roman"/>
              </a:rPr>
              <a:t>» и </a:t>
            </a:r>
            <a:r>
              <a:rPr sz="2200" b="0" dirty="0" err="1">
                <a:latin typeface="Times New Roman"/>
              </a:rPr>
              <a:t>существующих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аналогов</a:t>
            </a:r>
            <a:r>
              <a:rPr sz="2200" b="0" dirty="0">
                <a:latin typeface="Times New Roman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dirty="0">
                <a:latin typeface="Times New Roman"/>
              </a:rPr>
              <a:t>2) </a:t>
            </a:r>
            <a:r>
              <a:rPr sz="2200" b="0" dirty="0" err="1">
                <a:latin typeface="Times New Roman"/>
              </a:rPr>
              <a:t>Построить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модели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бизнес-процессов</a:t>
            </a:r>
            <a:r>
              <a:rPr sz="2200" b="0" dirty="0">
                <a:latin typeface="Times New Roman"/>
              </a:rPr>
              <a:t> AS-IS и TO-BE, </a:t>
            </a:r>
            <a:r>
              <a:rPr sz="2200" b="0" dirty="0" err="1">
                <a:latin typeface="Times New Roman"/>
              </a:rPr>
              <a:t>выявить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проблемы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текущего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процесса</a:t>
            </a:r>
            <a:r>
              <a:rPr sz="2200" b="0" dirty="0">
                <a:latin typeface="Times New Roman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dirty="0">
                <a:latin typeface="Times New Roman"/>
              </a:rPr>
              <a:t>3) </a:t>
            </a:r>
            <a:r>
              <a:rPr sz="2200" b="0" dirty="0" err="1">
                <a:latin typeface="Times New Roman"/>
              </a:rPr>
              <a:t>Сформировать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требования</a:t>
            </a:r>
            <a:r>
              <a:rPr sz="2200" b="0" dirty="0">
                <a:latin typeface="Times New Roman"/>
              </a:rPr>
              <a:t> и </a:t>
            </a:r>
            <a:r>
              <a:rPr sz="2200" b="0" dirty="0" err="1">
                <a:latin typeface="Times New Roman"/>
              </a:rPr>
              <a:t>построить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диаграмму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вариантов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использования</a:t>
            </a:r>
            <a:r>
              <a:rPr sz="2200" b="0" dirty="0">
                <a:latin typeface="Times New Roman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dirty="0">
                <a:latin typeface="Times New Roman"/>
              </a:rPr>
              <a:t>4) </a:t>
            </a:r>
            <a:r>
              <a:rPr sz="2200" b="0" dirty="0" err="1">
                <a:latin typeface="Times New Roman"/>
              </a:rPr>
              <a:t>Спроектировать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инфологическую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модель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данных</a:t>
            </a:r>
            <a:r>
              <a:rPr sz="2200" b="0" dirty="0">
                <a:latin typeface="Times New Roman"/>
              </a:rPr>
              <a:t> и </a:t>
            </a:r>
            <a:r>
              <a:rPr sz="2200" b="0" dirty="0" err="1">
                <a:latin typeface="Times New Roman"/>
              </a:rPr>
              <a:t/>
            </a:r>
            <a:r>
              <a:rPr sz="2200" b="0" dirty="0">
                <a:latin typeface="Times New Roman"/>
              </a:rPr>
              <a:t/>
            </a:r>
            <a:r>
              <a:rPr sz="2200" b="0" dirty="0" err="1">
                <a:latin typeface="Times New Roman"/>
              </a:rPr>
              <a:t>архитектуру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платформы</a:t>
            </a:r>
            <a:r>
              <a:rPr sz="2200" b="0" dirty="0">
                <a:latin typeface="Times New Roman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dirty="0">
                <a:latin typeface="Times New Roman"/>
              </a:rPr>
              <a:t>5) </a:t>
            </a:r>
            <a:r>
              <a:rPr sz="2200" b="0" dirty="0" err="1">
                <a:latin typeface="Times New Roman"/>
              </a:rPr>
              <a:t>Реализовать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веб-платформу</a:t>
            </a:r>
            <a:r>
              <a:rPr sz="2200" b="0" dirty="0">
                <a:latin typeface="Times New Roman"/>
              </a:rPr>
              <a:t>: </a:t>
            </a:r>
            <a:r>
              <a:rPr sz="2200" b="0" dirty="0" err="1">
                <a:latin typeface="Times New Roman"/>
              </a:rPr>
              <a:t>интерактивную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карту</a:t>
            </a:r>
            <a:r>
              <a:rPr sz="2200" b="0" dirty="0">
                <a:latin typeface="Times New Roman"/>
              </a:rPr>
              <a:t>, </a:t>
            </a:r>
            <a:r>
              <a:rPr sz="2200" b="0" dirty="0" err="1">
                <a:latin typeface="Times New Roman"/>
              </a:rPr>
              <a:t>карточки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объектов</a:t>
            </a:r>
            <a:r>
              <a:rPr sz="2200" b="0" dirty="0">
                <a:latin typeface="Times New Roman"/>
              </a:rPr>
              <a:t>, </a:t>
            </a:r>
            <a:r>
              <a:rPr sz="2200" b="0" dirty="0" err="1">
                <a:latin typeface="Times New Roman"/>
              </a:rPr>
              <a:t>маршруты</a:t>
            </a:r>
            <a:r>
              <a:rPr sz="2200" b="0" dirty="0">
                <a:latin typeface="Times New Roman"/>
              </a:rPr>
              <a:t>, </a:t>
            </a:r>
            <a:r>
              <a:rPr sz="2200" b="0" dirty="0" err="1">
                <a:latin typeface="Times New Roman"/>
              </a:rPr>
              <a:t>модерацию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заявок</a:t>
            </a:r>
            <a:r>
              <a:rPr sz="2200" b="0" dirty="0">
                <a:latin typeface="Times New Roman"/>
              </a:rPr>
              <a:t> и </a:t>
            </a:r>
            <a:r>
              <a:rPr sz="2200" b="0" dirty="0" err="1">
                <a:latin typeface="Times New Roman"/>
              </a:rPr>
              <a:t>магазин</a:t>
            </a:r>
            <a:r>
              <a:rPr sz="2200" b="0" dirty="0">
                <a:latin typeface="Times New Roman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dirty="0">
                <a:latin typeface="Times New Roman"/>
              </a:rPr>
              <a:t>6) </a:t>
            </a:r>
            <a:r>
              <a:rPr sz="2200" b="0" dirty="0" err="1">
                <a:latin typeface="Times New Roman"/>
              </a:rPr>
              <a:t>Провести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тестирование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разработанной</a:t>
            </a:r>
            <a:r>
              <a:rPr sz="2200" b="0" dirty="0">
                <a:latin typeface="Times New Roman"/>
              </a:rPr>
              <a:t> </a:t>
            </a:r>
            <a:r>
              <a:rPr sz="2200" b="0" dirty="0" err="1">
                <a:latin typeface="Times New Roman"/>
              </a:rPr>
              <a:t>платформы</a:t>
            </a:r>
            <a:r>
              <a:rPr sz="2200" b="0" dirty="0">
                <a:latin typeface="Times New Roman"/>
              </a:rPr>
              <a:t>.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10</a:t>
            </a:r>
          </a:p>
        </p:txBody>
      </p:sp>
      <p:sp>
        <p:nvSpPr>
          <p:cNvPr id="5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ДИАГРАММА ВАРИАНТОВ ИСПОЛЬЗОВАНИЯ</a:t>
            </a:r>
          </a:p>
        </p:txBody>
      </p:sp>
      <p:sp>
        <p:nvSpPr>
          <p:cNvPr id="5" name="!!uc1_g0"/>
          <p:cNvSpPr/>
          <p:nvPr/>
        </p:nvSpPr>
        <p:spPr>
          <a:xfrm>
            <a:off x="1325880" y="1179576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!!uc1_g0_t"/>
          <p:cNvSpPr txBox="1"/>
          <p:nvPr/>
        </p:nvSpPr>
        <p:spPr>
          <a:xfrm>
            <a:off x="1388974" y="1179576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Просмотреть карту объектов (в т.ч. утраченных)</a:t>
            </a:r>
          </a:p>
        </p:txBody>
      </p:sp>
      <p:sp>
        <p:nvSpPr>
          <p:cNvPr id="7" name="!!uc1_g1"/>
          <p:cNvSpPr/>
          <p:nvPr/>
        </p:nvSpPr>
        <p:spPr>
          <a:xfrm>
            <a:off x="1325880" y="1929384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!!uc1_g1_t"/>
          <p:cNvSpPr txBox="1"/>
          <p:nvPr/>
        </p:nvSpPr>
        <p:spPr>
          <a:xfrm>
            <a:off x="1388974" y="1929384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Искать и фильтровать объекты</a:t>
            </a:r>
          </a:p>
        </p:txBody>
      </p:sp>
      <p:sp>
        <p:nvSpPr>
          <p:cNvPr id="9" name="!!uc1_g2"/>
          <p:cNvSpPr/>
          <p:nvPr/>
        </p:nvSpPr>
        <p:spPr>
          <a:xfrm>
            <a:off x="1325880" y="2679191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uc1_g2_t"/>
          <p:cNvSpPr txBox="1"/>
          <p:nvPr/>
        </p:nvSpPr>
        <p:spPr>
          <a:xfrm>
            <a:off x="1388974" y="2679191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Просмотреть карточку объекта</a:t>
            </a:r>
          </a:p>
        </p:txBody>
      </p:sp>
      <p:sp>
        <p:nvSpPr>
          <p:cNvPr id="11" name="!!uc1_g3"/>
          <p:cNvSpPr/>
          <p:nvPr/>
        </p:nvSpPr>
        <p:spPr>
          <a:xfrm>
            <a:off x="1325880" y="3429000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uc1_g3_t"/>
          <p:cNvSpPr txBox="1"/>
          <p:nvPr/>
        </p:nvSpPr>
        <p:spPr>
          <a:xfrm>
            <a:off x="1388974" y="3429000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Выбрать готовый маршрут</a:t>
            </a:r>
          </a:p>
        </p:txBody>
      </p:sp>
      <p:sp>
        <p:nvSpPr>
          <p:cNvPr id="13" name="!!uc1_g4"/>
          <p:cNvSpPr/>
          <p:nvPr/>
        </p:nvSpPr>
        <p:spPr>
          <a:xfrm>
            <a:off x="1325880" y="417880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c1_g4_t"/>
          <p:cNvSpPr txBox="1"/>
          <p:nvPr/>
        </p:nvSpPr>
        <p:spPr>
          <a:xfrm>
            <a:off x="1388974" y="417880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Построить свой маршрут</a:t>
            </a:r>
          </a:p>
        </p:txBody>
      </p:sp>
      <p:sp>
        <p:nvSpPr>
          <p:cNvPr id="15" name="!!uc1_g5"/>
          <p:cNvSpPr/>
          <p:nvPr/>
        </p:nvSpPr>
        <p:spPr>
          <a:xfrm>
            <a:off x="1325880" y="4928616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uc1_g5_t"/>
          <p:cNvSpPr txBox="1"/>
          <p:nvPr/>
        </p:nvSpPr>
        <p:spPr>
          <a:xfrm>
            <a:off x="1388974" y="4928616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Просмотреть каталог товаров</a:t>
            </a:r>
          </a:p>
        </p:txBody>
      </p:sp>
      <p:sp>
        <p:nvSpPr>
          <p:cNvPr id="17" name="!!uc1_g6"/>
          <p:cNvSpPr/>
          <p:nvPr/>
        </p:nvSpPr>
        <p:spPr>
          <a:xfrm>
            <a:off x="1325880" y="5678424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c1_g6_t"/>
          <p:cNvSpPr txBox="1"/>
          <p:nvPr/>
        </p:nvSpPr>
        <p:spPr>
          <a:xfrm>
            <a:off x="1388974" y="5678424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Зарегистрироваться</a:t>
            </a:r>
          </a:p>
        </p:txBody>
      </p:sp>
      <p:sp>
        <p:nvSpPr>
          <p:cNvPr id="19" name="!!uc1_ag_h"/>
          <p:cNvSpPr/>
          <p:nvPr/>
        </p:nvSpPr>
        <p:spPr>
          <a:xfrm>
            <a:off x="493776" y="338328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c1_ag_b"/>
          <p:cNvSpPr/>
          <p:nvPr/>
        </p:nvSpPr>
        <p:spPr>
          <a:xfrm>
            <a:off x="594360" y="3584448"/>
            <a:ext cx="0" cy="256032"/>
          </a:xfrm>
          <a:custGeom>
            <a:avLst/>
            <a:gdLst/>
            <a:ahLst/>
            <a:cxnLst/>
            <a:rect l="l" t="t" r="r" b="b"/>
            <a:pathLst>
              <a:path h="256032">
                <a:moveTo>
                  <a:pt x="0" y="0"/>
                </a:moveTo>
                <a:lnTo>
                  <a:pt x="0" y="256032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uc1_ag_a"/>
          <p:cNvSpPr/>
          <p:nvPr/>
        </p:nvSpPr>
        <p:spPr>
          <a:xfrm>
            <a:off x="411480" y="3675888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uc1_ag_l"/>
          <p:cNvSpPr/>
          <p:nvPr/>
        </p:nvSpPr>
        <p:spPr>
          <a:xfrm>
            <a:off x="438912" y="3840480"/>
            <a:ext cx="310896" cy="237744"/>
          </a:xfrm>
          <a:custGeom>
            <a:avLst/>
            <a:gdLst/>
            <a:ahLst/>
            <a:cxnLst/>
            <a:rect l="l" t="t" r="r" b="b"/>
            <a:pathLst>
              <a:path w="310896" h="237744">
                <a:moveTo>
                  <a:pt x="0" y="237744"/>
                </a:moveTo>
                <a:lnTo>
                  <a:pt x="155448" y="0"/>
                </a:lnTo>
                <a:lnTo>
                  <a:pt x="310896" y="237744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c1_ag_t"/>
          <p:cNvSpPr txBox="1"/>
          <p:nvPr/>
        </p:nvSpPr>
        <p:spPr>
          <a:xfrm>
            <a:off x="-361188" y="4096512"/>
            <a:ext cx="1911096" cy="27432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Гость</a:t>
            </a:r>
          </a:p>
        </p:txBody>
      </p:sp>
      <p:sp>
        <p:nvSpPr>
          <p:cNvPr id="24" name="!!uc1_ga0"/>
          <p:cNvSpPr/>
          <p:nvPr/>
        </p:nvSpPr>
        <p:spPr>
          <a:xfrm>
            <a:off x="795528" y="1481328"/>
            <a:ext cx="530352" cy="2194560"/>
          </a:xfrm>
          <a:custGeom>
            <a:avLst/>
            <a:gdLst/>
            <a:ahLst/>
            <a:cxnLst/>
            <a:rect l="l" t="t" r="r" b="b"/>
            <a:pathLst>
              <a:path w="530352" h="2194560">
                <a:moveTo>
                  <a:pt x="0" y="2194560"/>
                </a:moveTo>
                <a:lnTo>
                  <a:pt x="530352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c1_ga1"/>
          <p:cNvSpPr/>
          <p:nvPr/>
        </p:nvSpPr>
        <p:spPr>
          <a:xfrm>
            <a:off x="795528" y="2231136"/>
            <a:ext cx="530352" cy="1444752"/>
          </a:xfrm>
          <a:custGeom>
            <a:avLst/>
            <a:gdLst/>
            <a:ahLst/>
            <a:cxnLst/>
            <a:rect l="l" t="t" r="r" b="b"/>
            <a:pathLst>
              <a:path w="530352" h="1444752">
                <a:moveTo>
                  <a:pt x="0" y="1444752"/>
                </a:moveTo>
                <a:lnTo>
                  <a:pt x="530352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c1_ga2"/>
          <p:cNvSpPr/>
          <p:nvPr/>
        </p:nvSpPr>
        <p:spPr>
          <a:xfrm>
            <a:off x="795528" y="2980944"/>
            <a:ext cx="530352" cy="694944"/>
          </a:xfrm>
          <a:custGeom>
            <a:avLst/>
            <a:gdLst/>
            <a:ahLst/>
            <a:cxnLst/>
            <a:rect l="l" t="t" r="r" b="b"/>
            <a:pathLst>
              <a:path w="530352" h="694944">
                <a:moveTo>
                  <a:pt x="0" y="694944"/>
                </a:moveTo>
                <a:lnTo>
                  <a:pt x="530352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uc1_ga3"/>
          <p:cNvSpPr/>
          <p:nvPr/>
        </p:nvSpPr>
        <p:spPr>
          <a:xfrm>
            <a:off x="795528" y="3675888"/>
            <a:ext cx="530352" cy="54864"/>
          </a:xfrm>
          <a:custGeom>
            <a:avLst/>
            <a:gdLst/>
            <a:ahLst/>
            <a:cxnLst/>
            <a:rect l="l" t="t" r="r" b="b"/>
            <a:pathLst>
              <a:path w="530352" h="54864">
                <a:moveTo>
                  <a:pt x="0" y="0"/>
                </a:moveTo>
                <a:lnTo>
                  <a:pt x="530352" y="54864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uc1_ga4"/>
          <p:cNvSpPr/>
          <p:nvPr/>
        </p:nvSpPr>
        <p:spPr>
          <a:xfrm>
            <a:off x="795528" y="3675888"/>
            <a:ext cx="530352" cy="804672"/>
          </a:xfrm>
          <a:custGeom>
            <a:avLst/>
            <a:gdLst/>
            <a:ahLst/>
            <a:cxnLst/>
            <a:rect l="l" t="t" r="r" b="b"/>
            <a:pathLst>
              <a:path w="530352" h="804672">
                <a:moveTo>
                  <a:pt x="0" y="0"/>
                </a:moveTo>
                <a:lnTo>
                  <a:pt x="530352" y="804672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c1_ga5"/>
          <p:cNvSpPr/>
          <p:nvPr/>
        </p:nvSpPr>
        <p:spPr>
          <a:xfrm>
            <a:off x="795528" y="3675888"/>
            <a:ext cx="530352" cy="1554480"/>
          </a:xfrm>
          <a:custGeom>
            <a:avLst/>
            <a:gdLst/>
            <a:ahLst/>
            <a:cxnLst/>
            <a:rect l="l" t="t" r="r" b="b"/>
            <a:pathLst>
              <a:path w="530352" h="1554480">
                <a:moveTo>
                  <a:pt x="0" y="0"/>
                </a:moveTo>
                <a:lnTo>
                  <a:pt x="530352" y="155448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c1_ga6"/>
          <p:cNvSpPr/>
          <p:nvPr/>
        </p:nvSpPr>
        <p:spPr>
          <a:xfrm>
            <a:off x="795528" y="3675888"/>
            <a:ext cx="530352" cy="2304288"/>
          </a:xfrm>
          <a:custGeom>
            <a:avLst/>
            <a:gdLst/>
            <a:ahLst/>
            <a:cxnLst/>
            <a:rect l="l" t="t" r="r" b="b"/>
            <a:pathLst>
              <a:path w="530352" h="2304288">
                <a:moveTo>
                  <a:pt x="0" y="0"/>
                </a:moveTo>
                <a:lnTo>
                  <a:pt x="530352" y="2304288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c1_x3d"/>
          <p:cNvSpPr/>
          <p:nvPr/>
        </p:nvSpPr>
        <p:spPr>
          <a:xfrm>
            <a:off x="3931920" y="2295144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c1_x3d_t"/>
          <p:cNvSpPr txBox="1"/>
          <p:nvPr/>
        </p:nvSpPr>
        <p:spPr>
          <a:xfrm>
            <a:off x="3988156" y="2295144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Посмотреть 3D-модель объекта</a:t>
            </a:r>
          </a:p>
        </p:txBody>
      </p:sp>
      <p:sp>
        <p:nvSpPr>
          <p:cNvPr id="33" name="!!uc1_xau"/>
          <p:cNvSpPr/>
          <p:nvPr/>
        </p:nvSpPr>
        <p:spPr>
          <a:xfrm>
            <a:off x="3931920" y="3118104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uc1_xau_t"/>
          <p:cNvSpPr txBox="1"/>
          <p:nvPr/>
        </p:nvSpPr>
        <p:spPr>
          <a:xfrm>
            <a:off x="3988156" y="3118104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Прослушать аудиогид</a:t>
            </a:r>
          </a:p>
        </p:txBody>
      </p:sp>
      <p:sp>
        <p:nvSpPr>
          <p:cNvPr id="35" name="!!uc1_d1"/>
          <p:cNvSpPr/>
          <p:nvPr/>
        </p:nvSpPr>
        <p:spPr>
          <a:xfrm>
            <a:off x="3288855" y="2704264"/>
            <a:ext cx="764032" cy="126171"/>
          </a:xfrm>
          <a:custGeom>
            <a:avLst/>
            <a:gdLst/>
            <a:ahLst/>
            <a:cxnLst/>
            <a:rect l="l" t="t" r="r" b="b"/>
            <a:pathLst>
              <a:path w="764032" h="126171">
                <a:moveTo>
                  <a:pt x="764032" y="0"/>
                </a:moveTo>
                <a:lnTo>
                  <a:pt x="0" y="126171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!!uc1_d1_t"/>
          <p:cNvSpPr txBox="1"/>
          <p:nvPr/>
        </p:nvSpPr>
        <p:spPr>
          <a:xfrm>
            <a:off x="3176811" y="2520343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37" name="!!uc1_d2"/>
          <p:cNvSpPr/>
          <p:nvPr/>
        </p:nvSpPr>
        <p:spPr>
          <a:xfrm>
            <a:off x="3288855" y="3131452"/>
            <a:ext cx="764032" cy="126171"/>
          </a:xfrm>
          <a:custGeom>
            <a:avLst/>
            <a:gdLst/>
            <a:ahLst/>
            <a:cxnLst/>
            <a:rect l="l" t="t" r="r" b="b"/>
            <a:pathLst>
              <a:path w="764032" h="126171">
                <a:moveTo>
                  <a:pt x="764032" y="12617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uc1_d2_t"/>
          <p:cNvSpPr txBox="1"/>
          <p:nvPr/>
        </p:nvSpPr>
        <p:spPr>
          <a:xfrm>
            <a:off x="3176811" y="3200142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39" name="!!uc1_u0"/>
          <p:cNvSpPr/>
          <p:nvPr/>
        </p:nvSpPr>
        <p:spPr>
          <a:xfrm>
            <a:off x="8458200" y="1170432"/>
            <a:ext cx="210312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uc1_u0_t"/>
          <p:cNvSpPr txBox="1"/>
          <p:nvPr/>
        </p:nvSpPr>
        <p:spPr>
          <a:xfrm>
            <a:off x="8521294" y="1170432"/>
            <a:ext cx="1976932" cy="58521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Авторизоваться</a:t>
            </a:r>
          </a:p>
        </p:txBody>
      </p:sp>
      <p:sp>
        <p:nvSpPr>
          <p:cNvPr id="41" name="!!uc1_u1"/>
          <p:cNvSpPr/>
          <p:nvPr/>
        </p:nvSpPr>
        <p:spPr>
          <a:xfrm>
            <a:off x="8458200" y="1837944"/>
            <a:ext cx="210312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!!uc1_u1_t"/>
          <p:cNvSpPr txBox="1"/>
          <p:nvPr/>
        </p:nvSpPr>
        <p:spPr>
          <a:xfrm>
            <a:off x="8521294" y="1837944"/>
            <a:ext cx="1976932" cy="58521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Подать заявку на добавление объекта</a:t>
            </a:r>
          </a:p>
        </p:txBody>
      </p:sp>
      <p:sp>
        <p:nvSpPr>
          <p:cNvPr id="43" name="!!uc1_u2"/>
          <p:cNvSpPr/>
          <p:nvPr/>
        </p:nvSpPr>
        <p:spPr>
          <a:xfrm>
            <a:off x="8458200" y="2505456"/>
            <a:ext cx="210312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uc1_u2_t"/>
          <p:cNvSpPr txBox="1"/>
          <p:nvPr/>
        </p:nvSpPr>
        <p:spPr>
          <a:xfrm>
            <a:off x="8521294" y="2505456"/>
            <a:ext cx="1976932" cy="58521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Предложить фото или сведения к объекту</a:t>
            </a:r>
          </a:p>
        </p:txBody>
      </p:sp>
      <p:sp>
        <p:nvSpPr>
          <p:cNvPr id="45" name="!!uc1_u3"/>
          <p:cNvSpPr/>
          <p:nvPr/>
        </p:nvSpPr>
        <p:spPr>
          <a:xfrm>
            <a:off x="8458200" y="3172968"/>
            <a:ext cx="210312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!!uc1_u3_t"/>
          <p:cNvSpPr txBox="1"/>
          <p:nvPr/>
        </p:nvSpPr>
        <p:spPr>
          <a:xfrm>
            <a:off x="8521294" y="3172968"/>
            <a:ext cx="1976932" cy="58521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Отслеживать статус заявки</a:t>
            </a:r>
          </a:p>
        </p:txBody>
      </p:sp>
      <p:sp>
        <p:nvSpPr>
          <p:cNvPr id="47" name="!!uc1_u4"/>
          <p:cNvSpPr/>
          <p:nvPr/>
        </p:nvSpPr>
        <p:spPr>
          <a:xfrm>
            <a:off x="8458200" y="3840479"/>
            <a:ext cx="210312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!!uc1_u4_t"/>
          <p:cNvSpPr txBox="1"/>
          <p:nvPr/>
        </p:nvSpPr>
        <p:spPr>
          <a:xfrm>
            <a:off x="8521294" y="3840479"/>
            <a:ext cx="1976932" cy="58521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Сохранить маршрут</a:t>
            </a:r>
          </a:p>
        </p:txBody>
      </p:sp>
      <p:sp>
        <p:nvSpPr>
          <p:cNvPr id="49" name="!!uc1_u5"/>
          <p:cNvSpPr/>
          <p:nvPr/>
        </p:nvSpPr>
        <p:spPr>
          <a:xfrm>
            <a:off x="8458200" y="4507992"/>
            <a:ext cx="210312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!!uc1_u5_t"/>
          <p:cNvSpPr txBox="1"/>
          <p:nvPr/>
        </p:nvSpPr>
        <p:spPr>
          <a:xfrm>
            <a:off x="8521294" y="4507992"/>
            <a:ext cx="1976932" cy="58521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Управлять корзиной</a:t>
            </a:r>
          </a:p>
        </p:txBody>
      </p:sp>
      <p:sp>
        <p:nvSpPr>
          <p:cNvPr id="51" name="!!uc1_u6"/>
          <p:cNvSpPr/>
          <p:nvPr/>
        </p:nvSpPr>
        <p:spPr>
          <a:xfrm>
            <a:off x="8458200" y="5175504"/>
            <a:ext cx="210312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!!uc1_u6_t"/>
          <p:cNvSpPr txBox="1"/>
          <p:nvPr/>
        </p:nvSpPr>
        <p:spPr>
          <a:xfrm>
            <a:off x="8521294" y="5175504"/>
            <a:ext cx="1976932" cy="58521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Оформить заказ</a:t>
            </a:r>
          </a:p>
        </p:txBody>
      </p:sp>
      <p:sp>
        <p:nvSpPr>
          <p:cNvPr id="53" name="!!uc1_u7"/>
          <p:cNvSpPr/>
          <p:nvPr/>
        </p:nvSpPr>
        <p:spPr>
          <a:xfrm>
            <a:off x="8458200" y="5843015"/>
            <a:ext cx="210312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!!uc1_u7_t"/>
          <p:cNvSpPr txBox="1"/>
          <p:nvPr/>
        </p:nvSpPr>
        <p:spPr>
          <a:xfrm>
            <a:off x="8521294" y="5843015"/>
            <a:ext cx="1976932" cy="585216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Отслеживать статус заказа</a:t>
            </a:r>
          </a:p>
        </p:txBody>
      </p:sp>
      <p:sp>
        <p:nvSpPr>
          <p:cNvPr id="55" name="!!uc1_au_h"/>
          <p:cNvSpPr/>
          <p:nvPr/>
        </p:nvSpPr>
        <p:spPr>
          <a:xfrm>
            <a:off x="11420856" y="3451859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!!uc1_au_b"/>
          <p:cNvSpPr/>
          <p:nvPr/>
        </p:nvSpPr>
        <p:spPr>
          <a:xfrm>
            <a:off x="11521440" y="3653027"/>
            <a:ext cx="0" cy="256032"/>
          </a:xfrm>
          <a:custGeom>
            <a:avLst/>
            <a:gdLst/>
            <a:ahLst/>
            <a:cxnLst/>
            <a:rect l="l" t="t" r="r" b="b"/>
            <a:pathLst>
              <a:path h="256032">
                <a:moveTo>
                  <a:pt x="0" y="0"/>
                </a:moveTo>
                <a:lnTo>
                  <a:pt x="0" y="256032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!!uc1_au_a"/>
          <p:cNvSpPr/>
          <p:nvPr/>
        </p:nvSpPr>
        <p:spPr>
          <a:xfrm>
            <a:off x="11338560" y="3744468"/>
            <a:ext cx="365759" cy="0"/>
          </a:xfrm>
          <a:custGeom>
            <a:avLst/>
            <a:gdLst/>
            <a:ahLst/>
            <a:cxnLst/>
            <a:rect l="l" t="t" r="r" b="b"/>
            <a:pathLst>
              <a:path w="365759">
                <a:moveTo>
                  <a:pt x="0" y="0"/>
                </a:moveTo>
                <a:lnTo>
                  <a:pt x="365759" y="0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!!uc1_au_l"/>
          <p:cNvSpPr/>
          <p:nvPr/>
        </p:nvSpPr>
        <p:spPr>
          <a:xfrm>
            <a:off x="11365992" y="3909059"/>
            <a:ext cx="310896" cy="237744"/>
          </a:xfrm>
          <a:custGeom>
            <a:avLst/>
            <a:gdLst/>
            <a:ahLst/>
            <a:cxnLst/>
            <a:rect l="l" t="t" r="r" b="b"/>
            <a:pathLst>
              <a:path w="310896" h="237744">
                <a:moveTo>
                  <a:pt x="0" y="237744"/>
                </a:moveTo>
                <a:lnTo>
                  <a:pt x="155448" y="0"/>
                </a:lnTo>
                <a:lnTo>
                  <a:pt x="310896" y="237744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!!uc1_au_t"/>
          <p:cNvSpPr txBox="1"/>
          <p:nvPr/>
        </p:nvSpPr>
        <p:spPr>
          <a:xfrm>
            <a:off x="10565891" y="4165091"/>
            <a:ext cx="1911096" cy="27432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Пользователь</a:t>
            </a:r>
          </a:p>
        </p:txBody>
      </p:sp>
      <p:sp>
        <p:nvSpPr>
          <p:cNvPr id="60" name="!!uc1_ua0"/>
          <p:cNvSpPr/>
          <p:nvPr/>
        </p:nvSpPr>
        <p:spPr>
          <a:xfrm>
            <a:off x="10561320" y="1463040"/>
            <a:ext cx="758952" cy="2281428"/>
          </a:xfrm>
          <a:custGeom>
            <a:avLst/>
            <a:gdLst/>
            <a:ahLst/>
            <a:cxnLst/>
            <a:rect l="l" t="t" r="r" b="b"/>
            <a:pathLst>
              <a:path w="758952" h="2281428">
                <a:moveTo>
                  <a:pt x="758952" y="2281428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!!uc1_ua1"/>
          <p:cNvSpPr/>
          <p:nvPr/>
        </p:nvSpPr>
        <p:spPr>
          <a:xfrm>
            <a:off x="10561320" y="2130552"/>
            <a:ext cx="758952" cy="1613916"/>
          </a:xfrm>
          <a:custGeom>
            <a:avLst/>
            <a:gdLst/>
            <a:ahLst/>
            <a:cxnLst/>
            <a:rect l="l" t="t" r="r" b="b"/>
            <a:pathLst>
              <a:path w="758952" h="1613916">
                <a:moveTo>
                  <a:pt x="758952" y="1613916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!!uc1_ua2"/>
          <p:cNvSpPr/>
          <p:nvPr/>
        </p:nvSpPr>
        <p:spPr>
          <a:xfrm>
            <a:off x="10561320" y="2798064"/>
            <a:ext cx="758952" cy="946404"/>
          </a:xfrm>
          <a:custGeom>
            <a:avLst/>
            <a:gdLst/>
            <a:ahLst/>
            <a:cxnLst/>
            <a:rect l="l" t="t" r="r" b="b"/>
            <a:pathLst>
              <a:path w="758952" h="946404">
                <a:moveTo>
                  <a:pt x="758952" y="94640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!!uc1_ua3"/>
          <p:cNvSpPr/>
          <p:nvPr/>
        </p:nvSpPr>
        <p:spPr>
          <a:xfrm>
            <a:off x="10561320" y="3465576"/>
            <a:ext cx="758952" cy="278892"/>
          </a:xfrm>
          <a:custGeom>
            <a:avLst/>
            <a:gdLst/>
            <a:ahLst/>
            <a:cxnLst/>
            <a:rect l="l" t="t" r="r" b="b"/>
            <a:pathLst>
              <a:path w="758952" h="278892">
                <a:moveTo>
                  <a:pt x="758952" y="27889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!!uc1_ua4"/>
          <p:cNvSpPr/>
          <p:nvPr/>
        </p:nvSpPr>
        <p:spPr>
          <a:xfrm>
            <a:off x="10561320" y="3744468"/>
            <a:ext cx="758952" cy="388619"/>
          </a:xfrm>
          <a:custGeom>
            <a:avLst/>
            <a:gdLst/>
            <a:ahLst/>
            <a:cxnLst/>
            <a:rect l="l" t="t" r="r" b="b"/>
            <a:pathLst>
              <a:path w="758952" h="388619">
                <a:moveTo>
                  <a:pt x="758952" y="0"/>
                </a:moveTo>
                <a:lnTo>
                  <a:pt x="0" y="388619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!!uc1_ua5"/>
          <p:cNvSpPr/>
          <p:nvPr/>
        </p:nvSpPr>
        <p:spPr>
          <a:xfrm>
            <a:off x="10561320" y="3744468"/>
            <a:ext cx="758952" cy="1056132"/>
          </a:xfrm>
          <a:custGeom>
            <a:avLst/>
            <a:gdLst/>
            <a:ahLst/>
            <a:cxnLst/>
            <a:rect l="l" t="t" r="r" b="b"/>
            <a:pathLst>
              <a:path w="758952" h="1056132">
                <a:moveTo>
                  <a:pt x="758952" y="0"/>
                </a:moveTo>
                <a:lnTo>
                  <a:pt x="0" y="1056132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!!uc1_ua6"/>
          <p:cNvSpPr/>
          <p:nvPr/>
        </p:nvSpPr>
        <p:spPr>
          <a:xfrm>
            <a:off x="10561320" y="3744468"/>
            <a:ext cx="758952" cy="1723644"/>
          </a:xfrm>
          <a:custGeom>
            <a:avLst/>
            <a:gdLst/>
            <a:ahLst/>
            <a:cxnLst/>
            <a:rect l="l" t="t" r="r" b="b"/>
            <a:pathLst>
              <a:path w="758952" h="1723644">
                <a:moveTo>
                  <a:pt x="758952" y="0"/>
                </a:moveTo>
                <a:lnTo>
                  <a:pt x="0" y="1723644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!!uc1_ua7"/>
          <p:cNvSpPr/>
          <p:nvPr/>
        </p:nvSpPr>
        <p:spPr>
          <a:xfrm>
            <a:off x="10561320" y="3744468"/>
            <a:ext cx="758952" cy="2391155"/>
          </a:xfrm>
          <a:custGeom>
            <a:avLst/>
            <a:gdLst/>
            <a:ahLst/>
            <a:cxnLst/>
            <a:rect l="l" t="t" r="r" b="b"/>
            <a:pathLst>
              <a:path w="758952" h="2391155">
                <a:moveTo>
                  <a:pt x="758952" y="0"/>
                </a:moveTo>
                <a:lnTo>
                  <a:pt x="0" y="23911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!!uc1_xph"/>
          <p:cNvSpPr/>
          <p:nvPr/>
        </p:nvSpPr>
        <p:spPr>
          <a:xfrm>
            <a:off x="6080760" y="1298448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!!uc1_xph_t"/>
          <p:cNvSpPr txBox="1"/>
          <p:nvPr/>
        </p:nvSpPr>
        <p:spPr>
          <a:xfrm>
            <a:off x="6136996" y="1298448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Прикрепить фотографии</a:t>
            </a:r>
          </a:p>
        </p:txBody>
      </p:sp>
      <p:sp>
        <p:nvSpPr>
          <p:cNvPr id="70" name="!!uc1_xfl"/>
          <p:cNvSpPr/>
          <p:nvPr/>
        </p:nvSpPr>
        <p:spPr>
          <a:xfrm>
            <a:off x="6080760" y="228600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!!uc1_xfl_t"/>
          <p:cNvSpPr txBox="1"/>
          <p:nvPr/>
        </p:nvSpPr>
        <p:spPr>
          <a:xfrm>
            <a:off x="6136996" y="228600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Указать место, дату и источник</a:t>
            </a:r>
          </a:p>
        </p:txBody>
      </p:sp>
      <p:sp>
        <p:nvSpPr>
          <p:cNvPr id="72" name="!!uc1_xca"/>
          <p:cNvSpPr/>
          <p:nvPr/>
        </p:nvSpPr>
        <p:spPr>
          <a:xfrm>
            <a:off x="6080760" y="393192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!!uc1_xca_t"/>
          <p:cNvSpPr txBox="1"/>
          <p:nvPr/>
        </p:nvSpPr>
        <p:spPr>
          <a:xfrm>
            <a:off x="6136996" y="393192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Добавить товар в корзину</a:t>
            </a:r>
          </a:p>
        </p:txBody>
      </p:sp>
      <p:sp>
        <p:nvSpPr>
          <p:cNvPr id="74" name="!!uc1_xcd"/>
          <p:cNvSpPr/>
          <p:nvPr/>
        </p:nvSpPr>
        <p:spPr>
          <a:xfrm>
            <a:off x="6080760" y="457200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!!uc1_xcd_t"/>
          <p:cNvSpPr txBox="1"/>
          <p:nvPr/>
        </p:nvSpPr>
        <p:spPr>
          <a:xfrm>
            <a:off x="6136996" y="457200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Удалить товар из корзины</a:t>
            </a:r>
          </a:p>
        </p:txBody>
      </p:sp>
      <p:sp>
        <p:nvSpPr>
          <p:cNvPr id="76" name="!!uc1_xpy"/>
          <p:cNvSpPr/>
          <p:nvPr/>
        </p:nvSpPr>
        <p:spPr>
          <a:xfrm>
            <a:off x="6080760" y="553212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!!uc1_xpy_t"/>
          <p:cNvSpPr txBox="1"/>
          <p:nvPr/>
        </p:nvSpPr>
        <p:spPr>
          <a:xfrm>
            <a:off x="6136996" y="553212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Оплатить заказ</a:t>
            </a:r>
          </a:p>
        </p:txBody>
      </p:sp>
      <p:sp>
        <p:nvSpPr>
          <p:cNvPr id="78" name="!!uc1_d3"/>
          <p:cNvSpPr/>
          <p:nvPr/>
        </p:nvSpPr>
        <p:spPr>
          <a:xfrm>
            <a:off x="7762494" y="1739421"/>
            <a:ext cx="927926" cy="207719"/>
          </a:xfrm>
          <a:custGeom>
            <a:avLst/>
            <a:gdLst/>
            <a:ahLst/>
            <a:cxnLst/>
            <a:rect l="l" t="t" r="r" b="b"/>
            <a:pathLst>
              <a:path w="927926" h="207719">
                <a:moveTo>
                  <a:pt x="0" y="0"/>
                </a:moveTo>
                <a:lnTo>
                  <a:pt x="927926" y="207719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!!uc1_d3_t"/>
          <p:cNvSpPr txBox="1"/>
          <p:nvPr/>
        </p:nvSpPr>
        <p:spPr>
          <a:xfrm>
            <a:off x="7781220" y="1597655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80" name="!!uc1_d4"/>
          <p:cNvSpPr/>
          <p:nvPr/>
        </p:nvSpPr>
        <p:spPr>
          <a:xfrm>
            <a:off x="7825501" y="2284709"/>
            <a:ext cx="790471" cy="136338"/>
          </a:xfrm>
          <a:custGeom>
            <a:avLst/>
            <a:gdLst/>
            <a:ahLst/>
            <a:cxnLst/>
            <a:rect l="l" t="t" r="r" b="b"/>
            <a:pathLst>
              <a:path w="790471" h="136338">
                <a:moveTo>
                  <a:pt x="790471" y="0"/>
                </a:moveTo>
                <a:lnTo>
                  <a:pt x="0" y="136338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!!uc1_d4_t"/>
          <p:cNvSpPr txBox="1"/>
          <p:nvPr/>
        </p:nvSpPr>
        <p:spPr>
          <a:xfrm>
            <a:off x="7725776" y="2106024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«include»</a:t>
            </a:r>
          </a:p>
        </p:txBody>
      </p:sp>
      <p:sp>
        <p:nvSpPr>
          <p:cNvPr id="82" name="!!uc1_d5"/>
          <p:cNvSpPr/>
          <p:nvPr/>
        </p:nvSpPr>
        <p:spPr>
          <a:xfrm>
            <a:off x="7909125" y="2645342"/>
            <a:ext cx="605926" cy="57813"/>
          </a:xfrm>
          <a:custGeom>
            <a:avLst/>
            <a:gdLst/>
            <a:ahLst/>
            <a:cxnLst/>
            <a:rect l="l" t="t" r="r" b="b"/>
            <a:pathLst>
              <a:path w="605926" h="57813">
                <a:moveTo>
                  <a:pt x="605926" y="5781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!!uc1_d5_t"/>
          <p:cNvSpPr txBox="1"/>
          <p:nvPr/>
        </p:nvSpPr>
        <p:spPr>
          <a:xfrm>
            <a:off x="7726727" y="2680985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«include»</a:t>
            </a:r>
          </a:p>
        </p:txBody>
      </p:sp>
      <p:sp>
        <p:nvSpPr>
          <p:cNvPr id="84" name="!!uc1_d6"/>
          <p:cNvSpPr/>
          <p:nvPr/>
        </p:nvSpPr>
        <p:spPr>
          <a:xfrm>
            <a:off x="7744556" y="4379542"/>
            <a:ext cx="966832" cy="230620"/>
          </a:xfrm>
          <a:custGeom>
            <a:avLst/>
            <a:gdLst/>
            <a:ahLst/>
            <a:cxnLst/>
            <a:rect l="l" t="t" r="r" b="b"/>
            <a:pathLst>
              <a:path w="966832" h="230620">
                <a:moveTo>
                  <a:pt x="0" y="0"/>
                </a:moveTo>
                <a:lnTo>
                  <a:pt x="966832" y="23062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!!uc1_d6_t"/>
          <p:cNvSpPr txBox="1"/>
          <p:nvPr/>
        </p:nvSpPr>
        <p:spPr>
          <a:xfrm>
            <a:off x="7784472" y="4249628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86" name="!!uc1_d7"/>
          <p:cNvSpPr/>
          <p:nvPr/>
        </p:nvSpPr>
        <p:spPr>
          <a:xfrm>
            <a:off x="7953443" y="4819852"/>
            <a:ext cx="507035" cy="9304"/>
          </a:xfrm>
          <a:custGeom>
            <a:avLst/>
            <a:gdLst/>
            <a:ahLst/>
            <a:cxnLst/>
            <a:rect l="l" t="t" r="r" b="b"/>
            <a:pathLst>
              <a:path w="507035" h="9304">
                <a:moveTo>
                  <a:pt x="0" y="9304"/>
                </a:moveTo>
                <a:lnTo>
                  <a:pt x="507035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!!uc1_d7_t"/>
          <p:cNvSpPr txBox="1"/>
          <p:nvPr/>
        </p:nvSpPr>
        <p:spPr>
          <a:xfrm>
            <a:off x="7736107" y="4831798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88" name="!!uc1_d8"/>
          <p:cNvSpPr/>
          <p:nvPr/>
        </p:nvSpPr>
        <p:spPr>
          <a:xfrm>
            <a:off x="7868243" y="5596430"/>
            <a:ext cx="696465" cy="94566"/>
          </a:xfrm>
          <a:custGeom>
            <a:avLst/>
            <a:gdLst/>
            <a:ahLst/>
            <a:cxnLst/>
            <a:rect l="l" t="t" r="r" b="b"/>
            <a:pathLst>
              <a:path w="696465" h="94566">
                <a:moveTo>
                  <a:pt x="696465" y="0"/>
                </a:moveTo>
                <a:lnTo>
                  <a:pt x="0" y="94566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uc1_d8_t"/>
          <p:cNvSpPr txBox="1"/>
          <p:nvPr/>
        </p:nvSpPr>
        <p:spPr>
          <a:xfrm>
            <a:off x="7760498" y="5649864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«include»</a:t>
            </a:r>
          </a:p>
        </p:txBody>
      </p:sp>
      <p:sp>
        <p:nvSpPr>
          <p:cNvPr id="92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11</a:t>
            </a:r>
          </a:p>
        </p:txBody>
      </p:sp>
      <p:sp>
        <p:nvSpPr>
          <p:cNvPr id="93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ДИАГРАММА ВАРИАНТОВ ИСПОЛЬЗОВАНИЯ</a:t>
            </a:r>
          </a:p>
        </p:txBody>
      </p:sp>
      <p:sp>
        <p:nvSpPr>
          <p:cNvPr id="5" name="!!uc2_m0"/>
          <p:cNvSpPr/>
          <p:nvPr/>
        </p:nvSpPr>
        <p:spPr>
          <a:xfrm>
            <a:off x="1325880" y="161848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!!uc2_m0_t"/>
          <p:cNvSpPr txBox="1"/>
          <p:nvPr/>
        </p:nvSpPr>
        <p:spPr>
          <a:xfrm>
            <a:off x="1388974" y="161848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Просмотреть очередь заявок</a:t>
            </a:r>
          </a:p>
        </p:txBody>
      </p:sp>
      <p:sp>
        <p:nvSpPr>
          <p:cNvPr id="7" name="!!uc2_m1"/>
          <p:cNvSpPr/>
          <p:nvPr/>
        </p:nvSpPr>
        <p:spPr>
          <a:xfrm>
            <a:off x="1325880" y="235000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!!uc2_m1_t"/>
          <p:cNvSpPr txBox="1"/>
          <p:nvPr/>
        </p:nvSpPr>
        <p:spPr>
          <a:xfrm>
            <a:off x="1388974" y="235000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Одобрить заявку</a:t>
            </a:r>
          </a:p>
        </p:txBody>
      </p:sp>
      <p:sp>
        <p:nvSpPr>
          <p:cNvPr id="9" name="!!uc2_m2"/>
          <p:cNvSpPr/>
          <p:nvPr/>
        </p:nvSpPr>
        <p:spPr>
          <a:xfrm>
            <a:off x="1325880" y="308152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uc2_m2_t"/>
          <p:cNvSpPr txBox="1"/>
          <p:nvPr/>
        </p:nvSpPr>
        <p:spPr>
          <a:xfrm>
            <a:off x="1388974" y="308152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Отклонить заявку</a:t>
            </a:r>
          </a:p>
        </p:txBody>
      </p:sp>
      <p:sp>
        <p:nvSpPr>
          <p:cNvPr id="11" name="!!uc2_m3"/>
          <p:cNvSpPr/>
          <p:nvPr/>
        </p:nvSpPr>
        <p:spPr>
          <a:xfrm>
            <a:off x="1325880" y="381304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uc2_m3_t"/>
          <p:cNvSpPr txBox="1"/>
          <p:nvPr/>
        </p:nvSpPr>
        <p:spPr>
          <a:xfrm>
            <a:off x="1388974" y="381304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Редактировать объект</a:t>
            </a:r>
          </a:p>
        </p:txBody>
      </p:sp>
      <p:sp>
        <p:nvSpPr>
          <p:cNvPr id="18" name="!!uc2_am_h"/>
          <p:cNvSpPr/>
          <p:nvPr/>
        </p:nvSpPr>
        <p:spPr>
          <a:xfrm>
            <a:off x="493776" y="2670048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c2_am_b"/>
          <p:cNvSpPr/>
          <p:nvPr/>
        </p:nvSpPr>
        <p:spPr>
          <a:xfrm>
            <a:off x="594360" y="2871215"/>
            <a:ext cx="0" cy="256033"/>
          </a:xfrm>
          <a:custGeom>
            <a:avLst/>
            <a:gdLst/>
            <a:ahLst/>
            <a:cxnLst/>
            <a:rect l="l" t="t" r="r" b="b"/>
            <a:pathLst>
              <a:path h="256033">
                <a:moveTo>
                  <a:pt x="0" y="0"/>
                </a:moveTo>
                <a:lnTo>
                  <a:pt x="0" y="256033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c2_am_a"/>
          <p:cNvSpPr/>
          <p:nvPr/>
        </p:nvSpPr>
        <p:spPr>
          <a:xfrm>
            <a:off x="411480" y="2962656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uc2_am_l"/>
          <p:cNvSpPr/>
          <p:nvPr/>
        </p:nvSpPr>
        <p:spPr>
          <a:xfrm>
            <a:off x="438912" y="3127248"/>
            <a:ext cx="310896" cy="237743"/>
          </a:xfrm>
          <a:custGeom>
            <a:avLst/>
            <a:gdLst/>
            <a:ahLst/>
            <a:cxnLst/>
            <a:rect l="l" t="t" r="r" b="b"/>
            <a:pathLst>
              <a:path w="310896" h="237743">
                <a:moveTo>
                  <a:pt x="0" y="237743"/>
                </a:moveTo>
                <a:lnTo>
                  <a:pt x="155448" y="0"/>
                </a:lnTo>
                <a:lnTo>
                  <a:pt x="310896" y="237743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uc2_am_t"/>
          <p:cNvSpPr txBox="1"/>
          <p:nvPr/>
        </p:nvSpPr>
        <p:spPr>
          <a:xfrm>
            <a:off x="-361188" y="3383279"/>
            <a:ext cx="1911096" cy="27432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Модератор</a:t>
            </a:r>
          </a:p>
        </p:txBody>
      </p:sp>
      <p:sp>
        <p:nvSpPr>
          <p:cNvPr id="23" name="!!uc2_ma0"/>
          <p:cNvSpPr/>
          <p:nvPr/>
        </p:nvSpPr>
        <p:spPr>
          <a:xfrm>
            <a:off x="795528" y="1920240"/>
            <a:ext cx="530352" cy="1042416"/>
          </a:xfrm>
          <a:custGeom>
            <a:avLst/>
            <a:gdLst/>
            <a:ahLst/>
            <a:cxnLst/>
            <a:rect l="l" t="t" r="r" b="b"/>
            <a:pathLst>
              <a:path w="530352" h="1042416">
                <a:moveTo>
                  <a:pt x="0" y="1042416"/>
                </a:moveTo>
                <a:lnTo>
                  <a:pt x="530352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c2_ma1"/>
          <p:cNvSpPr/>
          <p:nvPr/>
        </p:nvSpPr>
        <p:spPr>
          <a:xfrm>
            <a:off x="795528" y="2651760"/>
            <a:ext cx="530352" cy="310896"/>
          </a:xfrm>
          <a:custGeom>
            <a:avLst/>
            <a:gdLst/>
            <a:ahLst/>
            <a:cxnLst/>
            <a:rect l="l" t="t" r="r" b="b"/>
            <a:pathLst>
              <a:path w="530352" h="310896">
                <a:moveTo>
                  <a:pt x="0" y="310896"/>
                </a:moveTo>
                <a:lnTo>
                  <a:pt x="530352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c2_ma2"/>
          <p:cNvSpPr/>
          <p:nvPr/>
        </p:nvSpPr>
        <p:spPr>
          <a:xfrm>
            <a:off x="795528" y="2962656"/>
            <a:ext cx="530352" cy="420624"/>
          </a:xfrm>
          <a:custGeom>
            <a:avLst/>
            <a:gdLst/>
            <a:ahLst/>
            <a:cxnLst/>
            <a:rect l="l" t="t" r="r" b="b"/>
            <a:pathLst>
              <a:path w="530352" h="420624">
                <a:moveTo>
                  <a:pt x="0" y="0"/>
                </a:moveTo>
                <a:lnTo>
                  <a:pt x="530352" y="420624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c2_ma3"/>
          <p:cNvSpPr/>
          <p:nvPr/>
        </p:nvSpPr>
        <p:spPr>
          <a:xfrm>
            <a:off x="795528" y="2962656"/>
            <a:ext cx="530352" cy="1152144"/>
          </a:xfrm>
          <a:custGeom>
            <a:avLst/>
            <a:gdLst/>
            <a:ahLst/>
            <a:cxnLst/>
            <a:rect l="l" t="t" r="r" b="b"/>
            <a:pathLst>
              <a:path w="530352" h="1152144">
                <a:moveTo>
                  <a:pt x="0" y="0"/>
                </a:moveTo>
                <a:lnTo>
                  <a:pt x="530352" y="1152144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uc2_xno"/>
          <p:cNvSpPr/>
          <p:nvPr/>
        </p:nvSpPr>
        <p:spPr>
          <a:xfrm>
            <a:off x="3931920" y="196596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uc2_xno_t"/>
          <p:cNvSpPr txBox="1"/>
          <p:nvPr/>
        </p:nvSpPr>
        <p:spPr>
          <a:xfrm>
            <a:off x="3988156" y="196596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Уведомить автора о решении</a:t>
            </a:r>
          </a:p>
        </p:txBody>
      </p:sp>
      <p:sp>
        <p:nvSpPr>
          <p:cNvPr id="29" name="!!uc2_xre"/>
          <p:cNvSpPr/>
          <p:nvPr/>
        </p:nvSpPr>
        <p:spPr>
          <a:xfrm>
            <a:off x="3931920" y="315468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c2_xre_t"/>
          <p:cNvSpPr txBox="1"/>
          <p:nvPr/>
        </p:nvSpPr>
        <p:spPr>
          <a:xfrm>
            <a:off x="3988156" y="315468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Указать причину отказа</a:t>
            </a:r>
          </a:p>
        </p:txBody>
      </p:sp>
      <p:sp>
        <p:nvSpPr>
          <p:cNvPr id="31" name="!!uc2_xbl"/>
          <p:cNvSpPr/>
          <p:nvPr/>
        </p:nvSpPr>
        <p:spPr>
          <a:xfrm>
            <a:off x="3931920" y="393192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c2_xbl_t"/>
          <p:cNvSpPr txBox="1"/>
          <p:nvPr/>
        </p:nvSpPr>
        <p:spPr>
          <a:xfrm>
            <a:off x="3988156" y="393192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Заблокировать пользователя</a:t>
            </a:r>
          </a:p>
        </p:txBody>
      </p:sp>
      <p:sp>
        <p:nvSpPr>
          <p:cNvPr id="33" name="!!uc2_d1"/>
          <p:cNvSpPr/>
          <p:nvPr/>
        </p:nvSpPr>
        <p:spPr>
          <a:xfrm>
            <a:off x="3288855" y="2375080"/>
            <a:ext cx="764032" cy="126171"/>
          </a:xfrm>
          <a:custGeom>
            <a:avLst/>
            <a:gdLst/>
            <a:ahLst/>
            <a:cxnLst/>
            <a:rect l="l" t="t" r="r" b="b"/>
            <a:pathLst>
              <a:path w="764032" h="126171">
                <a:moveTo>
                  <a:pt x="0" y="126171"/>
                </a:moveTo>
                <a:lnTo>
                  <a:pt x="764032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uc2_d1_t"/>
          <p:cNvSpPr txBox="1"/>
          <p:nvPr/>
        </p:nvSpPr>
        <p:spPr>
          <a:xfrm>
            <a:off x="3176811" y="2191159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«include»</a:t>
            </a:r>
          </a:p>
        </p:txBody>
      </p:sp>
      <p:sp>
        <p:nvSpPr>
          <p:cNvPr id="35" name="!!uc2_d2"/>
          <p:cNvSpPr/>
          <p:nvPr/>
        </p:nvSpPr>
        <p:spPr>
          <a:xfrm>
            <a:off x="2935127" y="2471536"/>
            <a:ext cx="1429913" cy="655923"/>
          </a:xfrm>
          <a:custGeom>
            <a:avLst/>
            <a:gdLst/>
            <a:ahLst/>
            <a:cxnLst/>
            <a:rect l="l" t="t" r="r" b="b"/>
            <a:pathLst>
              <a:path w="1429913" h="655923">
                <a:moveTo>
                  <a:pt x="0" y="655923"/>
                </a:moveTo>
                <a:lnTo>
                  <a:pt x="1429913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!!uc2_d2_t"/>
          <p:cNvSpPr txBox="1"/>
          <p:nvPr/>
        </p:nvSpPr>
        <p:spPr>
          <a:xfrm>
            <a:off x="3230257" y="2795155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«include»</a:t>
            </a:r>
          </a:p>
        </p:txBody>
      </p:sp>
      <p:sp>
        <p:nvSpPr>
          <p:cNvPr id="37" name="!!uc2_d3"/>
          <p:cNvSpPr/>
          <p:nvPr/>
        </p:nvSpPr>
        <p:spPr>
          <a:xfrm>
            <a:off x="3426856" y="3402535"/>
            <a:ext cx="506900" cy="9301"/>
          </a:xfrm>
          <a:custGeom>
            <a:avLst/>
            <a:gdLst/>
            <a:ahLst/>
            <a:cxnLst/>
            <a:rect l="l" t="t" r="r" b="b"/>
            <a:pathLst>
              <a:path w="506900" h="9301">
                <a:moveTo>
                  <a:pt x="0" y="0"/>
                </a:moveTo>
                <a:lnTo>
                  <a:pt x="506900" y="9301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uc2_d3_t"/>
          <p:cNvSpPr txBox="1"/>
          <p:nvPr/>
        </p:nvSpPr>
        <p:spPr>
          <a:xfrm>
            <a:off x="3209453" y="3158490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«include»</a:t>
            </a:r>
          </a:p>
        </p:txBody>
      </p:sp>
      <p:sp>
        <p:nvSpPr>
          <p:cNvPr id="39" name="!!uc2_d4"/>
          <p:cNvSpPr/>
          <p:nvPr/>
        </p:nvSpPr>
        <p:spPr>
          <a:xfrm>
            <a:off x="3067123" y="3611065"/>
            <a:ext cx="1180437" cy="389869"/>
          </a:xfrm>
          <a:custGeom>
            <a:avLst/>
            <a:gdLst/>
            <a:ahLst/>
            <a:cxnLst/>
            <a:rect l="l" t="t" r="r" b="b"/>
            <a:pathLst>
              <a:path w="1180437" h="389869">
                <a:moveTo>
                  <a:pt x="1180437" y="38986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uc2_d4_t"/>
          <p:cNvSpPr txBox="1"/>
          <p:nvPr/>
        </p:nvSpPr>
        <p:spPr>
          <a:xfrm>
            <a:off x="3143992" y="3806856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41" name="!!uc2_a0"/>
          <p:cNvSpPr/>
          <p:nvPr/>
        </p:nvSpPr>
        <p:spPr>
          <a:xfrm>
            <a:off x="8458200" y="129844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!!uc2_a0_t"/>
          <p:cNvSpPr txBox="1"/>
          <p:nvPr/>
        </p:nvSpPr>
        <p:spPr>
          <a:xfrm>
            <a:off x="8521294" y="129844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Управлять пользователями и ролями</a:t>
            </a:r>
          </a:p>
        </p:txBody>
      </p:sp>
      <p:sp>
        <p:nvSpPr>
          <p:cNvPr id="43" name="!!uc2_a1"/>
          <p:cNvSpPr/>
          <p:nvPr/>
        </p:nvSpPr>
        <p:spPr>
          <a:xfrm>
            <a:off x="8458200" y="239572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uc2_a1_t"/>
          <p:cNvSpPr txBox="1"/>
          <p:nvPr/>
        </p:nvSpPr>
        <p:spPr>
          <a:xfrm>
            <a:off x="8521294" y="239572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Управлять категориями объектов</a:t>
            </a:r>
          </a:p>
        </p:txBody>
      </p:sp>
      <p:sp>
        <p:nvSpPr>
          <p:cNvPr id="45" name="!!uc2_a2"/>
          <p:cNvSpPr/>
          <p:nvPr/>
        </p:nvSpPr>
        <p:spPr>
          <a:xfrm>
            <a:off x="8458200" y="3675887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!!uc2_a2_t"/>
          <p:cNvSpPr txBox="1"/>
          <p:nvPr/>
        </p:nvSpPr>
        <p:spPr>
          <a:xfrm>
            <a:off x="8521294" y="3675887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Управлять тематическими маршрутами</a:t>
            </a:r>
          </a:p>
        </p:txBody>
      </p:sp>
      <p:sp>
        <p:nvSpPr>
          <p:cNvPr id="47" name="!!uc2_a3"/>
          <p:cNvSpPr/>
          <p:nvPr/>
        </p:nvSpPr>
        <p:spPr>
          <a:xfrm>
            <a:off x="8458200" y="500176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!!uc2_a3_t"/>
          <p:cNvSpPr txBox="1"/>
          <p:nvPr/>
        </p:nvSpPr>
        <p:spPr>
          <a:xfrm>
            <a:off x="8521294" y="500176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Управлять товарами магазина</a:t>
            </a:r>
          </a:p>
        </p:txBody>
      </p:sp>
      <p:sp>
        <p:nvSpPr>
          <p:cNvPr id="49" name="!!uc2_a4"/>
          <p:cNvSpPr/>
          <p:nvPr/>
        </p:nvSpPr>
        <p:spPr>
          <a:xfrm>
            <a:off x="8458200" y="5824728"/>
            <a:ext cx="2103120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!!uc2_a4_t"/>
          <p:cNvSpPr txBox="1"/>
          <p:nvPr/>
        </p:nvSpPr>
        <p:spPr>
          <a:xfrm>
            <a:off x="8521294" y="5824728"/>
            <a:ext cx="1976932" cy="603504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Изменить статус заказа</a:t>
            </a:r>
          </a:p>
        </p:txBody>
      </p:sp>
      <p:sp>
        <p:nvSpPr>
          <p:cNvPr id="51" name="!!uc2_aa_h"/>
          <p:cNvSpPr/>
          <p:nvPr/>
        </p:nvSpPr>
        <p:spPr>
          <a:xfrm>
            <a:off x="11420856" y="3310128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!!uc2_aa_b"/>
          <p:cNvSpPr/>
          <p:nvPr/>
        </p:nvSpPr>
        <p:spPr>
          <a:xfrm>
            <a:off x="11521440" y="3511296"/>
            <a:ext cx="0" cy="256032"/>
          </a:xfrm>
          <a:custGeom>
            <a:avLst/>
            <a:gdLst/>
            <a:ahLst/>
            <a:cxnLst/>
            <a:rect l="l" t="t" r="r" b="b"/>
            <a:pathLst>
              <a:path h="256032">
                <a:moveTo>
                  <a:pt x="0" y="0"/>
                </a:moveTo>
                <a:lnTo>
                  <a:pt x="0" y="256032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!!uc2_aa_a"/>
          <p:cNvSpPr/>
          <p:nvPr/>
        </p:nvSpPr>
        <p:spPr>
          <a:xfrm>
            <a:off x="11338560" y="3602736"/>
            <a:ext cx="365759" cy="0"/>
          </a:xfrm>
          <a:custGeom>
            <a:avLst/>
            <a:gdLst/>
            <a:ahLst/>
            <a:cxnLst/>
            <a:rect l="l" t="t" r="r" b="b"/>
            <a:pathLst>
              <a:path w="365759">
                <a:moveTo>
                  <a:pt x="0" y="0"/>
                </a:moveTo>
                <a:lnTo>
                  <a:pt x="365759" y="0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!!uc2_aa_l"/>
          <p:cNvSpPr/>
          <p:nvPr/>
        </p:nvSpPr>
        <p:spPr>
          <a:xfrm>
            <a:off x="11365992" y="3767328"/>
            <a:ext cx="310896" cy="237744"/>
          </a:xfrm>
          <a:custGeom>
            <a:avLst/>
            <a:gdLst/>
            <a:ahLst/>
            <a:cxnLst/>
            <a:rect l="l" t="t" r="r" b="b"/>
            <a:pathLst>
              <a:path w="310896" h="237744">
                <a:moveTo>
                  <a:pt x="0" y="237744"/>
                </a:moveTo>
                <a:lnTo>
                  <a:pt x="155448" y="0"/>
                </a:lnTo>
                <a:lnTo>
                  <a:pt x="310896" y="237744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!!uc2_aa_t"/>
          <p:cNvSpPr txBox="1"/>
          <p:nvPr/>
        </p:nvSpPr>
        <p:spPr>
          <a:xfrm>
            <a:off x="10565891" y="4023360"/>
            <a:ext cx="1911096" cy="27432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Администратор</a:t>
            </a:r>
          </a:p>
        </p:txBody>
      </p:sp>
      <p:sp>
        <p:nvSpPr>
          <p:cNvPr id="56" name="!!uc2_aa0"/>
          <p:cNvSpPr/>
          <p:nvPr/>
        </p:nvSpPr>
        <p:spPr>
          <a:xfrm>
            <a:off x="10561320" y="1600200"/>
            <a:ext cx="758952" cy="2002536"/>
          </a:xfrm>
          <a:custGeom>
            <a:avLst/>
            <a:gdLst/>
            <a:ahLst/>
            <a:cxnLst/>
            <a:rect l="l" t="t" r="r" b="b"/>
            <a:pathLst>
              <a:path w="758952" h="2002536">
                <a:moveTo>
                  <a:pt x="758952" y="2002536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!!uc2_aa1"/>
          <p:cNvSpPr/>
          <p:nvPr/>
        </p:nvSpPr>
        <p:spPr>
          <a:xfrm>
            <a:off x="10561320" y="2697480"/>
            <a:ext cx="758952" cy="905256"/>
          </a:xfrm>
          <a:custGeom>
            <a:avLst/>
            <a:gdLst/>
            <a:ahLst/>
            <a:cxnLst/>
            <a:rect l="l" t="t" r="r" b="b"/>
            <a:pathLst>
              <a:path w="758952" h="905256">
                <a:moveTo>
                  <a:pt x="758952" y="905256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!!uc2_aa2"/>
          <p:cNvSpPr/>
          <p:nvPr/>
        </p:nvSpPr>
        <p:spPr>
          <a:xfrm>
            <a:off x="10561320" y="3602736"/>
            <a:ext cx="758952" cy="374903"/>
          </a:xfrm>
          <a:custGeom>
            <a:avLst/>
            <a:gdLst/>
            <a:ahLst/>
            <a:cxnLst/>
            <a:rect l="l" t="t" r="r" b="b"/>
            <a:pathLst>
              <a:path w="758952" h="374903">
                <a:moveTo>
                  <a:pt x="758952" y="0"/>
                </a:moveTo>
                <a:lnTo>
                  <a:pt x="0" y="374903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!!uc2_aa3"/>
          <p:cNvSpPr/>
          <p:nvPr/>
        </p:nvSpPr>
        <p:spPr>
          <a:xfrm>
            <a:off x="10561320" y="3602736"/>
            <a:ext cx="758952" cy="1700784"/>
          </a:xfrm>
          <a:custGeom>
            <a:avLst/>
            <a:gdLst/>
            <a:ahLst/>
            <a:cxnLst/>
            <a:rect l="l" t="t" r="r" b="b"/>
            <a:pathLst>
              <a:path w="758952" h="1700784">
                <a:moveTo>
                  <a:pt x="758952" y="0"/>
                </a:moveTo>
                <a:lnTo>
                  <a:pt x="0" y="1700784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!!uc2_aa4"/>
          <p:cNvSpPr/>
          <p:nvPr/>
        </p:nvSpPr>
        <p:spPr>
          <a:xfrm>
            <a:off x="10561320" y="3602736"/>
            <a:ext cx="758952" cy="2523744"/>
          </a:xfrm>
          <a:custGeom>
            <a:avLst/>
            <a:gdLst/>
            <a:ahLst/>
            <a:cxnLst/>
            <a:rect l="l" t="t" r="r" b="b"/>
            <a:pathLst>
              <a:path w="758952" h="2523744">
                <a:moveTo>
                  <a:pt x="758952" y="0"/>
                </a:moveTo>
                <a:lnTo>
                  <a:pt x="0" y="2523744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!!uc2_xro"/>
          <p:cNvSpPr/>
          <p:nvPr/>
        </p:nvSpPr>
        <p:spPr>
          <a:xfrm>
            <a:off x="6080760" y="132588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!!uc2_xro_t"/>
          <p:cNvSpPr txBox="1"/>
          <p:nvPr/>
        </p:nvSpPr>
        <p:spPr>
          <a:xfrm>
            <a:off x="6136996" y="132588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Назначить или снять роль модератора</a:t>
            </a:r>
          </a:p>
        </p:txBody>
      </p:sp>
      <p:sp>
        <p:nvSpPr>
          <p:cNvPr id="63" name="!!uc2_xcc"/>
          <p:cNvSpPr/>
          <p:nvPr/>
        </p:nvSpPr>
        <p:spPr>
          <a:xfrm>
            <a:off x="6080760" y="210312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!!uc2_xcc_t"/>
          <p:cNvSpPr txBox="1"/>
          <p:nvPr/>
        </p:nvSpPr>
        <p:spPr>
          <a:xfrm>
            <a:off x="6136996" y="210312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Создать категорию</a:t>
            </a:r>
          </a:p>
        </p:txBody>
      </p:sp>
      <p:sp>
        <p:nvSpPr>
          <p:cNvPr id="65" name="!!uc2_xce"/>
          <p:cNvSpPr/>
          <p:nvPr/>
        </p:nvSpPr>
        <p:spPr>
          <a:xfrm>
            <a:off x="6080760" y="274320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!!uc2_xce_t"/>
          <p:cNvSpPr txBox="1"/>
          <p:nvPr/>
        </p:nvSpPr>
        <p:spPr>
          <a:xfrm>
            <a:off x="6136996" y="274320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Изменить или удалить категорию</a:t>
            </a:r>
          </a:p>
        </p:txBody>
      </p:sp>
      <p:sp>
        <p:nvSpPr>
          <p:cNvPr id="67" name="!!uc2_xrd"/>
          <p:cNvSpPr/>
          <p:nvPr/>
        </p:nvSpPr>
        <p:spPr>
          <a:xfrm>
            <a:off x="6080760" y="338328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!!uc2_xrd_t"/>
          <p:cNvSpPr txBox="1"/>
          <p:nvPr/>
        </p:nvSpPr>
        <p:spPr>
          <a:xfrm>
            <a:off x="6136996" y="338328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Изменить или удалить маршрут</a:t>
            </a:r>
          </a:p>
        </p:txBody>
      </p:sp>
      <p:sp>
        <p:nvSpPr>
          <p:cNvPr id="69" name="!!uc2_xrc"/>
          <p:cNvSpPr/>
          <p:nvPr/>
        </p:nvSpPr>
        <p:spPr>
          <a:xfrm>
            <a:off x="6080760" y="402336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!!uc2_xrc_t"/>
          <p:cNvSpPr txBox="1"/>
          <p:nvPr/>
        </p:nvSpPr>
        <p:spPr>
          <a:xfrm>
            <a:off x="6136996" y="402336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Создать тематический маршрут</a:t>
            </a:r>
          </a:p>
        </p:txBody>
      </p:sp>
      <p:sp>
        <p:nvSpPr>
          <p:cNvPr id="71" name="!!uc2_xpa"/>
          <p:cNvSpPr/>
          <p:nvPr/>
        </p:nvSpPr>
        <p:spPr>
          <a:xfrm>
            <a:off x="6080760" y="475488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!!uc2_xpa_t"/>
          <p:cNvSpPr txBox="1"/>
          <p:nvPr/>
        </p:nvSpPr>
        <p:spPr>
          <a:xfrm>
            <a:off x="6136996" y="475488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Добавить товар</a:t>
            </a:r>
          </a:p>
        </p:txBody>
      </p:sp>
      <p:sp>
        <p:nvSpPr>
          <p:cNvPr id="73" name="!!uc2_xpe"/>
          <p:cNvSpPr/>
          <p:nvPr/>
        </p:nvSpPr>
        <p:spPr>
          <a:xfrm>
            <a:off x="6080760" y="539496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!!uc2_xpe_t"/>
          <p:cNvSpPr txBox="1"/>
          <p:nvPr/>
        </p:nvSpPr>
        <p:spPr>
          <a:xfrm>
            <a:off x="6136996" y="539496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50" b="0" i="0">
                <a:solidFill>
                  <a:srgbClr val="000000"/>
                </a:solidFill>
                <a:latin typeface="Times New Roman"/>
              </a:rPr>
              <a:t>Изменить или удалить товар</a:t>
            </a:r>
          </a:p>
        </p:txBody>
      </p:sp>
      <p:sp>
        <p:nvSpPr>
          <p:cNvPr id="75" name="!!uc2_xor"/>
          <p:cNvSpPr/>
          <p:nvPr/>
        </p:nvSpPr>
        <p:spPr>
          <a:xfrm>
            <a:off x="3931920" y="466344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!!uc2_xor_t"/>
          <p:cNvSpPr txBox="1"/>
          <p:nvPr/>
        </p:nvSpPr>
        <p:spPr>
          <a:xfrm>
            <a:off x="3988156" y="466344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Выбрать объекты и порядок посещения</a:t>
            </a:r>
          </a:p>
        </p:txBody>
      </p:sp>
      <p:sp>
        <p:nvSpPr>
          <p:cNvPr id="77" name="!!uc2_xau"/>
          <p:cNvSpPr/>
          <p:nvPr/>
        </p:nvSpPr>
        <p:spPr>
          <a:xfrm>
            <a:off x="3931920" y="5532120"/>
            <a:ext cx="1874519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!!uc2_xau_t"/>
          <p:cNvSpPr txBox="1"/>
          <p:nvPr/>
        </p:nvSpPr>
        <p:spPr>
          <a:xfrm>
            <a:off x="3988156" y="5532120"/>
            <a:ext cx="1762047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1300" b="0" i="0">
                <a:solidFill>
                  <a:srgbClr val="000000"/>
                </a:solidFill>
                <a:latin typeface="Times New Roman"/>
              </a:rPr>
              <a:t>Прикрепить аудиогид к маршруту</a:t>
            </a:r>
          </a:p>
        </p:txBody>
      </p:sp>
      <p:sp>
        <p:nvSpPr>
          <p:cNvPr id="79" name="!!uc2_d5"/>
          <p:cNvSpPr/>
          <p:nvPr/>
        </p:nvSpPr>
        <p:spPr>
          <a:xfrm>
            <a:off x="7955279" y="1600200"/>
            <a:ext cx="502921" cy="0"/>
          </a:xfrm>
          <a:custGeom>
            <a:avLst/>
            <a:gdLst/>
            <a:ahLst/>
            <a:cxnLst/>
            <a:rect l="l" t="t" r="r" b="b"/>
            <a:pathLst>
              <a:path w="502921">
                <a:moveTo>
                  <a:pt x="0" y="0"/>
                </a:moveTo>
                <a:lnTo>
                  <a:pt x="502921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!!uc2_d5_t"/>
          <p:cNvSpPr txBox="1"/>
          <p:nvPr/>
        </p:nvSpPr>
        <p:spPr>
          <a:xfrm>
            <a:off x="7733538" y="1351482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81" name="!!uc2_d6"/>
          <p:cNvSpPr/>
          <p:nvPr/>
        </p:nvSpPr>
        <p:spPr>
          <a:xfrm>
            <a:off x="7876275" y="2487674"/>
            <a:ext cx="673682" cy="86528"/>
          </a:xfrm>
          <a:custGeom>
            <a:avLst/>
            <a:gdLst/>
            <a:ahLst/>
            <a:cxnLst/>
            <a:rect l="l" t="t" r="r" b="b"/>
            <a:pathLst>
              <a:path w="673682" h="86528">
                <a:moveTo>
                  <a:pt x="0" y="0"/>
                </a:moveTo>
                <a:lnTo>
                  <a:pt x="673682" y="86528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!!uc2_d6_t"/>
          <p:cNvSpPr txBox="1"/>
          <p:nvPr/>
        </p:nvSpPr>
        <p:spPr>
          <a:xfrm>
            <a:off x="7756223" y="2283264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83" name="!!uc2_d7"/>
          <p:cNvSpPr/>
          <p:nvPr/>
        </p:nvSpPr>
        <p:spPr>
          <a:xfrm>
            <a:off x="7876275" y="2820757"/>
            <a:ext cx="673682" cy="86528"/>
          </a:xfrm>
          <a:custGeom>
            <a:avLst/>
            <a:gdLst/>
            <a:ahLst/>
            <a:cxnLst/>
            <a:rect l="l" t="t" r="r" b="b"/>
            <a:pathLst>
              <a:path w="673682" h="86528">
                <a:moveTo>
                  <a:pt x="0" y="86528"/>
                </a:moveTo>
                <a:lnTo>
                  <a:pt x="673682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!!uc2_d7_t"/>
          <p:cNvSpPr txBox="1"/>
          <p:nvPr/>
        </p:nvSpPr>
        <p:spPr>
          <a:xfrm>
            <a:off x="7756223" y="2870293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85" name="!!uc2_d8"/>
          <p:cNvSpPr/>
          <p:nvPr/>
        </p:nvSpPr>
        <p:spPr>
          <a:xfrm>
            <a:off x="7876275" y="3767834"/>
            <a:ext cx="673682" cy="86528"/>
          </a:xfrm>
          <a:custGeom>
            <a:avLst/>
            <a:gdLst/>
            <a:ahLst/>
            <a:cxnLst/>
            <a:rect l="l" t="t" r="r" b="b"/>
            <a:pathLst>
              <a:path w="673682" h="86528">
                <a:moveTo>
                  <a:pt x="0" y="0"/>
                </a:moveTo>
                <a:lnTo>
                  <a:pt x="673682" y="86528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!!uc2_d8_t"/>
          <p:cNvSpPr txBox="1"/>
          <p:nvPr/>
        </p:nvSpPr>
        <p:spPr>
          <a:xfrm>
            <a:off x="7756223" y="3563424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87" name="!!uc2_d9"/>
          <p:cNvSpPr/>
          <p:nvPr/>
        </p:nvSpPr>
        <p:spPr>
          <a:xfrm>
            <a:off x="7876275" y="4100917"/>
            <a:ext cx="673682" cy="86528"/>
          </a:xfrm>
          <a:custGeom>
            <a:avLst/>
            <a:gdLst/>
            <a:ahLst/>
            <a:cxnLst/>
            <a:rect l="l" t="t" r="r" b="b"/>
            <a:pathLst>
              <a:path w="673682" h="86528">
                <a:moveTo>
                  <a:pt x="0" y="86528"/>
                </a:moveTo>
                <a:lnTo>
                  <a:pt x="673682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!!uc2_d9_t"/>
          <p:cNvSpPr txBox="1"/>
          <p:nvPr/>
        </p:nvSpPr>
        <p:spPr>
          <a:xfrm>
            <a:off x="7756223" y="4150453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89" name="!!uc2_d10"/>
          <p:cNvSpPr/>
          <p:nvPr/>
        </p:nvSpPr>
        <p:spPr>
          <a:xfrm>
            <a:off x="7895272" y="5125778"/>
            <a:ext cx="632702" cy="69655"/>
          </a:xfrm>
          <a:custGeom>
            <a:avLst/>
            <a:gdLst/>
            <a:ahLst/>
            <a:cxnLst/>
            <a:rect l="l" t="t" r="r" b="b"/>
            <a:pathLst>
              <a:path w="632702" h="69655">
                <a:moveTo>
                  <a:pt x="0" y="0"/>
                </a:moveTo>
                <a:lnTo>
                  <a:pt x="632702" y="69655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!!uc2_d10_t"/>
          <p:cNvSpPr txBox="1"/>
          <p:nvPr/>
        </p:nvSpPr>
        <p:spPr>
          <a:xfrm>
            <a:off x="7752430" y="4912657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91" name="!!uc2_d11"/>
          <p:cNvSpPr/>
          <p:nvPr/>
        </p:nvSpPr>
        <p:spPr>
          <a:xfrm>
            <a:off x="7855817" y="5440941"/>
            <a:ext cx="717759" cy="105359"/>
          </a:xfrm>
          <a:custGeom>
            <a:avLst/>
            <a:gdLst/>
            <a:ahLst/>
            <a:cxnLst/>
            <a:rect l="l" t="t" r="r" b="b"/>
            <a:pathLst>
              <a:path w="717759" h="105359">
                <a:moveTo>
                  <a:pt x="0" y="105359"/>
                </a:moveTo>
                <a:lnTo>
                  <a:pt x="717759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!!uc2_d11_t"/>
          <p:cNvSpPr txBox="1"/>
          <p:nvPr/>
        </p:nvSpPr>
        <p:spPr>
          <a:xfrm>
            <a:off x="7760087" y="5499578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93" name="!!uc2_d12"/>
          <p:cNvSpPr/>
          <p:nvPr/>
        </p:nvSpPr>
        <p:spPr>
          <a:xfrm>
            <a:off x="5526073" y="4493350"/>
            <a:ext cx="835053" cy="248739"/>
          </a:xfrm>
          <a:custGeom>
            <a:avLst/>
            <a:gdLst/>
            <a:ahLst/>
            <a:cxnLst/>
            <a:rect l="l" t="t" r="r" b="b"/>
            <a:pathLst>
              <a:path w="835053" h="248739">
                <a:moveTo>
                  <a:pt x="835053" y="0"/>
                </a:moveTo>
                <a:lnTo>
                  <a:pt x="0" y="248739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!!uc2_d12_t"/>
          <p:cNvSpPr txBox="1"/>
          <p:nvPr/>
        </p:nvSpPr>
        <p:spPr>
          <a:xfrm>
            <a:off x="5433852" y="4374330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«include»</a:t>
            </a:r>
          </a:p>
        </p:txBody>
      </p:sp>
      <p:sp>
        <p:nvSpPr>
          <p:cNvPr id="95" name="!!uc2_d13"/>
          <p:cNvSpPr/>
          <p:nvPr/>
        </p:nvSpPr>
        <p:spPr>
          <a:xfrm>
            <a:off x="5229800" y="4550881"/>
            <a:ext cx="1427599" cy="1002357"/>
          </a:xfrm>
          <a:custGeom>
            <a:avLst/>
            <a:gdLst/>
            <a:ahLst/>
            <a:cxnLst/>
            <a:rect l="l" t="t" r="r" b="b"/>
            <a:pathLst>
              <a:path w="1427599" h="1002357">
                <a:moveTo>
                  <a:pt x="0" y="1002357"/>
                </a:moveTo>
                <a:lnTo>
                  <a:pt x="1427599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!!uc2_d13_t"/>
          <p:cNvSpPr txBox="1"/>
          <p:nvPr/>
        </p:nvSpPr>
        <p:spPr>
          <a:xfrm>
            <a:off x="5111316" y="5027060"/>
            <a:ext cx="946403" cy="2414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0" i="0">
                <a:solidFill>
                  <a:srgbClr val="000000"/>
                </a:solidFill>
                <a:latin typeface="Times New Roman"/>
              </a:rPr>
              <a:t>«extend»</a:t>
            </a:r>
          </a:p>
        </p:txBody>
      </p:sp>
      <p:sp>
        <p:nvSpPr>
          <p:cNvPr id="101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12</a:t>
            </a:r>
          </a:p>
        </p:txBody>
      </p:sp>
      <p:sp>
        <p:nvSpPr>
          <p:cNvPr id="102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3" name="!!concl_text"/>
          <p:cNvSpPr txBox="1"/>
          <p:nvPr/>
        </p:nvSpPr>
        <p:spPr>
          <a:xfrm>
            <a:off x="548640" y="914400"/>
            <a:ext cx="110642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1F3864"/>
                </a:solidFill>
                <a:latin typeface="Times New Roman"/>
              </a:rPr>
              <a:t>В </a:t>
            </a:r>
            <a:r>
              <a:rPr sz="2400" b="1" dirty="0" err="1">
                <a:solidFill>
                  <a:srgbClr val="1F3864"/>
                </a:solidFill>
                <a:latin typeface="Times New Roman"/>
              </a:rPr>
              <a:t>ходе</a:t>
            </a:r>
            <a:r>
              <a:rPr sz="2400" b="1" dirty="0">
                <a:solidFill>
                  <a:srgbClr val="1F3864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1F3864"/>
                </a:solidFill>
                <a:latin typeface="Times New Roman"/>
              </a:rPr>
              <a:t>работы</a:t>
            </a:r>
            <a:r>
              <a:rPr sz="2400" b="1" dirty="0">
                <a:solidFill>
                  <a:srgbClr val="1F3864"/>
                </a:solidFill>
                <a:latin typeface="Times New Roman"/>
              </a:rPr>
              <a:t>:</a:t>
            </a:r>
          </a:p>
          <a:p>
            <a:pPr algn="just">
              <a:spcAft>
                <a:spcPts val="80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1)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Проанализирована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предметная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область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деятельность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заказчика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— АНО «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Центр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сохранения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архитектуры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».</a:t>
            </a:r>
          </a:p>
          <a:p>
            <a:pPr algn="just">
              <a:spcAft>
                <a:spcPts val="80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2)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Построена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модель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текущего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процесса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AS-IS и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выявлены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проблемы</a:t>
            </a:r>
            <a:r>
              <a:rPr lang="en-US" sz="22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ru-RU" sz="2200" dirty="0">
              <a:solidFill>
                <a:srgbClr val="000000"/>
              </a:solidFill>
              <a:latin typeface="Times New Roman"/>
            </a:endParaRPr>
          </a:p>
          <a:p>
            <a:pPr algn="just">
              <a:spcAft>
                <a:spcPts val="80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3)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Разработана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модель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процесса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TO-BE с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использованием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веб-платформы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just">
              <a:spcAft>
                <a:spcPts val="80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4)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Проведено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сравнение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с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аналогами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PastVu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Яндекс.Карты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и 2ГИС.</a:t>
            </a:r>
          </a:p>
          <a:p>
            <a:pPr algn="just">
              <a:spcAft>
                <a:spcPts val="80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5)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Сформулированы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цель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задачи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работы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just">
              <a:spcAft>
                <a:spcPts val="80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6)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Построена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диаграмма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вариантов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использования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для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четырёх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ролей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гость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пользователь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модератор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администратор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4" name="!!concl_next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200" b="1">
                <a:solidFill>
                  <a:srgbClr val="1F3864"/>
                </a:solidFill>
                <a:latin typeface="Times New Roman"/>
              </a:rPr>
              <a:t>Дальнейшая работа: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проектирование модели данных и архитектуры, реализация и тестирование платформы.</a:t>
            </a:r>
          </a:p>
        </p:txBody>
      </p:sp>
      <p:sp>
        <p:nvSpPr>
          <p:cNvPr id="101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13</a:t>
            </a:r>
          </a:p>
        </p:txBody>
      </p:sp>
      <p:sp>
        <p:nvSpPr>
          <p:cNvPr id="102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er_img" descr="Infolog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11734495" cy="7268125"/>
          </a:xfrm>
          <a:prstGeom prst="rect">
            <a:avLst/>
          </a:prstGeom>
        </p:spPr>
      </p:pic>
      <p:sp>
        <p:nvSpPr>
          <p:cNvPr id="3" name="!!titlebg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ИНФОЛОГИЧЕСКАЯ МОДЕЛЬ</a:t>
            </a:r>
          </a:p>
        </p:txBody>
      </p:sp>
      <p:sp>
        <p:nvSpPr>
          <p:cNvPr id="5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14</a:t>
            </a:r>
          </a:p>
        </p:txBody>
      </p:sp>
      <p:sp>
        <p:nvSpPr>
          <p:cNvPr id="6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er_img" descr="Infolog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-547285"/>
            <a:ext cx="11734495" cy="7268125"/>
          </a:xfrm>
          <a:prstGeom prst="rect">
            <a:avLst/>
          </a:prstGeom>
        </p:spPr>
      </p:pic>
      <p:sp>
        <p:nvSpPr>
          <p:cNvPr id="3" name="!!titlebg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ИНФОЛОГИЧЕСКАЯ МОДЕЛЬ</a:t>
            </a:r>
          </a:p>
        </p:txBody>
      </p:sp>
      <p:sp>
        <p:nvSpPr>
          <p:cNvPr id="5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15</a:t>
            </a:r>
          </a:p>
        </p:txBody>
      </p:sp>
      <p:sp>
        <p:nvSpPr>
          <p:cNvPr id="6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dp_img" descr="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11734495" cy="8006030"/>
          </a:xfrm>
          <a:prstGeom prst="rect">
            <a:avLst/>
          </a:prstGeom>
        </p:spPr>
      </p:pic>
      <p:sp>
        <p:nvSpPr>
          <p:cNvPr id="3" name="!!titlebg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ДИАГРАММА РАЗВЁРТЫВАНИЯ</a:t>
            </a:r>
          </a:p>
        </p:txBody>
      </p:sp>
      <p:sp>
        <p:nvSpPr>
          <p:cNvPr id="5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16</a:t>
            </a:r>
          </a:p>
        </p:txBody>
      </p:sp>
      <p:sp>
        <p:nvSpPr>
          <p:cNvPr id="6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dp_img" descr="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-1285190"/>
            <a:ext cx="11734495" cy="8006030"/>
          </a:xfrm>
          <a:prstGeom prst="rect">
            <a:avLst/>
          </a:prstGeom>
        </p:spPr>
      </p:pic>
      <p:sp>
        <p:nvSpPr>
          <p:cNvPr id="3" name="!!titlebg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itle"/>
          <p:cNvSpPr txBox="1"/>
          <p:nvPr/>
        </p:nvSpPr>
        <p:spPr>
          <a:xfrm>
            <a:off x="758952" y="100584"/>
            <a:ext cx="10570464" cy="548640"/>
          </a:xfrm>
          <a:prstGeom prst="rect">
            <a:avLst/>
          </a:prstGeom>
          <a:noFill/>
        </p:spPr>
        <p:txBody>
          <a:bodyPr wrap="square" lIns="18000" tIns="9000" rIns="18000" bIns="9000" anchor="ctr"/>
          <a:lstStyle/>
          <a:p>
            <a:pPr algn="ctr"/>
            <a:r>
              <a:rPr sz="3600" b="1" i="0">
                <a:solidFill>
                  <a:srgbClr val="1F3864"/>
                </a:solidFill>
                <a:latin typeface="Times New Roman"/>
              </a:rPr>
              <a:t>ДИАГРАММА РАЗВЁРТЫВАНИЯ</a:t>
            </a:r>
          </a:p>
        </p:txBody>
      </p:sp>
      <p:sp>
        <p:nvSpPr>
          <p:cNvPr id="5" name="!!pagenum"/>
          <p:cNvSpPr txBox="1"/>
          <p:nvPr/>
        </p:nvSpPr>
        <p:spPr>
          <a:xfrm>
            <a:off x="11231880" y="6355080"/>
            <a:ext cx="822960" cy="457200"/>
          </a:xfrm>
          <a:prstGeom prst="rect">
            <a:avLst/>
          </a:prstGeom>
          <a:noFill/>
        </p:spPr>
        <p:txBody>
          <a:bodyPr wrap="square" lIns="18000" tIns="9000" rIns="18000" bIns="9000" anchor="b"/>
          <a:lstStyle/>
          <a:p>
            <a:pPr algn="r"/>
            <a:r>
              <a:rPr sz="2000" b="0" i="0">
                <a:solidFill>
                  <a:srgbClr val="2E75B6"/>
                </a:solidFill>
                <a:latin typeface="Times New Roman"/>
              </a:rPr>
              <a:t>17</a:t>
            </a:r>
          </a:p>
        </p:txBody>
      </p:sp>
      <p:sp>
        <p:nvSpPr>
          <p:cNvPr id="6" name="!!accent"/>
          <p:cNvSpPr/>
          <p:nvPr/>
        </p:nvSpPr>
        <p:spPr>
          <a:xfrm>
            <a:off x="548640" y="676656"/>
            <a:ext cx="11094720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7406</TotalTime>
  <Words>2756</Words>
  <Application>Microsoft Office PowerPoint</Application>
  <PresentationFormat>Широкоэкранный</PresentationFormat>
  <Paragraphs>436</Paragraphs>
  <Slides>17</Slides>
  <Notes>17</Notes>
  <HiddenSlides>4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Максим Коломыцев</dc:creator>
  <cp:lastModifiedBy>Sasha Shlapick</cp:lastModifiedBy>
  <cp:revision>179</cp:revision>
  <dcterms:created xsi:type="dcterms:W3CDTF">2025-11-04T14:19:45Z</dcterms:created>
  <dcterms:modified xsi:type="dcterms:W3CDTF">2026-10-08T08:12:22Z</dcterms:modified>
</cp:coreProperties>
</file>